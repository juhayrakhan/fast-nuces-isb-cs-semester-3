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  <p:sldId id="268" r:id="rId14"/>
    <p:sldId id="269" r:id="rId15"/>
    <p:sldId id="271" r:id="rId16"/>
    <p:sldId id="272" r:id="rId17"/>
    <p:sldId id="270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97" autoAdjust="0"/>
  </p:normalViewPr>
  <p:slideViewPr>
    <p:cSldViewPr snapToGrid="0">
      <p:cViewPr varScale="1">
        <p:scale>
          <a:sx n="76" d="100"/>
          <a:sy n="76" d="100"/>
        </p:scale>
        <p:origin x="869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271470-3643-4790-8935-C2582ACEACEF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F1866-2F7B-495C-A237-BD6939CF8F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202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Relative difference compares one value to another. It is helpful in determining the percentage increase or decrease from one value to another.</a:t>
            </a:r>
            <a:br>
              <a:rPr 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</a:b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0F1866-2F7B-495C-A237-BD6939CF8F40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8191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5" y="4777383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2" y="4323814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ED260FEE-EB6D-4F68-8468-5D29E2E5F0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816294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7" y="624110"/>
            <a:ext cx="8911687" cy="705069"/>
          </a:xfrm>
        </p:spPr>
        <p:txBody>
          <a:bodyPr>
            <a:noAutofit/>
          </a:bodyPr>
          <a:lstStyle>
            <a:lvl1pPr algn="ctr">
              <a:defRPr sz="4400" b="1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5499" y="1692487"/>
            <a:ext cx="8915400" cy="4576343"/>
          </a:xfrm>
        </p:spPr>
        <p:txBody>
          <a:bodyPr/>
          <a:lstStyle>
            <a:lvl1pPr algn="just"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algn="just"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 algn="just"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 algn="just"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4pPr>
            <a:lvl5pPr algn="just"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17099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5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5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3178178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3244143"/>
            <a:ext cx="779767" cy="365125"/>
          </a:xfrm>
        </p:spPr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7520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</p:spPr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077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5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32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5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787785"/>
            <a:ext cx="779767" cy="365125"/>
          </a:xfrm>
        </p:spPr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7582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3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7386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5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92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5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84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189" indent="0">
              <a:buNone/>
              <a:defRPr sz="1600"/>
            </a:lvl2pPr>
            <a:lvl3pPr marL="914377" indent="0">
              <a:buNone/>
              <a:defRPr sz="1600"/>
            </a:lvl3pPr>
            <a:lvl4pPr marL="1371566" indent="0">
              <a:buNone/>
              <a:defRPr sz="1600"/>
            </a:lvl4pPr>
            <a:lvl5pPr marL="1828754" indent="0">
              <a:buNone/>
              <a:defRPr sz="1600"/>
            </a:lvl5pPr>
            <a:lvl6pPr marL="2285943" indent="0">
              <a:buNone/>
              <a:defRPr sz="1600"/>
            </a:lvl6pPr>
            <a:lvl7pPr marL="2743131" indent="0">
              <a:buNone/>
              <a:defRPr sz="1600"/>
            </a:lvl7pPr>
            <a:lvl8pPr marL="3200320" indent="0">
              <a:buNone/>
              <a:defRPr sz="1600"/>
            </a:lvl8pPr>
            <a:lvl9pPr marL="3657509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</p:spPr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477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5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5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3178178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3244143"/>
            <a:ext cx="779767" cy="365125"/>
          </a:xfrm>
        </p:spPr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4599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51" y="609600"/>
            <a:ext cx="839392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3" y="3505200"/>
            <a:ext cx="7536555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5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8" y="3178178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5" y="3244143"/>
            <a:ext cx="779767" cy="365125"/>
          </a:xfrm>
        </p:spPr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5026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3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</p:spPr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80436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51" y="609600"/>
            <a:ext cx="839392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</p:spPr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7433267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5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189" indent="0">
              <a:buFontTx/>
              <a:buNone/>
              <a:defRPr/>
            </a:lvl2pPr>
            <a:lvl3pPr marL="914377" indent="0">
              <a:buFontTx/>
              <a:buNone/>
              <a:defRPr/>
            </a:lvl3pPr>
            <a:lvl4pPr marL="1371566" indent="0">
              <a:buFontTx/>
              <a:buNone/>
              <a:defRPr/>
            </a:lvl4pPr>
            <a:lvl5pPr marL="1828754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8" y="491172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5" y="4983091"/>
            <a:ext cx="779767" cy="365125"/>
          </a:xfrm>
        </p:spPr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0174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54389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4" y="627409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9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FCEBA2-8050-4E0E-998B-9AF3BDE1F8D8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8" y="714379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021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3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5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7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3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FCEBA2-8050-4E0E-998B-9AF3BDE1F8D8}" type="datetimeFigureOut">
              <a:rPr lang="en-US" smtClean="0"/>
              <a:t>2/15/2022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5" y="6135812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5" y="787785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29AD84F-14CA-4A4D-A3FB-0343810DC4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1888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189" rtl="0" eaLnBrk="1" latinLnBrk="0" hangingPunct="1">
        <a:spcBef>
          <a:spcPct val="0"/>
        </a:spcBef>
        <a:buNone/>
        <a:defRPr sz="4000" kern="1200">
          <a:solidFill>
            <a:schemeClr val="tx1">
              <a:lumMod val="85000"/>
              <a:lumOff val="15000"/>
            </a:schemeClr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891" indent="-342891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0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742932" indent="-28574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2pPr>
      <a:lvl3pPr marL="1142971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3pPr>
      <a:lvl4pPr marL="1600160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4pPr>
      <a:lvl5pPr marL="2057349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5pPr>
      <a:lvl6pPr marL="2514537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726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8914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103" indent="-228594" algn="l" defTabSz="457189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457189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2ACFFD79-EFC8-4FBD-B3D4-0B8D6AE0B6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46962" y="3295651"/>
            <a:ext cx="8707437" cy="1529356"/>
          </a:xfrm>
        </p:spPr>
        <p:txBody>
          <a:bodyPr>
            <a:normAutofit/>
          </a:bodyPr>
          <a:lstStyle/>
          <a:p>
            <a:r>
              <a:rPr lang="fr-FR" sz="6600" dirty="0" err="1"/>
              <a:t>Complexity</a:t>
            </a:r>
            <a:r>
              <a:rPr lang="fr-FR" sz="6600"/>
              <a:t> Theory-I</a:t>
            </a:r>
            <a:endParaRPr lang="en-US" sz="6600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2EC10BB6-9702-458F-B491-42711CC2B060}"/>
              </a:ext>
            </a:extLst>
          </p:cNvPr>
          <p:cNvSpPr txBox="1">
            <a:spLocks/>
          </p:cNvSpPr>
          <p:nvPr/>
        </p:nvSpPr>
        <p:spPr>
          <a:xfrm>
            <a:off x="2346960" y="357167"/>
            <a:ext cx="7133416" cy="911595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pPr>
              <a:spcBef>
                <a:spcPct val="0"/>
              </a:spcBef>
              <a:defRPr/>
            </a:pPr>
            <a:r>
              <a:rPr lang="en-US" sz="4400" b="1" cap="small">
                <a:latin typeface="Calibri Light" panose="020F0302020204030204"/>
              </a:rPr>
              <a:t>Data structures</a:t>
            </a:r>
            <a:endParaRPr lang="en-US" sz="4400" b="1" cap="small" dirty="0">
              <a:latin typeface="Calibri Light" panose="020F03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73925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0E3E2D-C93D-4938-BEA9-DA5B751AA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04308C-6B20-4DB7-B558-09E4A4DCC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 mathematics, computer science, and related subjects, an algorithm can be defined as “a process that performs some sequence of operations in order to solve a given problem”.</a:t>
            </a:r>
          </a:p>
          <a:p>
            <a:r>
              <a:rPr lang="en-US" altLang="en-US" dirty="0">
                <a:cs typeface="AR PL SungtiL GB" charset="0"/>
              </a:rPr>
              <a:t>Algorithm is a well-defined computational procedure that takes some value (s) as input  and produces some value (s) as output.</a:t>
            </a:r>
            <a:endParaRPr lang="en-US" dirty="0"/>
          </a:p>
          <a:p>
            <a:pPr algn="just"/>
            <a:r>
              <a:rPr lang="en-US" dirty="0"/>
              <a:t>Algorithms are used for calculation, data processing, and many other fields.</a:t>
            </a:r>
          </a:p>
          <a:p>
            <a:pPr algn="just"/>
            <a:r>
              <a:rPr lang="en-US" dirty="0"/>
              <a:t>A good algorithm is like using the right tool in the workshop. It does the job with the right amount of effort.</a:t>
            </a:r>
          </a:p>
          <a:p>
            <a:pPr algn="just"/>
            <a:r>
              <a:rPr lang="en-US" dirty="0"/>
              <a:t>Algorithms can be expressed in many different notations, including natural languages, pseudo-code, flowcharts and programming languages.</a:t>
            </a:r>
          </a:p>
          <a:p>
            <a:pPr algn="just"/>
            <a:r>
              <a:rPr lang="en-US" dirty="0"/>
              <a:t>Program = Algorithms + Data Structures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66356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D5BF3-F7BD-4887-AA68-4AB4E8575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Analysis of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F4D4C-9D86-4A20-8D94-E0B13677B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/>
              <a:t>Just writing a syntax-error-free program is not enough.</a:t>
            </a:r>
          </a:p>
          <a:p>
            <a:r>
              <a:rPr lang="en-US" sz="2400" dirty="0"/>
              <a:t>We need to know whether the algorithm is correct or not, i.e., whether it can give correct answers for the inputs.</a:t>
            </a:r>
          </a:p>
          <a:p>
            <a:r>
              <a:rPr lang="en-US" sz="2400" dirty="0"/>
              <a:t>If the program is run on a large data set, the running time becomes an issue. </a:t>
            </a:r>
          </a:p>
          <a:p>
            <a:r>
              <a:rPr lang="en-US" sz="2400" dirty="0"/>
              <a:t>We want to know how the algorithm performs when the input size is large.</a:t>
            </a:r>
          </a:p>
          <a:p>
            <a:r>
              <a:rPr lang="en-US" sz="2400" dirty="0"/>
              <a:t>The program may be computationally inefficient, or may need lots of memory</a:t>
            </a:r>
          </a:p>
          <a:p>
            <a:r>
              <a:rPr lang="en-US" altLang="en-US" sz="2400" dirty="0">
                <a:cs typeface="AR PL SungtiL GB" charset="0"/>
              </a:rPr>
              <a:t>We analysis algorithms, rather than problems. A problem can be solved with several algorithms, some are more efficient than others.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19675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ACB29-C804-4F45-AD7D-7E0F0DA60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>
                <a:solidFill>
                  <a:srgbClr val="000000"/>
                </a:solidFill>
                <a:cs typeface="AR PL SungtiL GB" charset="0"/>
              </a:rPr>
              <a:t>Analysis of Algorithms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0D766C-935B-44DF-8FDD-A212D54498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Analysis of Algorithm refers to calculating or guessing resources needful for the algorithm.</a:t>
            </a:r>
          </a:p>
          <a:p>
            <a:r>
              <a:rPr lang="en-US" sz="2400" dirty="0"/>
              <a:t>Resources means computer memory, processing time etc.</a:t>
            </a:r>
          </a:p>
          <a:p>
            <a:r>
              <a:rPr lang="en-US" sz="2400" dirty="0"/>
              <a:t>In all these factors, time is most important because the program developed should be fast enough.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3851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8D53D-21A2-400B-BC47-D96A7522C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eaLnBrk="1" hangingPunct="1">
              <a:buClrTx/>
              <a:buFontTx/>
              <a:buNone/>
            </a:pPr>
            <a:r>
              <a:rPr lang="en-US" altLang="en-US" sz="4400" dirty="0">
                <a:solidFill>
                  <a:srgbClr val="000000"/>
                </a:solidFill>
                <a:cs typeface="AR PL SungtiL GB" charset="0"/>
              </a:rPr>
              <a:t>Analysis of Algorithms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192268-7310-46AE-9CBA-A67ED4B757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965" marR="5080" indent="-342900">
              <a:spcBef>
                <a:spcPts val="100"/>
              </a:spcBef>
              <a:tabLst>
                <a:tab pos="356235" algn="l"/>
                <a:tab pos="356870" algn="l"/>
              </a:tabLst>
            </a:pPr>
            <a:r>
              <a:rPr lang="en-US" sz="2200" spc="-5" dirty="0"/>
              <a:t>Given </a:t>
            </a:r>
            <a:r>
              <a:rPr lang="en-US" sz="2200" dirty="0"/>
              <a:t>two </a:t>
            </a:r>
            <a:r>
              <a:rPr lang="en-US" sz="2200" spc="-5" dirty="0"/>
              <a:t>or </a:t>
            </a:r>
            <a:r>
              <a:rPr lang="en-US" sz="2200" dirty="0"/>
              <a:t>more </a:t>
            </a:r>
            <a:r>
              <a:rPr lang="en-US" sz="2200" spc="-5" dirty="0"/>
              <a:t>algorithms </a:t>
            </a:r>
            <a:r>
              <a:rPr lang="en-US" sz="2200" spc="5" dirty="0"/>
              <a:t>to </a:t>
            </a:r>
            <a:r>
              <a:rPr lang="en-US" sz="2200" spc="-5" dirty="0"/>
              <a:t>solve the same problem, how </a:t>
            </a:r>
            <a:r>
              <a:rPr lang="en-US" sz="2200" spc="5" dirty="0"/>
              <a:t>do  </a:t>
            </a:r>
            <a:r>
              <a:rPr lang="en-US" sz="2200" spc="-5" dirty="0"/>
              <a:t>we select the best</a:t>
            </a:r>
            <a:r>
              <a:rPr lang="en-US" sz="2200" spc="20" dirty="0"/>
              <a:t> </a:t>
            </a:r>
            <a:r>
              <a:rPr lang="en-US" sz="2200" spc="-5" dirty="0"/>
              <a:t>one?</a:t>
            </a:r>
            <a:endParaRPr lang="en-US" sz="2200" dirty="0"/>
          </a:p>
          <a:p>
            <a:pPr>
              <a:spcBef>
                <a:spcPts val="25"/>
              </a:spcBef>
            </a:pPr>
            <a:endParaRPr lang="en-US" sz="2200" dirty="0"/>
          </a:p>
          <a:p>
            <a:pPr marL="354965" indent="-342900">
              <a:tabLst>
                <a:tab pos="356235" algn="l"/>
                <a:tab pos="356870" algn="l"/>
              </a:tabLst>
            </a:pPr>
            <a:r>
              <a:rPr lang="en-US" sz="2200" spc="-10" dirty="0"/>
              <a:t>Some </a:t>
            </a:r>
            <a:r>
              <a:rPr lang="en-US" sz="2200" dirty="0"/>
              <a:t>criteria </a:t>
            </a:r>
            <a:r>
              <a:rPr lang="en-US" sz="2200" spc="-5" dirty="0"/>
              <a:t>for </a:t>
            </a:r>
            <a:r>
              <a:rPr lang="en-US" sz="2200" dirty="0"/>
              <a:t>selecting an</a:t>
            </a:r>
            <a:r>
              <a:rPr lang="en-US" sz="2200" spc="-25" dirty="0"/>
              <a:t> </a:t>
            </a:r>
            <a:r>
              <a:rPr lang="en-US" sz="2200" spc="-5" dirty="0"/>
              <a:t>algorithm</a:t>
            </a:r>
            <a:endParaRPr lang="en-US" sz="2200" dirty="0"/>
          </a:p>
          <a:p>
            <a:pPr marL="811530" lvl="1" indent="-342900">
              <a:spcBef>
                <a:spcPts val="465"/>
              </a:spcBef>
              <a:tabLst>
                <a:tab pos="756285" algn="l"/>
                <a:tab pos="756920" algn="l"/>
              </a:tabLst>
            </a:pPr>
            <a:r>
              <a:rPr lang="en-US" sz="2200" spc="-10" dirty="0"/>
              <a:t>Is </a:t>
            </a:r>
            <a:r>
              <a:rPr lang="en-US" sz="2200" spc="-5" dirty="0"/>
              <a:t>it easy </a:t>
            </a:r>
            <a:r>
              <a:rPr lang="en-US" sz="2200" dirty="0"/>
              <a:t>to </a:t>
            </a:r>
            <a:r>
              <a:rPr lang="en-US" sz="2200" spc="-5" dirty="0"/>
              <a:t>implement, </a:t>
            </a:r>
            <a:r>
              <a:rPr lang="en-US" sz="2200" spc="-10" dirty="0"/>
              <a:t>understand,</a:t>
            </a:r>
            <a:r>
              <a:rPr lang="en-US" sz="2200" spc="175" dirty="0"/>
              <a:t> </a:t>
            </a:r>
            <a:r>
              <a:rPr lang="en-US" sz="2200" spc="-10" dirty="0"/>
              <a:t>modify?</a:t>
            </a:r>
            <a:endParaRPr lang="en-US" sz="2200" dirty="0"/>
          </a:p>
          <a:p>
            <a:pPr marL="811530" lvl="1" indent="-342900">
              <a:spcBef>
                <a:spcPts val="455"/>
              </a:spcBef>
              <a:tabLst>
                <a:tab pos="756285" algn="l"/>
                <a:tab pos="756920" algn="l"/>
              </a:tabLst>
            </a:pPr>
            <a:r>
              <a:rPr lang="en-US" sz="2200" spc="-5" dirty="0"/>
              <a:t>How long </a:t>
            </a:r>
            <a:r>
              <a:rPr lang="en-US" sz="2200" spc="-10" dirty="0"/>
              <a:t>does </a:t>
            </a:r>
            <a:r>
              <a:rPr lang="en-US" sz="2200" spc="-5" dirty="0"/>
              <a:t>it take </a:t>
            </a:r>
            <a:r>
              <a:rPr lang="en-US" sz="2200" dirty="0"/>
              <a:t>to </a:t>
            </a:r>
            <a:r>
              <a:rPr lang="en-US" sz="2200" spc="-5" dirty="0"/>
              <a:t>run it </a:t>
            </a:r>
            <a:r>
              <a:rPr lang="en-US" sz="2200" spc="-10" dirty="0"/>
              <a:t>to</a:t>
            </a:r>
            <a:r>
              <a:rPr lang="en-US" sz="2200" spc="170" dirty="0"/>
              <a:t> </a:t>
            </a:r>
            <a:r>
              <a:rPr lang="en-US" sz="2200" spc="-5" dirty="0"/>
              <a:t>completion?</a:t>
            </a:r>
            <a:endParaRPr lang="en-US" sz="2200" dirty="0"/>
          </a:p>
          <a:p>
            <a:pPr marL="811530" lvl="1" indent="-342900">
              <a:spcBef>
                <a:spcPts val="455"/>
              </a:spcBef>
              <a:tabLst>
                <a:tab pos="756285" algn="l"/>
                <a:tab pos="756920" algn="l"/>
              </a:tabLst>
            </a:pPr>
            <a:r>
              <a:rPr lang="en-US" sz="2200" spc="-5" dirty="0"/>
              <a:t>How </a:t>
            </a:r>
            <a:r>
              <a:rPr lang="en-US" sz="2200" dirty="0"/>
              <a:t>much of </a:t>
            </a:r>
            <a:r>
              <a:rPr lang="en-US" sz="2200" spc="-5" dirty="0"/>
              <a:t>computer memory </a:t>
            </a:r>
            <a:r>
              <a:rPr lang="en-US" sz="2200" spc="-10" dirty="0"/>
              <a:t>does </a:t>
            </a:r>
            <a:r>
              <a:rPr lang="en-US" sz="2200" spc="-15" dirty="0"/>
              <a:t>it</a:t>
            </a:r>
            <a:r>
              <a:rPr lang="en-US" sz="2200" spc="135" dirty="0"/>
              <a:t> </a:t>
            </a:r>
            <a:r>
              <a:rPr lang="en-US" sz="2200" spc="-5" dirty="0"/>
              <a:t>use?</a:t>
            </a:r>
            <a:endParaRPr lang="en-US" sz="2200" dirty="0"/>
          </a:p>
          <a:p>
            <a:pPr marL="457188" lvl="1" indent="0">
              <a:spcBef>
                <a:spcPts val="20"/>
              </a:spcBef>
              <a:buNone/>
            </a:pPr>
            <a:endParaRPr lang="en-US" sz="2200" dirty="0"/>
          </a:p>
          <a:p>
            <a:pPr marL="354965" indent="-342900">
              <a:tabLst>
                <a:tab pos="356235" algn="l"/>
                <a:tab pos="356870" algn="l"/>
              </a:tabLst>
            </a:pPr>
            <a:r>
              <a:rPr lang="en-US" sz="2200" spc="-5" dirty="0"/>
              <a:t>Software engineering </a:t>
            </a:r>
            <a:r>
              <a:rPr lang="en-US" sz="2200" dirty="0"/>
              <a:t>is </a:t>
            </a:r>
            <a:r>
              <a:rPr lang="en-US" sz="2200" spc="-5" dirty="0"/>
              <a:t>primarily concerned </a:t>
            </a:r>
            <a:r>
              <a:rPr lang="en-US" sz="2200" dirty="0"/>
              <a:t>with </a:t>
            </a:r>
            <a:r>
              <a:rPr lang="en-US" sz="2200" spc="-5" dirty="0"/>
              <a:t>the first</a:t>
            </a:r>
            <a:r>
              <a:rPr lang="en-US" sz="2200" spc="100" dirty="0"/>
              <a:t> </a:t>
            </a:r>
            <a:r>
              <a:rPr lang="en-US" sz="2200" spc="-5" dirty="0"/>
              <a:t>criteria</a:t>
            </a:r>
            <a:endParaRPr lang="en-US" sz="2200" dirty="0"/>
          </a:p>
          <a:p>
            <a:pPr>
              <a:spcBef>
                <a:spcPts val="30"/>
              </a:spcBef>
            </a:pPr>
            <a:endParaRPr lang="en-US" sz="2200" dirty="0"/>
          </a:p>
          <a:p>
            <a:pPr marL="354965" indent="-342900">
              <a:tabLst>
                <a:tab pos="356235" algn="l"/>
                <a:tab pos="356870" algn="l"/>
              </a:tabLst>
            </a:pPr>
            <a:r>
              <a:rPr lang="en-US" sz="2200" spc="-10" dirty="0"/>
              <a:t>In </a:t>
            </a:r>
            <a:r>
              <a:rPr lang="en-US" sz="2200" spc="-5" dirty="0"/>
              <a:t>this course we </a:t>
            </a:r>
            <a:r>
              <a:rPr lang="en-US" sz="2200" spc="-10" dirty="0"/>
              <a:t>are </a:t>
            </a:r>
            <a:r>
              <a:rPr lang="en-US" sz="2200" dirty="0"/>
              <a:t>interested </a:t>
            </a:r>
            <a:r>
              <a:rPr lang="en-US" sz="2200" spc="-15" dirty="0"/>
              <a:t>in </a:t>
            </a:r>
            <a:r>
              <a:rPr lang="en-US" sz="2200" spc="5" dirty="0"/>
              <a:t>the </a:t>
            </a:r>
            <a:r>
              <a:rPr lang="en-US" sz="2200" dirty="0"/>
              <a:t>second and third</a:t>
            </a:r>
            <a:r>
              <a:rPr lang="en-US" sz="2200" spc="45" dirty="0"/>
              <a:t> </a:t>
            </a:r>
            <a:r>
              <a:rPr lang="en-US" sz="2200" dirty="0"/>
              <a:t>criteria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2076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AE20DD-6756-422B-A911-EE2DC23BFE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>
                <a:solidFill>
                  <a:srgbClr val="000000"/>
                </a:solidFill>
                <a:cs typeface="AR PL SungtiL GB" charset="0"/>
              </a:rPr>
              <a:t>Analysis of Algorithms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001254-7F73-4F47-925D-32A00609E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Time complexity</a:t>
            </a:r>
          </a:p>
          <a:p>
            <a:pPr lvl="1"/>
            <a:r>
              <a:rPr lang="en-US" sz="2200" dirty="0"/>
              <a:t> The amount of time that an algorithm needs to run to completion</a:t>
            </a:r>
          </a:p>
          <a:p>
            <a:endParaRPr lang="en-US" sz="2400" dirty="0"/>
          </a:p>
          <a:p>
            <a:r>
              <a:rPr lang="en-US" sz="2400" dirty="0"/>
              <a:t> Space complexity</a:t>
            </a:r>
          </a:p>
          <a:p>
            <a:pPr lvl="1"/>
            <a:r>
              <a:rPr lang="en-US" sz="2200" dirty="0"/>
              <a:t> The amount of memory an algorithm needs to run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248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404A4-847B-465B-8E84-2105CFDD5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>
                <a:solidFill>
                  <a:srgbClr val="000000"/>
                </a:solidFill>
                <a:cs typeface="AR PL SungtiL GB" charset="0"/>
              </a:rPr>
              <a:t>Analysis of Algorithms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0CDB9C-F95A-4A19-91B0-E08062FEB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SzPct val="100000"/>
              <a:defRPr/>
            </a:pPr>
            <a:r>
              <a:rPr lang="en-US" altLang="en-US" sz="2400" dirty="0"/>
              <a:t>There are several factors affecting the running time</a:t>
            </a:r>
          </a:p>
          <a:p>
            <a:pPr lvl="1">
              <a:spcBef>
                <a:spcPts val="600"/>
              </a:spcBef>
              <a:buSzPct val="100000"/>
              <a:defRPr/>
            </a:pPr>
            <a:r>
              <a:rPr lang="en-US" altLang="en-US" sz="2000" dirty="0"/>
              <a:t> </a:t>
            </a:r>
            <a:r>
              <a:rPr lang="en-US" altLang="en-US" sz="2400" dirty="0"/>
              <a:t>computer</a:t>
            </a:r>
          </a:p>
          <a:p>
            <a:pPr lvl="1">
              <a:spcBef>
                <a:spcPts val="600"/>
              </a:spcBef>
              <a:buSzPct val="100000"/>
              <a:defRPr/>
            </a:pPr>
            <a:r>
              <a:rPr lang="en-US" altLang="en-US" sz="2400" dirty="0"/>
              <a:t> compiler</a:t>
            </a:r>
          </a:p>
          <a:p>
            <a:pPr lvl="1">
              <a:spcBef>
                <a:spcPts val="600"/>
              </a:spcBef>
              <a:buSzPct val="100000"/>
              <a:defRPr/>
            </a:pPr>
            <a:r>
              <a:rPr lang="en-US" altLang="en-US" sz="2400" dirty="0"/>
              <a:t> algorithm</a:t>
            </a:r>
          </a:p>
          <a:p>
            <a:pPr lvl="1">
              <a:spcBef>
                <a:spcPts val="600"/>
              </a:spcBef>
              <a:buSzPct val="100000"/>
              <a:defRPr/>
            </a:pPr>
            <a:r>
              <a:rPr lang="en-US" altLang="en-US" sz="2400" dirty="0"/>
              <a:t> input to the algorithm</a:t>
            </a:r>
          </a:p>
          <a:p>
            <a:pPr lvl="2">
              <a:spcBef>
                <a:spcPts val="500"/>
              </a:spcBef>
              <a:buSzPct val="100000"/>
              <a:defRPr/>
            </a:pPr>
            <a:r>
              <a:rPr lang="en-US" altLang="en-US" sz="2000" dirty="0"/>
              <a:t>The </a:t>
            </a:r>
            <a:r>
              <a:rPr lang="en-US" altLang="en-US" sz="2000" i="1" dirty="0"/>
              <a:t>content of the input affects the running time </a:t>
            </a:r>
            <a:r>
              <a:rPr lang="en-US" altLang="en-US" sz="2000" dirty="0"/>
              <a:t>typically, the </a:t>
            </a:r>
            <a:r>
              <a:rPr lang="en-US" altLang="en-US" sz="2000" i="1" dirty="0"/>
              <a:t>input size (number of items in the input) is the main </a:t>
            </a:r>
            <a:r>
              <a:rPr lang="en-US" altLang="en-US" sz="2000" dirty="0"/>
              <a:t>consideration</a:t>
            </a:r>
          </a:p>
          <a:p>
            <a:pPr lvl="2">
              <a:spcBef>
                <a:spcPts val="500"/>
              </a:spcBef>
              <a:buSzPct val="100000"/>
              <a:defRPr/>
            </a:pPr>
            <a:r>
              <a:rPr lang="en-US" altLang="en-US" sz="2000" dirty="0"/>
              <a:t>E.g. sorting problem ⇒ the number of items to be sorted.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7607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935270-4904-4D52-B0C0-37F00CA00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>
                <a:solidFill>
                  <a:srgbClr val="000000"/>
                </a:solidFill>
                <a:cs typeface="AR PL SungtiL GB" charset="0"/>
              </a:rPr>
              <a:t>Running time of an 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1277A-E345-4DAE-8802-46BB51B35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SzPct val="100000"/>
              <a:defRPr/>
            </a:pPr>
            <a:r>
              <a:rPr lang="en-US" altLang="en-US" sz="2400" dirty="0">
                <a:cs typeface="AR PL SungtiL GB" charset="0"/>
              </a:rPr>
              <a:t>Running time of an algorithm depends upon the input size and nature of input.</a:t>
            </a:r>
          </a:p>
          <a:p>
            <a:pPr>
              <a:spcBef>
                <a:spcPts val="600"/>
              </a:spcBef>
              <a:buSzPct val="100000"/>
              <a:defRPr/>
            </a:pPr>
            <a:r>
              <a:rPr lang="en-US" altLang="en-US" sz="2400" dirty="0">
                <a:cs typeface="AR PL SungtiL GB" charset="0"/>
              </a:rPr>
              <a:t>Most algorithms transform input objects into output objects</a:t>
            </a:r>
          </a:p>
          <a:p>
            <a:pPr>
              <a:spcBef>
                <a:spcPts val="600"/>
              </a:spcBef>
              <a:buSzPct val="100000"/>
              <a:defRPr/>
            </a:pPr>
            <a:endParaRPr lang="en-US" altLang="en-US" sz="2400" dirty="0">
              <a:cs typeface="AR PL SungtiL GB" charset="0"/>
            </a:endParaRPr>
          </a:p>
          <a:p>
            <a:pPr>
              <a:spcBef>
                <a:spcPts val="600"/>
              </a:spcBef>
              <a:buSzPct val="100000"/>
              <a:defRPr/>
            </a:pPr>
            <a:endParaRPr lang="en-US" altLang="en-US" sz="2400" dirty="0">
              <a:cs typeface="AR PL SungtiL GB" charset="0"/>
            </a:endParaRPr>
          </a:p>
          <a:p>
            <a:pPr>
              <a:spcBef>
                <a:spcPts val="600"/>
              </a:spcBef>
              <a:buSzPct val="100000"/>
              <a:defRPr/>
            </a:pPr>
            <a:endParaRPr lang="en-US" altLang="en-US" sz="2400" dirty="0">
              <a:cs typeface="AR PL SungtiL GB" charset="0"/>
            </a:endParaRPr>
          </a:p>
          <a:p>
            <a:pPr>
              <a:spcBef>
                <a:spcPts val="600"/>
              </a:spcBef>
              <a:buSzPct val="100000"/>
              <a:defRPr/>
            </a:pPr>
            <a:r>
              <a:rPr lang="en-US" altLang="en-US" sz="2400" dirty="0">
                <a:cs typeface="AR PL SungtiL GB" charset="0"/>
              </a:rPr>
              <a:t> The running time of an algorithm typically grows with the input size</a:t>
            </a:r>
          </a:p>
          <a:p>
            <a:pPr lvl="1">
              <a:spcBef>
                <a:spcPts val="600"/>
              </a:spcBef>
              <a:buSzPct val="100000"/>
              <a:defRPr/>
            </a:pPr>
            <a:r>
              <a:rPr lang="en-US" altLang="en-US" sz="2400" dirty="0">
                <a:cs typeface="AR PL SungtiL GB" charset="0"/>
              </a:rPr>
              <a:t>idea: analyze running time as a function of input size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CFE04C7-35DE-43EB-909B-B560D323FE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799" y="3066258"/>
            <a:ext cx="64008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91471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5C5DD-067B-41EE-A1F8-0BB1FC56A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>
                <a:solidFill>
                  <a:srgbClr val="000000"/>
                </a:solidFill>
                <a:cs typeface="AR PL SungtiL GB" charset="0"/>
              </a:rPr>
              <a:t>Run Time of an Algorithm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3C4836-C75B-4680-B448-8725056135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Bef>
                <a:spcPts val="800"/>
              </a:spcBef>
            </a:pPr>
            <a:r>
              <a:rPr lang="en-US" sz="2400" spc="-5" dirty="0"/>
              <a:t>Most </a:t>
            </a:r>
            <a:r>
              <a:rPr lang="en-US" sz="2400" dirty="0"/>
              <a:t>important factor affecting running </a:t>
            </a:r>
            <a:r>
              <a:rPr lang="en-US" sz="2400" spc="-5" dirty="0"/>
              <a:t>time </a:t>
            </a:r>
            <a:r>
              <a:rPr lang="en-US" sz="2400" dirty="0"/>
              <a:t>is usually </a:t>
            </a:r>
            <a:r>
              <a:rPr lang="en-US" sz="2400" spc="5" dirty="0"/>
              <a:t>the </a:t>
            </a:r>
            <a:r>
              <a:rPr lang="en-US" sz="2400" spc="-5" dirty="0"/>
              <a:t>size</a:t>
            </a:r>
            <a:r>
              <a:rPr lang="en-US" sz="2400" spc="-135" dirty="0"/>
              <a:t> </a:t>
            </a:r>
            <a:r>
              <a:rPr lang="en-US" sz="2400" spc="-5" dirty="0"/>
              <a:t>of  </a:t>
            </a:r>
            <a:r>
              <a:rPr lang="en-US" sz="2400" spc="5" dirty="0"/>
              <a:t>the</a:t>
            </a:r>
            <a:r>
              <a:rPr lang="en-US" sz="2400" spc="-25" dirty="0"/>
              <a:t> </a:t>
            </a:r>
            <a:r>
              <a:rPr lang="en-US" sz="2400" spc="-5" dirty="0"/>
              <a:t>input</a:t>
            </a:r>
            <a:endParaRPr lang="en-US" altLang="en-US" sz="2400" dirty="0">
              <a:solidFill>
                <a:srgbClr val="000000"/>
              </a:solidFill>
            </a:endParaRPr>
          </a:p>
          <a:p>
            <a:pPr algn="l">
              <a:spcBef>
                <a:spcPts val="800"/>
              </a:spcBef>
            </a:pPr>
            <a:r>
              <a:rPr lang="en-US" altLang="en-US" sz="2400" dirty="0">
                <a:solidFill>
                  <a:srgbClr val="000000"/>
                </a:solidFill>
                <a:cs typeface="AR PL SungtiL GB" charset="0"/>
              </a:rPr>
              <a:t>Even on inputs of the same size, running time can be very different</a:t>
            </a:r>
          </a:p>
          <a:p>
            <a:pPr lvl="1" algn="l">
              <a:spcBef>
                <a:spcPts val="700"/>
              </a:spcBef>
            </a:pPr>
            <a:r>
              <a:rPr lang="en-US" altLang="en-US" sz="2000" dirty="0">
                <a:solidFill>
                  <a:srgbClr val="000000"/>
                </a:solidFill>
                <a:cs typeface="AR PL SungtiL GB" charset="0"/>
              </a:rPr>
              <a:t> Example: algorithm that finds the first prime number in an array by scanning it left to right</a:t>
            </a:r>
          </a:p>
          <a:p>
            <a:pPr marL="354965" indent="-342900">
              <a:tabLst>
                <a:tab pos="356235" algn="l"/>
                <a:tab pos="356870" algn="l"/>
              </a:tabLst>
            </a:pPr>
            <a:r>
              <a:rPr lang="en-US" sz="2100" spc="-10" dirty="0"/>
              <a:t>Idea: </a:t>
            </a:r>
            <a:r>
              <a:rPr lang="en-US" sz="2100" spc="-5" dirty="0"/>
              <a:t>Analyze </a:t>
            </a:r>
            <a:r>
              <a:rPr lang="en-US" sz="2100" dirty="0"/>
              <a:t>running time </a:t>
            </a:r>
            <a:r>
              <a:rPr lang="en-US" sz="2100" spc="-5" dirty="0"/>
              <a:t>for different</a:t>
            </a:r>
            <a:r>
              <a:rPr lang="en-US" sz="2100" spc="15" dirty="0"/>
              <a:t> </a:t>
            </a:r>
            <a:r>
              <a:rPr lang="en-US" sz="2100" spc="-5" dirty="0"/>
              <a:t>cases</a:t>
            </a:r>
            <a:endParaRPr lang="en-US" sz="2100" dirty="0"/>
          </a:p>
          <a:p>
            <a:pPr marL="811530" lvl="1" indent="-342900">
              <a:spcBef>
                <a:spcPts val="465"/>
              </a:spcBef>
              <a:tabLst>
                <a:tab pos="756285" algn="l"/>
                <a:tab pos="756920" algn="l"/>
              </a:tabLst>
            </a:pPr>
            <a:r>
              <a:rPr lang="en-US" sz="1900" spc="-5" dirty="0"/>
              <a:t>Best</a:t>
            </a:r>
            <a:r>
              <a:rPr lang="en-US" sz="1900" spc="15" dirty="0"/>
              <a:t> </a:t>
            </a:r>
            <a:r>
              <a:rPr lang="en-US" sz="1900" dirty="0"/>
              <a:t>case</a:t>
            </a:r>
          </a:p>
          <a:p>
            <a:pPr marL="811530" lvl="1" indent="-342900">
              <a:spcBef>
                <a:spcPts val="455"/>
              </a:spcBef>
              <a:tabLst>
                <a:tab pos="756285" algn="l"/>
                <a:tab pos="756920" algn="l"/>
              </a:tabLst>
            </a:pPr>
            <a:r>
              <a:rPr lang="en-US" sz="1900" spc="-5" dirty="0"/>
              <a:t>Worst</a:t>
            </a:r>
            <a:r>
              <a:rPr lang="en-US" sz="1900" spc="15" dirty="0"/>
              <a:t> </a:t>
            </a:r>
            <a:r>
              <a:rPr lang="en-US" sz="1900" dirty="0"/>
              <a:t>case</a:t>
            </a:r>
          </a:p>
          <a:p>
            <a:pPr marL="811530" lvl="1" indent="-342900">
              <a:spcBef>
                <a:spcPts val="459"/>
              </a:spcBef>
              <a:tabLst>
                <a:tab pos="756285" algn="l"/>
                <a:tab pos="756920" algn="l"/>
              </a:tabLst>
            </a:pPr>
            <a:r>
              <a:rPr lang="en-US" sz="1900" spc="-5" dirty="0"/>
              <a:t>Average</a:t>
            </a:r>
            <a:r>
              <a:rPr lang="en-US" sz="1900" spc="30" dirty="0"/>
              <a:t> </a:t>
            </a:r>
            <a:r>
              <a:rPr lang="en-US" sz="1900" spc="-5" dirty="0"/>
              <a:t>case</a:t>
            </a:r>
            <a:endParaRPr lang="en-US" sz="1900" dirty="0"/>
          </a:p>
          <a:p>
            <a:pPr algn="l">
              <a:spcBef>
                <a:spcPts val="700"/>
              </a:spcBef>
            </a:pPr>
            <a:endParaRPr lang="en-US" altLang="en-US" sz="2200" dirty="0">
              <a:solidFill>
                <a:srgbClr val="000000"/>
              </a:solidFill>
              <a:cs typeface="AR PL SungtiL GB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855567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75EF5-2E34-41D2-9E05-E0D985004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Finding Running Time of an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14AEB-4924-46F0-9F96-0F3F4205D1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7950" y="1692487"/>
            <a:ext cx="6263198" cy="4576343"/>
          </a:xfrm>
        </p:spPr>
        <p:txBody>
          <a:bodyPr/>
          <a:lstStyle/>
          <a:p>
            <a:pPr marL="354965" marR="130810" indent="-342900">
              <a:spcBef>
                <a:spcPts val="100"/>
              </a:spcBef>
              <a:tabLst>
                <a:tab pos="356235" algn="l"/>
                <a:tab pos="356870" algn="l"/>
              </a:tabLst>
            </a:pPr>
            <a:r>
              <a:rPr lang="en-US" sz="2400" spc="-5" dirty="0"/>
              <a:t>Best </a:t>
            </a:r>
            <a:r>
              <a:rPr lang="en-US" sz="2400" dirty="0"/>
              <a:t>case </a:t>
            </a:r>
            <a:r>
              <a:rPr lang="en-US" sz="2400" spc="-5" dirty="0"/>
              <a:t>running </a:t>
            </a:r>
            <a:r>
              <a:rPr lang="en-US" sz="2400" dirty="0"/>
              <a:t>time is </a:t>
            </a:r>
            <a:r>
              <a:rPr lang="en-US" sz="2400" spc="-5" dirty="0"/>
              <a:t>usually  not very</a:t>
            </a:r>
            <a:r>
              <a:rPr lang="en-US" sz="2400" spc="20" dirty="0"/>
              <a:t> </a:t>
            </a:r>
            <a:r>
              <a:rPr lang="en-US" sz="2400" dirty="0"/>
              <a:t>useful</a:t>
            </a:r>
          </a:p>
          <a:p>
            <a:pPr marL="12065" marR="130810" indent="0">
              <a:spcBef>
                <a:spcPts val="100"/>
              </a:spcBef>
              <a:buNone/>
              <a:tabLst>
                <a:tab pos="356235" algn="l"/>
                <a:tab pos="356870" algn="l"/>
              </a:tabLst>
            </a:pPr>
            <a:endParaRPr lang="en-US" sz="2400" spc="-5" dirty="0"/>
          </a:p>
          <a:p>
            <a:pPr marL="354965" marR="130810" indent="-342900">
              <a:spcBef>
                <a:spcPts val="100"/>
              </a:spcBef>
              <a:tabLst>
                <a:tab pos="356235" algn="l"/>
                <a:tab pos="356870" algn="l"/>
              </a:tabLst>
            </a:pPr>
            <a:r>
              <a:rPr lang="en-US" sz="2400" spc="-5" dirty="0"/>
              <a:t>Average case </a:t>
            </a:r>
            <a:r>
              <a:rPr lang="en-US" sz="2400" dirty="0"/>
              <a:t>time is </a:t>
            </a:r>
            <a:r>
              <a:rPr lang="en-US" sz="2400" spc="-5" dirty="0"/>
              <a:t>very </a:t>
            </a:r>
            <a:r>
              <a:rPr lang="en-US" sz="2400" dirty="0"/>
              <a:t>useful  </a:t>
            </a:r>
            <a:r>
              <a:rPr lang="en-US" sz="2400" spc="-5" dirty="0"/>
              <a:t>but </a:t>
            </a:r>
            <a:r>
              <a:rPr lang="en-US" sz="2400" dirty="0"/>
              <a:t>often </a:t>
            </a:r>
            <a:r>
              <a:rPr lang="en-US" sz="2400" spc="-5" dirty="0"/>
              <a:t>hard </a:t>
            </a:r>
            <a:r>
              <a:rPr lang="en-US" sz="2400" spc="5" dirty="0"/>
              <a:t>to</a:t>
            </a:r>
            <a:r>
              <a:rPr lang="en-US" sz="2400" spc="-15" dirty="0"/>
              <a:t> </a:t>
            </a:r>
            <a:r>
              <a:rPr lang="en-US" sz="2400" spc="-5" dirty="0"/>
              <a:t>determine</a:t>
            </a:r>
            <a:endParaRPr lang="en-US" sz="2400" dirty="0"/>
          </a:p>
          <a:p>
            <a:pPr>
              <a:spcBef>
                <a:spcPts val="25"/>
              </a:spcBef>
            </a:pPr>
            <a:endParaRPr lang="en-US" sz="3200" dirty="0"/>
          </a:p>
          <a:p>
            <a:pPr marL="354965" marR="5080" indent="-342900">
              <a:tabLst>
                <a:tab pos="356235" algn="l"/>
                <a:tab pos="356870" algn="l"/>
              </a:tabLst>
            </a:pPr>
            <a:r>
              <a:rPr lang="en-US" sz="2400" spc="-5" dirty="0"/>
              <a:t>Worst case </a:t>
            </a:r>
            <a:r>
              <a:rPr lang="en-US" sz="2400" dirty="0"/>
              <a:t>running time is </a:t>
            </a:r>
            <a:r>
              <a:rPr lang="en-US" sz="2400" spc="-5" dirty="0"/>
              <a:t>easier  </a:t>
            </a:r>
            <a:r>
              <a:rPr lang="en-US" sz="2400" spc="5" dirty="0"/>
              <a:t>to</a:t>
            </a:r>
            <a:r>
              <a:rPr lang="en-US" sz="2400" spc="-20" dirty="0"/>
              <a:t> </a:t>
            </a:r>
            <a:r>
              <a:rPr lang="en-US" sz="2400" spc="-5" dirty="0"/>
              <a:t>analyze</a:t>
            </a:r>
            <a:endParaRPr lang="en-US" sz="2400" dirty="0"/>
          </a:p>
          <a:p>
            <a:pPr marL="755015" marR="88265" indent="-285750">
              <a:spcBef>
                <a:spcPts val="465"/>
              </a:spcBef>
              <a:tabLst>
                <a:tab pos="756285" algn="l"/>
              </a:tabLst>
            </a:pPr>
            <a:r>
              <a:rPr lang="en-US" spc="-5" dirty="0"/>
              <a:t>–	</a:t>
            </a:r>
            <a:r>
              <a:rPr lang="en-US" spc="-10" dirty="0"/>
              <a:t>Crucial </a:t>
            </a:r>
            <a:r>
              <a:rPr lang="en-US" spc="-5" dirty="0"/>
              <a:t>for </a:t>
            </a:r>
            <a:r>
              <a:rPr lang="en-US" spc="-10" dirty="0"/>
              <a:t>real-time </a:t>
            </a:r>
            <a:r>
              <a:rPr lang="en-US" spc="-5" dirty="0"/>
              <a:t>applications  such </a:t>
            </a:r>
            <a:r>
              <a:rPr lang="en-US" spc="-10" dirty="0"/>
              <a:t>as </a:t>
            </a:r>
            <a:r>
              <a:rPr lang="en-US" spc="-5" dirty="0"/>
              <a:t>games, </a:t>
            </a:r>
            <a:r>
              <a:rPr lang="en-US" spc="-10" dirty="0"/>
              <a:t>finance and  </a:t>
            </a:r>
            <a:r>
              <a:rPr lang="en-US" spc="-5" dirty="0"/>
              <a:t>robotics</a:t>
            </a:r>
            <a:endParaRPr lang="en-US" dirty="0"/>
          </a:p>
          <a:p>
            <a:endParaRPr lang="en-US" dirty="0"/>
          </a:p>
        </p:txBody>
      </p:sp>
      <p:pic>
        <p:nvPicPr>
          <p:cNvPr id="107" name="Picture 106">
            <a:extLst>
              <a:ext uri="{FF2B5EF4-FFF2-40B4-BE49-F238E27FC236}">
                <a16:creationId xmlns:a16="http://schemas.microsoft.com/office/drawing/2014/main" id="{668586E8-7BB6-4A0C-9E09-867C1A0FFE3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287364" y="1602051"/>
            <a:ext cx="3710243" cy="39647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5517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8A165-53B3-425A-B006-255D6C463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>
                <a:solidFill>
                  <a:srgbClr val="000000"/>
                </a:solidFill>
                <a:cs typeface="AR PL SungtiL GB" charset="0"/>
              </a:rPr>
              <a:t>Finding Running Time of an Algorithm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AEE46F-BAF8-4C43-84EF-5ECC4EB5F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600"/>
              </a:spcBef>
              <a:buSzPct val="100000"/>
              <a:defRPr/>
            </a:pPr>
            <a:r>
              <a:rPr lang="en-US" altLang="en-US" sz="2400" dirty="0">
                <a:cs typeface="AR PL SungtiL GB" charset="0"/>
              </a:rPr>
              <a:t>Running time is measured by number of steps/primitive operations performed</a:t>
            </a:r>
          </a:p>
          <a:p>
            <a:pPr>
              <a:spcBef>
                <a:spcPts val="600"/>
              </a:spcBef>
              <a:buSzPct val="100000"/>
              <a:defRPr/>
            </a:pPr>
            <a:endParaRPr lang="en-US" altLang="en-US" sz="2400" dirty="0">
              <a:cs typeface="AR PL SungtiL GB" charset="0"/>
            </a:endParaRPr>
          </a:p>
          <a:p>
            <a:pPr>
              <a:spcBef>
                <a:spcPts val="600"/>
              </a:spcBef>
              <a:buSzPct val="100000"/>
              <a:defRPr/>
            </a:pPr>
            <a:r>
              <a:rPr lang="en-US" altLang="en-US" sz="2400" dirty="0">
                <a:cs typeface="AR PL SungtiL GB" charset="0"/>
              </a:rPr>
              <a:t>We use RAM (Random Access Model), in which each operation (e.g. +, -, x, /,=) and each memory access take one run-time unit. Loops and functions can take multiple time units.</a:t>
            </a:r>
          </a:p>
          <a:p>
            <a:pPr>
              <a:spcBef>
                <a:spcPts val="600"/>
              </a:spcBef>
              <a:buSzPct val="100000"/>
              <a:defRPr/>
            </a:pPr>
            <a:endParaRPr lang="en-US" altLang="en-US" sz="2400" dirty="0">
              <a:cs typeface="AR PL SungtiL GB" charset="0"/>
            </a:endParaRPr>
          </a:p>
          <a:p>
            <a:pPr>
              <a:spcBef>
                <a:spcPts val="600"/>
              </a:spcBef>
              <a:buSzPct val="100000"/>
              <a:defRPr/>
            </a:pPr>
            <a:r>
              <a:rPr lang="en-US" altLang="en-US" sz="2400" dirty="0">
                <a:cs typeface="AR PL SungtiL GB" charset="0"/>
              </a:rPr>
              <a:t>Count the number of basic operations of an algorithm </a:t>
            </a:r>
          </a:p>
          <a:p>
            <a:pPr lvl="1">
              <a:spcBef>
                <a:spcPts val="600"/>
              </a:spcBef>
              <a:buSzPct val="100000"/>
              <a:defRPr/>
            </a:pPr>
            <a:r>
              <a:rPr lang="en-US" altLang="en-US" sz="2400" dirty="0">
                <a:cs typeface="AR PL SungtiL GB" charset="0"/>
              </a:rPr>
              <a:t>Read, write, compare, assign, jump, arithmetic operations (increment, decrement, add, subtract, multiply, divide),  open, close, logical operations (not/complement, AND, OR), …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8726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EAE4F3-80D4-4004-9F44-93C7D43EE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Experimental Evaluation </a:t>
            </a:r>
            <a:r>
              <a:rPr lang="en-US" spc="5" dirty="0"/>
              <a:t>of </a:t>
            </a:r>
            <a:r>
              <a:rPr lang="en-US" spc="-5" dirty="0"/>
              <a:t>Run</a:t>
            </a:r>
            <a:r>
              <a:rPr lang="en-US" spc="10" dirty="0"/>
              <a:t> </a:t>
            </a:r>
            <a:r>
              <a:rPr lang="en-US" spc="-5" dirty="0"/>
              <a:t>Time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04D4F5-9B0A-4096-B7A2-E6217FD12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5499" y="1692487"/>
            <a:ext cx="5197712" cy="4576343"/>
          </a:xfrm>
        </p:spPr>
        <p:txBody>
          <a:bodyPr/>
          <a:lstStyle/>
          <a:p>
            <a:pPr marL="354965" marR="93980" indent="-342900">
              <a:spcBef>
                <a:spcPts val="100"/>
              </a:spcBef>
              <a:tabLst>
                <a:tab pos="356235" algn="l"/>
                <a:tab pos="356870" algn="l"/>
              </a:tabLst>
            </a:pPr>
            <a:r>
              <a:rPr lang="en-US" spc="-5" dirty="0"/>
              <a:t>Write </a:t>
            </a:r>
            <a:r>
              <a:rPr lang="en-US" dirty="0"/>
              <a:t>a </a:t>
            </a:r>
            <a:r>
              <a:rPr lang="en-US" spc="-5" dirty="0"/>
              <a:t>program implementing  </a:t>
            </a:r>
            <a:r>
              <a:rPr lang="en-US" spc="5" dirty="0"/>
              <a:t>the</a:t>
            </a:r>
            <a:r>
              <a:rPr lang="en-US" spc="-25" dirty="0"/>
              <a:t> </a:t>
            </a:r>
            <a:r>
              <a:rPr lang="en-US" spc="-5" dirty="0"/>
              <a:t>algorithm</a:t>
            </a:r>
            <a:endParaRPr lang="en-US" dirty="0"/>
          </a:p>
          <a:p>
            <a:pPr>
              <a:spcBef>
                <a:spcPts val="25"/>
              </a:spcBef>
            </a:pPr>
            <a:endParaRPr lang="en-US" dirty="0"/>
          </a:p>
          <a:p>
            <a:pPr marL="354965" marR="5080" indent="-342900">
              <a:tabLst>
                <a:tab pos="356235" algn="l"/>
                <a:tab pos="356870" algn="l"/>
              </a:tabLst>
            </a:pPr>
            <a:r>
              <a:rPr lang="en-US" spc="-5" dirty="0"/>
              <a:t>Run the program with </a:t>
            </a:r>
            <a:r>
              <a:rPr lang="en-US" dirty="0"/>
              <a:t>inputs </a:t>
            </a:r>
            <a:r>
              <a:rPr lang="en-US" spc="-5" dirty="0"/>
              <a:t>of  varying</a:t>
            </a:r>
            <a:r>
              <a:rPr lang="en-US" spc="5" dirty="0"/>
              <a:t> </a:t>
            </a:r>
            <a:r>
              <a:rPr lang="en-US" spc="-5" dirty="0"/>
              <a:t>size</a:t>
            </a:r>
            <a:endParaRPr lang="en-US" dirty="0"/>
          </a:p>
          <a:p>
            <a:pPr>
              <a:spcBef>
                <a:spcPts val="30"/>
              </a:spcBef>
            </a:pPr>
            <a:endParaRPr lang="en-US" dirty="0"/>
          </a:p>
          <a:p>
            <a:pPr marL="354965" marR="45720" indent="-342900">
              <a:tabLst>
                <a:tab pos="356235" algn="l"/>
                <a:tab pos="356870" algn="l"/>
              </a:tabLst>
            </a:pPr>
            <a:r>
              <a:rPr lang="en-US" spc="-5" dirty="0"/>
              <a:t>Use </a:t>
            </a:r>
            <a:r>
              <a:rPr lang="en-US" dirty="0"/>
              <a:t>clock methods </a:t>
            </a:r>
            <a:r>
              <a:rPr lang="en-US" spc="5" dirty="0"/>
              <a:t>to </a:t>
            </a:r>
            <a:r>
              <a:rPr lang="en-US" spc="-5" dirty="0"/>
              <a:t>get </a:t>
            </a:r>
            <a:r>
              <a:rPr lang="en-US" spc="-10" dirty="0"/>
              <a:t>an  </a:t>
            </a:r>
            <a:r>
              <a:rPr lang="en-US" dirty="0"/>
              <a:t>accurate measure </a:t>
            </a:r>
            <a:r>
              <a:rPr lang="en-US" spc="-5" dirty="0"/>
              <a:t>of the</a:t>
            </a:r>
            <a:r>
              <a:rPr lang="en-US" spc="-80" dirty="0"/>
              <a:t> </a:t>
            </a:r>
            <a:r>
              <a:rPr lang="en-US" spc="5" dirty="0"/>
              <a:t>actual  </a:t>
            </a:r>
            <a:r>
              <a:rPr lang="en-US" dirty="0"/>
              <a:t>running</a:t>
            </a:r>
            <a:r>
              <a:rPr lang="en-US" spc="5" dirty="0"/>
              <a:t> </a:t>
            </a:r>
            <a:r>
              <a:rPr lang="en-US" spc="-5" dirty="0"/>
              <a:t>time</a:t>
            </a:r>
            <a:endParaRPr lang="en-US" dirty="0"/>
          </a:p>
          <a:p>
            <a:pPr>
              <a:spcBef>
                <a:spcPts val="25"/>
              </a:spcBef>
            </a:pPr>
            <a:endParaRPr lang="en-US" dirty="0"/>
          </a:p>
          <a:p>
            <a:pPr marL="354965" indent="-342900">
              <a:tabLst>
                <a:tab pos="356235" algn="l"/>
                <a:tab pos="356870" algn="l"/>
              </a:tabLst>
            </a:pPr>
            <a:r>
              <a:rPr lang="en-US" spc="-5" dirty="0"/>
              <a:t>Plot the</a:t>
            </a:r>
            <a:r>
              <a:rPr lang="en-US" dirty="0"/>
              <a:t> results</a:t>
            </a:r>
          </a:p>
          <a:p>
            <a:pPr marL="0" indent="0">
              <a:buNone/>
            </a:pP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DB45B6E-AC92-426D-B167-4C22C3E089A9}"/>
              </a:ext>
            </a:extLst>
          </p:cNvPr>
          <p:cNvGrpSpPr/>
          <p:nvPr/>
        </p:nvGrpSpPr>
        <p:grpSpPr>
          <a:xfrm>
            <a:off x="7904966" y="1876164"/>
            <a:ext cx="4001456" cy="4208987"/>
            <a:chOff x="5352266" y="2031994"/>
            <a:chExt cx="4001456" cy="4208987"/>
          </a:xfrm>
        </p:grpSpPr>
        <p:grpSp>
          <p:nvGrpSpPr>
            <p:cNvPr id="5" name="object 4">
              <a:extLst>
                <a:ext uri="{FF2B5EF4-FFF2-40B4-BE49-F238E27FC236}">
                  <a16:creationId xmlns:a16="http://schemas.microsoft.com/office/drawing/2014/main" id="{6ECA7D50-2BDD-43C7-91B3-E9AF604CF05C}"/>
                </a:ext>
              </a:extLst>
            </p:cNvPr>
            <p:cNvGrpSpPr/>
            <p:nvPr/>
          </p:nvGrpSpPr>
          <p:grpSpPr>
            <a:xfrm>
              <a:off x="6191440" y="2153030"/>
              <a:ext cx="2992120" cy="3448050"/>
              <a:chOff x="6191440" y="2153030"/>
              <a:chExt cx="2992120" cy="3448050"/>
            </a:xfrm>
          </p:grpSpPr>
          <p:sp>
            <p:nvSpPr>
              <p:cNvPr id="11" name="object 5">
                <a:extLst>
                  <a:ext uri="{FF2B5EF4-FFF2-40B4-BE49-F238E27FC236}">
                    <a16:creationId xmlns:a16="http://schemas.microsoft.com/office/drawing/2014/main" id="{F1533A23-B850-4671-B754-15D222B29F0E}"/>
                  </a:ext>
                </a:extLst>
              </p:cNvPr>
              <p:cNvSpPr/>
              <p:nvPr/>
            </p:nvSpPr>
            <p:spPr>
              <a:xfrm>
                <a:off x="6247447" y="2157698"/>
                <a:ext cx="2931160" cy="3387090"/>
              </a:xfrm>
              <a:custGeom>
                <a:avLst/>
                <a:gdLst/>
                <a:ahLst/>
                <a:cxnLst/>
                <a:rect l="l" t="t" r="r" b="b"/>
                <a:pathLst>
                  <a:path w="2931159" h="3387090">
                    <a:moveTo>
                      <a:pt x="0" y="0"/>
                    </a:moveTo>
                    <a:lnTo>
                      <a:pt x="2930842" y="0"/>
                    </a:lnTo>
                  </a:path>
                  <a:path w="2931159" h="3387090">
                    <a:moveTo>
                      <a:pt x="2930842" y="0"/>
                    </a:moveTo>
                    <a:lnTo>
                      <a:pt x="2930842" y="3387089"/>
                    </a:lnTo>
                  </a:path>
                </a:pathLst>
              </a:custGeom>
              <a:ln w="933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2" name="object 6">
                <a:extLst>
                  <a:ext uri="{FF2B5EF4-FFF2-40B4-BE49-F238E27FC236}">
                    <a16:creationId xmlns:a16="http://schemas.microsoft.com/office/drawing/2014/main" id="{A837733E-5B75-4EC5-A839-234CB6F1C0C4}"/>
                  </a:ext>
                </a:extLst>
              </p:cNvPr>
              <p:cNvSpPr/>
              <p:nvPr/>
            </p:nvSpPr>
            <p:spPr>
              <a:xfrm>
                <a:off x="6247447" y="5544788"/>
                <a:ext cx="293116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931159">
                    <a:moveTo>
                      <a:pt x="0" y="0"/>
                    </a:moveTo>
                    <a:lnTo>
                      <a:pt x="251936" y="0"/>
                    </a:lnTo>
                  </a:path>
                  <a:path w="2931159">
                    <a:moveTo>
                      <a:pt x="317277" y="0"/>
                    </a:moveTo>
                    <a:lnTo>
                      <a:pt x="2930842" y="0"/>
                    </a:lnTo>
                  </a:path>
                </a:pathLst>
              </a:custGeom>
              <a:ln w="933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3" name="object 7">
                <a:extLst>
                  <a:ext uri="{FF2B5EF4-FFF2-40B4-BE49-F238E27FC236}">
                    <a16:creationId xmlns:a16="http://schemas.microsoft.com/office/drawing/2014/main" id="{B75A896D-290D-48D4-A0CC-46D5E3EBD32A}"/>
                  </a:ext>
                </a:extLst>
              </p:cNvPr>
              <p:cNvSpPr/>
              <p:nvPr/>
            </p:nvSpPr>
            <p:spPr>
              <a:xfrm>
                <a:off x="6191440" y="2157698"/>
                <a:ext cx="56515" cy="3387090"/>
              </a:xfrm>
              <a:custGeom>
                <a:avLst/>
                <a:gdLst/>
                <a:ahLst/>
                <a:cxnLst/>
                <a:rect l="l" t="t" r="r" b="b"/>
                <a:pathLst>
                  <a:path w="56514" h="3387090">
                    <a:moveTo>
                      <a:pt x="56006" y="3387089"/>
                    </a:moveTo>
                    <a:lnTo>
                      <a:pt x="56006" y="0"/>
                    </a:lnTo>
                  </a:path>
                  <a:path w="56514" h="3387090">
                    <a:moveTo>
                      <a:pt x="56006" y="0"/>
                    </a:moveTo>
                    <a:lnTo>
                      <a:pt x="56006" y="3387089"/>
                    </a:lnTo>
                  </a:path>
                  <a:path w="56514" h="3387090">
                    <a:moveTo>
                      <a:pt x="0" y="3387089"/>
                    </a:moveTo>
                    <a:lnTo>
                      <a:pt x="56006" y="3387089"/>
                    </a:lnTo>
                  </a:path>
                  <a:path w="56514" h="3387090">
                    <a:moveTo>
                      <a:pt x="0" y="3013900"/>
                    </a:moveTo>
                    <a:lnTo>
                      <a:pt x="56006" y="3013900"/>
                    </a:lnTo>
                  </a:path>
                  <a:path w="56514" h="3387090">
                    <a:moveTo>
                      <a:pt x="0" y="2631281"/>
                    </a:moveTo>
                    <a:lnTo>
                      <a:pt x="56006" y="2631281"/>
                    </a:lnTo>
                  </a:path>
                  <a:path w="56514" h="3387090">
                    <a:moveTo>
                      <a:pt x="0" y="2258091"/>
                    </a:moveTo>
                    <a:lnTo>
                      <a:pt x="56006" y="2258091"/>
                    </a:lnTo>
                  </a:path>
                  <a:path w="56514" h="3387090">
                    <a:moveTo>
                      <a:pt x="0" y="1884806"/>
                    </a:moveTo>
                    <a:lnTo>
                      <a:pt x="56006" y="1884806"/>
                    </a:lnTo>
                  </a:path>
                  <a:path w="56514" h="3387090">
                    <a:moveTo>
                      <a:pt x="0" y="1502282"/>
                    </a:moveTo>
                    <a:lnTo>
                      <a:pt x="56006" y="1502282"/>
                    </a:lnTo>
                  </a:path>
                  <a:path w="56514" h="3387090">
                    <a:moveTo>
                      <a:pt x="0" y="1128998"/>
                    </a:moveTo>
                    <a:lnTo>
                      <a:pt x="56006" y="1128998"/>
                    </a:lnTo>
                  </a:path>
                  <a:path w="56514" h="3387090">
                    <a:moveTo>
                      <a:pt x="0" y="755808"/>
                    </a:moveTo>
                    <a:lnTo>
                      <a:pt x="56006" y="755808"/>
                    </a:lnTo>
                  </a:path>
                  <a:path w="56514" h="3387090">
                    <a:moveTo>
                      <a:pt x="0" y="373189"/>
                    </a:moveTo>
                    <a:lnTo>
                      <a:pt x="56006" y="373189"/>
                    </a:lnTo>
                  </a:path>
                  <a:path w="56514" h="3387090">
                    <a:moveTo>
                      <a:pt x="0" y="0"/>
                    </a:moveTo>
                    <a:lnTo>
                      <a:pt x="56006" y="0"/>
                    </a:lnTo>
                  </a:path>
                </a:pathLst>
              </a:custGeom>
              <a:ln w="933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8">
                <a:extLst>
                  <a:ext uri="{FF2B5EF4-FFF2-40B4-BE49-F238E27FC236}">
                    <a16:creationId xmlns:a16="http://schemas.microsoft.com/office/drawing/2014/main" id="{34866081-B998-460B-9D28-0F9B2C8C358E}"/>
                  </a:ext>
                </a:extLst>
              </p:cNvPr>
              <p:cNvSpPr/>
              <p:nvPr/>
            </p:nvSpPr>
            <p:spPr>
              <a:xfrm>
                <a:off x="6247447" y="5544788"/>
                <a:ext cx="2931160" cy="0"/>
              </a:xfrm>
              <a:custGeom>
                <a:avLst/>
                <a:gdLst/>
                <a:ahLst/>
                <a:cxnLst/>
                <a:rect l="l" t="t" r="r" b="b"/>
                <a:pathLst>
                  <a:path w="2931159">
                    <a:moveTo>
                      <a:pt x="0" y="0"/>
                    </a:moveTo>
                    <a:lnTo>
                      <a:pt x="251936" y="0"/>
                    </a:lnTo>
                  </a:path>
                  <a:path w="2931159">
                    <a:moveTo>
                      <a:pt x="317277" y="0"/>
                    </a:moveTo>
                    <a:lnTo>
                      <a:pt x="2930842" y="0"/>
                    </a:lnTo>
                  </a:path>
                </a:pathLst>
              </a:custGeom>
              <a:ln w="933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" name="object 9">
                <a:extLst>
                  <a:ext uri="{FF2B5EF4-FFF2-40B4-BE49-F238E27FC236}">
                    <a16:creationId xmlns:a16="http://schemas.microsoft.com/office/drawing/2014/main" id="{40155258-ADE9-4627-9711-0C18362DBA04}"/>
                  </a:ext>
                </a:extLst>
              </p:cNvPr>
              <p:cNvSpPr/>
              <p:nvPr/>
            </p:nvSpPr>
            <p:spPr>
              <a:xfrm>
                <a:off x="6247447" y="5544788"/>
                <a:ext cx="2931160" cy="56515"/>
              </a:xfrm>
              <a:custGeom>
                <a:avLst/>
                <a:gdLst/>
                <a:ahLst/>
                <a:cxnLst/>
                <a:rect l="l" t="t" r="r" b="b"/>
                <a:pathLst>
                  <a:path w="2931159" h="56514">
                    <a:moveTo>
                      <a:pt x="0" y="56007"/>
                    </a:moveTo>
                    <a:lnTo>
                      <a:pt x="0" y="0"/>
                    </a:lnTo>
                  </a:path>
                  <a:path w="2931159" h="56514">
                    <a:moveTo>
                      <a:pt x="1465421" y="56007"/>
                    </a:moveTo>
                    <a:lnTo>
                      <a:pt x="1465421" y="0"/>
                    </a:lnTo>
                  </a:path>
                  <a:path w="2931159" h="56514">
                    <a:moveTo>
                      <a:pt x="2930842" y="56007"/>
                    </a:moveTo>
                    <a:lnTo>
                      <a:pt x="2930842" y="0"/>
                    </a:lnTo>
                  </a:path>
                </a:pathLst>
              </a:custGeom>
              <a:ln w="9334">
                <a:solidFill>
                  <a:srgbClr val="000000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6" name="object 10">
                <a:extLst>
                  <a:ext uri="{FF2B5EF4-FFF2-40B4-BE49-F238E27FC236}">
                    <a16:creationId xmlns:a16="http://schemas.microsoft.com/office/drawing/2014/main" id="{3B77C74B-06F8-4F11-8A22-5E0C7208EC76}"/>
                  </a:ext>
                </a:extLst>
              </p:cNvPr>
              <p:cNvSpPr/>
              <p:nvPr/>
            </p:nvSpPr>
            <p:spPr>
              <a:xfrm>
                <a:off x="6499377" y="2195042"/>
                <a:ext cx="2418080" cy="3359150"/>
              </a:xfrm>
              <a:custGeom>
                <a:avLst/>
                <a:gdLst/>
                <a:ahLst/>
                <a:cxnLst/>
                <a:rect l="l" t="t" r="r" b="b"/>
                <a:pathLst>
                  <a:path w="2418079" h="3359150">
                    <a:moveTo>
                      <a:pt x="65341" y="3237827"/>
                    </a:moveTo>
                    <a:lnTo>
                      <a:pt x="0" y="3237827"/>
                    </a:lnTo>
                    <a:lnTo>
                      <a:pt x="0" y="3275165"/>
                    </a:lnTo>
                    <a:lnTo>
                      <a:pt x="0" y="3293834"/>
                    </a:lnTo>
                    <a:lnTo>
                      <a:pt x="0" y="3303168"/>
                    </a:lnTo>
                    <a:lnTo>
                      <a:pt x="0" y="3340417"/>
                    </a:lnTo>
                    <a:lnTo>
                      <a:pt x="0" y="3359086"/>
                    </a:lnTo>
                    <a:lnTo>
                      <a:pt x="65341" y="3359086"/>
                    </a:lnTo>
                    <a:lnTo>
                      <a:pt x="65341" y="3340417"/>
                    </a:lnTo>
                    <a:lnTo>
                      <a:pt x="65341" y="3303168"/>
                    </a:lnTo>
                    <a:lnTo>
                      <a:pt x="65341" y="3293834"/>
                    </a:lnTo>
                    <a:lnTo>
                      <a:pt x="65341" y="3275165"/>
                    </a:lnTo>
                    <a:lnTo>
                      <a:pt x="65341" y="3237827"/>
                    </a:lnTo>
                    <a:close/>
                  </a:path>
                  <a:path w="2418079" h="3359150">
                    <a:moveTo>
                      <a:pt x="364045" y="3237827"/>
                    </a:moveTo>
                    <a:lnTo>
                      <a:pt x="298704" y="3237827"/>
                    </a:lnTo>
                    <a:lnTo>
                      <a:pt x="298704" y="3303168"/>
                    </a:lnTo>
                    <a:lnTo>
                      <a:pt x="364045" y="3303168"/>
                    </a:lnTo>
                    <a:lnTo>
                      <a:pt x="364045" y="3237827"/>
                    </a:lnTo>
                    <a:close/>
                  </a:path>
                  <a:path w="2418079" h="3359150">
                    <a:moveTo>
                      <a:pt x="364045" y="3163151"/>
                    </a:moveTo>
                    <a:lnTo>
                      <a:pt x="298704" y="3163151"/>
                    </a:lnTo>
                    <a:lnTo>
                      <a:pt x="298704" y="3228492"/>
                    </a:lnTo>
                    <a:lnTo>
                      <a:pt x="364045" y="3228492"/>
                    </a:lnTo>
                    <a:lnTo>
                      <a:pt x="364045" y="3163151"/>
                    </a:lnTo>
                    <a:close/>
                  </a:path>
                  <a:path w="2418079" h="3359150">
                    <a:moveTo>
                      <a:pt x="364045" y="3088487"/>
                    </a:moveTo>
                    <a:lnTo>
                      <a:pt x="298704" y="3088487"/>
                    </a:lnTo>
                    <a:lnTo>
                      <a:pt x="298704" y="3153816"/>
                    </a:lnTo>
                    <a:lnTo>
                      <a:pt x="364045" y="3153816"/>
                    </a:lnTo>
                    <a:lnTo>
                      <a:pt x="364045" y="3088487"/>
                    </a:lnTo>
                    <a:close/>
                  </a:path>
                  <a:path w="2418079" h="3359150">
                    <a:moveTo>
                      <a:pt x="653415" y="3051238"/>
                    </a:moveTo>
                    <a:lnTo>
                      <a:pt x="588073" y="3051238"/>
                    </a:lnTo>
                    <a:lnTo>
                      <a:pt x="588073" y="3116478"/>
                    </a:lnTo>
                    <a:lnTo>
                      <a:pt x="653415" y="3116478"/>
                    </a:lnTo>
                    <a:lnTo>
                      <a:pt x="653415" y="3051238"/>
                    </a:lnTo>
                    <a:close/>
                  </a:path>
                  <a:path w="2418079" h="3359150">
                    <a:moveTo>
                      <a:pt x="653415" y="2976562"/>
                    </a:moveTo>
                    <a:lnTo>
                      <a:pt x="588073" y="2976562"/>
                    </a:lnTo>
                    <a:lnTo>
                      <a:pt x="588073" y="3041904"/>
                    </a:lnTo>
                    <a:lnTo>
                      <a:pt x="653415" y="3041904"/>
                    </a:lnTo>
                    <a:lnTo>
                      <a:pt x="653415" y="2976562"/>
                    </a:lnTo>
                    <a:close/>
                  </a:path>
                  <a:path w="2418079" h="3359150">
                    <a:moveTo>
                      <a:pt x="653415" y="2864548"/>
                    </a:moveTo>
                    <a:lnTo>
                      <a:pt x="588073" y="2864548"/>
                    </a:lnTo>
                    <a:lnTo>
                      <a:pt x="588073" y="2929890"/>
                    </a:lnTo>
                    <a:lnTo>
                      <a:pt x="653415" y="2929890"/>
                    </a:lnTo>
                    <a:lnTo>
                      <a:pt x="653415" y="2864548"/>
                    </a:lnTo>
                    <a:close/>
                  </a:path>
                  <a:path w="2418079" h="3359150">
                    <a:moveTo>
                      <a:pt x="952119" y="2864548"/>
                    </a:moveTo>
                    <a:lnTo>
                      <a:pt x="886777" y="2864548"/>
                    </a:lnTo>
                    <a:lnTo>
                      <a:pt x="886777" y="2929890"/>
                    </a:lnTo>
                    <a:lnTo>
                      <a:pt x="952119" y="2929890"/>
                    </a:lnTo>
                    <a:lnTo>
                      <a:pt x="952119" y="2864548"/>
                    </a:lnTo>
                    <a:close/>
                  </a:path>
                  <a:path w="2418079" h="3359150">
                    <a:moveTo>
                      <a:pt x="952119" y="2705951"/>
                    </a:moveTo>
                    <a:lnTo>
                      <a:pt x="886777" y="2705951"/>
                    </a:lnTo>
                    <a:lnTo>
                      <a:pt x="886777" y="2771292"/>
                    </a:lnTo>
                    <a:lnTo>
                      <a:pt x="952119" y="2771292"/>
                    </a:lnTo>
                    <a:lnTo>
                      <a:pt x="952119" y="2705951"/>
                    </a:lnTo>
                    <a:close/>
                  </a:path>
                  <a:path w="2418079" h="3359150">
                    <a:moveTo>
                      <a:pt x="952119" y="2593937"/>
                    </a:moveTo>
                    <a:lnTo>
                      <a:pt x="886777" y="2593937"/>
                    </a:lnTo>
                    <a:lnTo>
                      <a:pt x="886777" y="2659278"/>
                    </a:lnTo>
                    <a:lnTo>
                      <a:pt x="952119" y="2659278"/>
                    </a:lnTo>
                    <a:lnTo>
                      <a:pt x="952119" y="2593937"/>
                    </a:lnTo>
                    <a:close/>
                  </a:path>
                  <a:path w="2418079" h="3359150">
                    <a:moveTo>
                      <a:pt x="1241488" y="2519362"/>
                    </a:moveTo>
                    <a:lnTo>
                      <a:pt x="1176147" y="2519362"/>
                    </a:lnTo>
                    <a:lnTo>
                      <a:pt x="1176147" y="2584602"/>
                    </a:lnTo>
                    <a:lnTo>
                      <a:pt x="1241488" y="2584602"/>
                    </a:lnTo>
                    <a:lnTo>
                      <a:pt x="1241488" y="2519362"/>
                    </a:lnTo>
                    <a:close/>
                  </a:path>
                  <a:path w="2418079" h="3359150">
                    <a:moveTo>
                      <a:pt x="1241488" y="2370010"/>
                    </a:moveTo>
                    <a:lnTo>
                      <a:pt x="1176147" y="2370010"/>
                    </a:lnTo>
                    <a:lnTo>
                      <a:pt x="1176147" y="2435352"/>
                    </a:lnTo>
                    <a:lnTo>
                      <a:pt x="1241488" y="2435352"/>
                    </a:lnTo>
                    <a:lnTo>
                      <a:pt x="1241488" y="2370010"/>
                    </a:lnTo>
                    <a:close/>
                  </a:path>
                  <a:path w="2418079" h="3359150">
                    <a:moveTo>
                      <a:pt x="1241488" y="2183409"/>
                    </a:moveTo>
                    <a:lnTo>
                      <a:pt x="1176147" y="2183409"/>
                    </a:lnTo>
                    <a:lnTo>
                      <a:pt x="1176147" y="2248751"/>
                    </a:lnTo>
                    <a:lnTo>
                      <a:pt x="1241488" y="2248751"/>
                    </a:lnTo>
                    <a:lnTo>
                      <a:pt x="1241488" y="2183409"/>
                    </a:lnTo>
                    <a:close/>
                  </a:path>
                  <a:path w="2418079" h="3359150">
                    <a:moveTo>
                      <a:pt x="1530858" y="2108733"/>
                    </a:moveTo>
                    <a:lnTo>
                      <a:pt x="1465516" y="2108733"/>
                    </a:lnTo>
                    <a:lnTo>
                      <a:pt x="1465516" y="2174075"/>
                    </a:lnTo>
                    <a:lnTo>
                      <a:pt x="1530858" y="2174075"/>
                    </a:lnTo>
                    <a:lnTo>
                      <a:pt x="1530858" y="2108733"/>
                    </a:lnTo>
                    <a:close/>
                  </a:path>
                  <a:path w="2418079" h="3359150">
                    <a:moveTo>
                      <a:pt x="1530858" y="1959483"/>
                    </a:moveTo>
                    <a:lnTo>
                      <a:pt x="1465516" y="1959483"/>
                    </a:lnTo>
                    <a:lnTo>
                      <a:pt x="1465516" y="2024824"/>
                    </a:lnTo>
                    <a:lnTo>
                      <a:pt x="1530858" y="2024824"/>
                    </a:lnTo>
                    <a:lnTo>
                      <a:pt x="1530858" y="1959483"/>
                    </a:lnTo>
                    <a:close/>
                  </a:path>
                  <a:path w="2418079" h="3359150">
                    <a:moveTo>
                      <a:pt x="1530858" y="1884807"/>
                    </a:moveTo>
                    <a:lnTo>
                      <a:pt x="1465516" y="1884807"/>
                    </a:lnTo>
                    <a:lnTo>
                      <a:pt x="1465516" y="1950148"/>
                    </a:lnTo>
                    <a:lnTo>
                      <a:pt x="1530858" y="1950148"/>
                    </a:lnTo>
                    <a:lnTo>
                      <a:pt x="1530858" y="1884807"/>
                    </a:lnTo>
                    <a:close/>
                  </a:path>
                  <a:path w="2418079" h="3359150">
                    <a:moveTo>
                      <a:pt x="1829562" y="1660867"/>
                    </a:moveTo>
                    <a:lnTo>
                      <a:pt x="1764220" y="1660867"/>
                    </a:lnTo>
                    <a:lnTo>
                      <a:pt x="1764220" y="1726209"/>
                    </a:lnTo>
                    <a:lnTo>
                      <a:pt x="1829562" y="1726209"/>
                    </a:lnTo>
                    <a:lnTo>
                      <a:pt x="1829562" y="1660867"/>
                    </a:lnTo>
                    <a:close/>
                  </a:path>
                  <a:path w="2418079" h="3359150">
                    <a:moveTo>
                      <a:pt x="1829562" y="1464945"/>
                    </a:moveTo>
                    <a:lnTo>
                      <a:pt x="1764220" y="1464945"/>
                    </a:lnTo>
                    <a:lnTo>
                      <a:pt x="1764220" y="1530286"/>
                    </a:lnTo>
                    <a:lnTo>
                      <a:pt x="1829562" y="1530286"/>
                    </a:lnTo>
                    <a:lnTo>
                      <a:pt x="1829562" y="1464945"/>
                    </a:lnTo>
                    <a:close/>
                  </a:path>
                  <a:path w="2418079" h="3359150">
                    <a:moveTo>
                      <a:pt x="1829562" y="1241005"/>
                    </a:moveTo>
                    <a:lnTo>
                      <a:pt x="1764220" y="1241005"/>
                    </a:lnTo>
                    <a:lnTo>
                      <a:pt x="1764220" y="1306347"/>
                    </a:lnTo>
                    <a:lnTo>
                      <a:pt x="1829562" y="1306347"/>
                    </a:lnTo>
                    <a:lnTo>
                      <a:pt x="1829562" y="1241005"/>
                    </a:lnTo>
                    <a:close/>
                  </a:path>
                  <a:path w="2418079" h="3359150">
                    <a:moveTo>
                      <a:pt x="2118842" y="1054417"/>
                    </a:moveTo>
                    <a:lnTo>
                      <a:pt x="2053501" y="1054417"/>
                    </a:lnTo>
                    <a:lnTo>
                      <a:pt x="2053501" y="1119657"/>
                    </a:lnTo>
                    <a:lnTo>
                      <a:pt x="2118842" y="1119657"/>
                    </a:lnTo>
                    <a:lnTo>
                      <a:pt x="2118842" y="1054417"/>
                    </a:lnTo>
                    <a:close/>
                  </a:path>
                  <a:path w="2418079" h="3359150">
                    <a:moveTo>
                      <a:pt x="2118842" y="905065"/>
                    </a:moveTo>
                    <a:lnTo>
                      <a:pt x="2053501" y="905065"/>
                    </a:lnTo>
                    <a:lnTo>
                      <a:pt x="2053501" y="970407"/>
                    </a:lnTo>
                    <a:lnTo>
                      <a:pt x="2118842" y="970407"/>
                    </a:lnTo>
                    <a:lnTo>
                      <a:pt x="2118842" y="905065"/>
                    </a:lnTo>
                    <a:close/>
                  </a:path>
                  <a:path w="2418079" h="3359150">
                    <a:moveTo>
                      <a:pt x="2118842" y="681126"/>
                    </a:moveTo>
                    <a:lnTo>
                      <a:pt x="2053501" y="681126"/>
                    </a:lnTo>
                    <a:lnTo>
                      <a:pt x="2053501" y="746467"/>
                    </a:lnTo>
                    <a:lnTo>
                      <a:pt x="2118842" y="746467"/>
                    </a:lnTo>
                    <a:lnTo>
                      <a:pt x="2118842" y="681126"/>
                    </a:lnTo>
                    <a:close/>
                  </a:path>
                  <a:path w="2418079" h="3359150">
                    <a:moveTo>
                      <a:pt x="2417546" y="494538"/>
                    </a:moveTo>
                    <a:lnTo>
                      <a:pt x="2352205" y="494538"/>
                    </a:lnTo>
                    <a:lnTo>
                      <a:pt x="2352205" y="559777"/>
                    </a:lnTo>
                    <a:lnTo>
                      <a:pt x="2417546" y="559777"/>
                    </a:lnTo>
                    <a:lnTo>
                      <a:pt x="2417546" y="494538"/>
                    </a:lnTo>
                    <a:close/>
                  </a:path>
                  <a:path w="2418079" h="3359150">
                    <a:moveTo>
                      <a:pt x="2417546" y="261264"/>
                    </a:moveTo>
                    <a:lnTo>
                      <a:pt x="2352205" y="261264"/>
                    </a:lnTo>
                    <a:lnTo>
                      <a:pt x="2352205" y="326517"/>
                    </a:lnTo>
                    <a:lnTo>
                      <a:pt x="2417546" y="326517"/>
                    </a:lnTo>
                    <a:lnTo>
                      <a:pt x="2417546" y="261264"/>
                    </a:lnTo>
                    <a:close/>
                  </a:path>
                  <a:path w="2418079" h="3359150">
                    <a:moveTo>
                      <a:pt x="2417546" y="0"/>
                    </a:moveTo>
                    <a:lnTo>
                      <a:pt x="2352205" y="0"/>
                    </a:lnTo>
                    <a:lnTo>
                      <a:pt x="2352205" y="65239"/>
                    </a:lnTo>
                    <a:lnTo>
                      <a:pt x="2417546" y="65239"/>
                    </a:lnTo>
                    <a:lnTo>
                      <a:pt x="2417546" y="0"/>
                    </a:lnTo>
                    <a:close/>
                  </a:path>
                </a:pathLst>
              </a:custGeom>
              <a:solidFill>
                <a:srgbClr val="333399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7" name="object 11">
                <a:extLst>
                  <a:ext uri="{FF2B5EF4-FFF2-40B4-BE49-F238E27FC236}">
                    <a16:creationId xmlns:a16="http://schemas.microsoft.com/office/drawing/2014/main" id="{AEACC242-3189-47A6-B867-6C143E5807B4}"/>
                  </a:ext>
                </a:extLst>
              </p:cNvPr>
              <p:cNvSpPr/>
              <p:nvPr/>
            </p:nvSpPr>
            <p:spPr>
              <a:xfrm>
                <a:off x="6527381" y="5376862"/>
                <a:ext cx="336550" cy="140335"/>
              </a:xfrm>
              <a:custGeom>
                <a:avLst/>
                <a:gdLst/>
                <a:ahLst/>
                <a:cxnLst/>
                <a:rect l="l" t="t" r="r" b="b"/>
                <a:pathLst>
                  <a:path w="336550" h="140335">
                    <a:moveTo>
                      <a:pt x="28003" y="130683"/>
                    </a:moveTo>
                    <a:lnTo>
                      <a:pt x="18669" y="121348"/>
                    </a:lnTo>
                    <a:lnTo>
                      <a:pt x="0" y="130683"/>
                    </a:lnTo>
                    <a:lnTo>
                      <a:pt x="9334" y="140030"/>
                    </a:lnTo>
                    <a:lnTo>
                      <a:pt x="28003" y="130683"/>
                    </a:lnTo>
                    <a:close/>
                  </a:path>
                  <a:path w="336550" h="140335">
                    <a:moveTo>
                      <a:pt x="84010" y="112014"/>
                    </a:moveTo>
                    <a:lnTo>
                      <a:pt x="65341" y="112014"/>
                    </a:lnTo>
                    <a:lnTo>
                      <a:pt x="65341" y="121348"/>
                    </a:lnTo>
                    <a:lnTo>
                      <a:pt x="84010" y="121348"/>
                    </a:lnTo>
                    <a:lnTo>
                      <a:pt x="84010" y="112014"/>
                    </a:lnTo>
                    <a:close/>
                  </a:path>
                  <a:path w="336550" h="140335">
                    <a:moveTo>
                      <a:pt x="158686" y="93345"/>
                    </a:moveTo>
                    <a:lnTo>
                      <a:pt x="149352" y="84023"/>
                    </a:lnTo>
                    <a:lnTo>
                      <a:pt x="130683" y="93345"/>
                    </a:lnTo>
                    <a:lnTo>
                      <a:pt x="112014" y="102679"/>
                    </a:lnTo>
                    <a:lnTo>
                      <a:pt x="121348" y="112014"/>
                    </a:lnTo>
                    <a:lnTo>
                      <a:pt x="140017" y="102679"/>
                    </a:lnTo>
                    <a:lnTo>
                      <a:pt x="158686" y="93345"/>
                    </a:lnTo>
                    <a:close/>
                  </a:path>
                  <a:path w="336550" h="140335">
                    <a:moveTo>
                      <a:pt x="214693" y="65341"/>
                    </a:moveTo>
                    <a:lnTo>
                      <a:pt x="205359" y="56007"/>
                    </a:lnTo>
                    <a:lnTo>
                      <a:pt x="186690" y="65341"/>
                    </a:lnTo>
                    <a:lnTo>
                      <a:pt x="189801" y="68453"/>
                    </a:lnTo>
                    <a:lnTo>
                      <a:pt x="177355" y="74676"/>
                    </a:lnTo>
                    <a:lnTo>
                      <a:pt x="186690" y="84023"/>
                    </a:lnTo>
                    <a:lnTo>
                      <a:pt x="205359" y="74676"/>
                    </a:lnTo>
                    <a:lnTo>
                      <a:pt x="202247" y="71564"/>
                    </a:lnTo>
                    <a:lnTo>
                      <a:pt x="214693" y="65341"/>
                    </a:lnTo>
                    <a:close/>
                  </a:path>
                  <a:path w="336550" h="140335">
                    <a:moveTo>
                      <a:pt x="280035" y="37338"/>
                    </a:moveTo>
                    <a:lnTo>
                      <a:pt x="270700" y="28016"/>
                    </a:lnTo>
                    <a:lnTo>
                      <a:pt x="252031" y="37338"/>
                    </a:lnTo>
                    <a:lnTo>
                      <a:pt x="255143" y="40449"/>
                    </a:lnTo>
                    <a:lnTo>
                      <a:pt x="242697" y="46672"/>
                    </a:lnTo>
                    <a:lnTo>
                      <a:pt x="252031" y="56007"/>
                    </a:lnTo>
                    <a:lnTo>
                      <a:pt x="270700" y="46672"/>
                    </a:lnTo>
                    <a:lnTo>
                      <a:pt x="267589" y="43561"/>
                    </a:lnTo>
                    <a:lnTo>
                      <a:pt x="280035" y="37338"/>
                    </a:lnTo>
                    <a:close/>
                  </a:path>
                  <a:path w="336550" h="140335">
                    <a:moveTo>
                      <a:pt x="336042" y="9334"/>
                    </a:moveTo>
                    <a:lnTo>
                      <a:pt x="326707" y="0"/>
                    </a:lnTo>
                    <a:lnTo>
                      <a:pt x="308038" y="9334"/>
                    </a:lnTo>
                    <a:lnTo>
                      <a:pt x="311150" y="12446"/>
                    </a:lnTo>
                    <a:lnTo>
                      <a:pt x="298704" y="18669"/>
                    </a:lnTo>
                    <a:lnTo>
                      <a:pt x="308038" y="28016"/>
                    </a:lnTo>
                    <a:lnTo>
                      <a:pt x="326707" y="18669"/>
                    </a:lnTo>
                    <a:lnTo>
                      <a:pt x="323596" y="15557"/>
                    </a:lnTo>
                    <a:lnTo>
                      <a:pt x="336042" y="9334"/>
                    </a:lnTo>
                    <a:close/>
                  </a:path>
                </a:pathLst>
              </a:custGeom>
              <a:solidFill>
                <a:srgbClr val="95959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8" name="object 12">
                <a:extLst>
                  <a:ext uri="{FF2B5EF4-FFF2-40B4-BE49-F238E27FC236}">
                    <a16:creationId xmlns:a16="http://schemas.microsoft.com/office/drawing/2014/main" id="{12F435FE-6E49-40F0-94F1-5A475C4B4494}"/>
                  </a:ext>
                </a:extLst>
              </p:cNvPr>
              <p:cNvSpPr/>
              <p:nvPr/>
            </p:nvSpPr>
            <p:spPr>
              <a:xfrm>
                <a:off x="6891432" y="5302186"/>
                <a:ext cx="102679" cy="65341"/>
              </a:xfrm>
              <a:prstGeom prst="rect">
                <a:avLst/>
              </a:prstGeom>
              <a:blipFill>
                <a:blip r:embed="rId2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9" name="object 13">
                <a:extLst>
                  <a:ext uri="{FF2B5EF4-FFF2-40B4-BE49-F238E27FC236}">
                    <a16:creationId xmlns:a16="http://schemas.microsoft.com/office/drawing/2014/main" id="{BD23826A-2161-4BF9-B2A6-FD363DFB2418}"/>
                  </a:ext>
                </a:extLst>
              </p:cNvPr>
              <p:cNvSpPr/>
              <p:nvPr/>
            </p:nvSpPr>
            <p:spPr>
              <a:xfrm>
                <a:off x="7022109" y="3156114"/>
                <a:ext cx="1568450" cy="2136775"/>
              </a:xfrm>
              <a:custGeom>
                <a:avLst/>
                <a:gdLst/>
                <a:ahLst/>
                <a:cxnLst/>
                <a:rect l="l" t="t" r="r" b="b"/>
                <a:pathLst>
                  <a:path w="1568450" h="2136775">
                    <a:moveTo>
                      <a:pt x="18669" y="2118068"/>
                    </a:moveTo>
                    <a:lnTo>
                      <a:pt x="9334" y="2108835"/>
                    </a:lnTo>
                    <a:lnTo>
                      <a:pt x="0" y="2127415"/>
                    </a:lnTo>
                    <a:lnTo>
                      <a:pt x="9334" y="2136737"/>
                    </a:lnTo>
                    <a:lnTo>
                      <a:pt x="18669" y="2118068"/>
                    </a:lnTo>
                    <a:close/>
                  </a:path>
                  <a:path w="1568450" h="2136775">
                    <a:moveTo>
                      <a:pt x="46672" y="2099500"/>
                    </a:moveTo>
                    <a:lnTo>
                      <a:pt x="37338" y="2090166"/>
                    </a:lnTo>
                    <a:lnTo>
                      <a:pt x="18669" y="2099500"/>
                    </a:lnTo>
                    <a:lnTo>
                      <a:pt x="24892" y="2105723"/>
                    </a:lnTo>
                    <a:lnTo>
                      <a:pt x="18669" y="2108835"/>
                    </a:lnTo>
                    <a:lnTo>
                      <a:pt x="28003" y="2118068"/>
                    </a:lnTo>
                    <a:lnTo>
                      <a:pt x="46672" y="2108835"/>
                    </a:lnTo>
                    <a:lnTo>
                      <a:pt x="40449" y="2102612"/>
                    </a:lnTo>
                    <a:lnTo>
                      <a:pt x="46672" y="2099500"/>
                    </a:lnTo>
                    <a:close/>
                  </a:path>
                  <a:path w="1568450" h="2136775">
                    <a:moveTo>
                      <a:pt x="84010" y="2080831"/>
                    </a:moveTo>
                    <a:lnTo>
                      <a:pt x="74676" y="2071497"/>
                    </a:lnTo>
                    <a:lnTo>
                      <a:pt x="56007" y="2080831"/>
                    </a:lnTo>
                    <a:lnTo>
                      <a:pt x="65341" y="2090166"/>
                    </a:lnTo>
                    <a:lnTo>
                      <a:pt x="84010" y="2080831"/>
                    </a:lnTo>
                    <a:close/>
                  </a:path>
                  <a:path w="1568450" h="2136775">
                    <a:moveTo>
                      <a:pt x="121348" y="2052828"/>
                    </a:moveTo>
                    <a:lnTo>
                      <a:pt x="112014" y="2043493"/>
                    </a:lnTo>
                    <a:lnTo>
                      <a:pt x="93345" y="2052828"/>
                    </a:lnTo>
                    <a:lnTo>
                      <a:pt x="102679" y="2062162"/>
                    </a:lnTo>
                    <a:lnTo>
                      <a:pt x="121348" y="2052828"/>
                    </a:lnTo>
                    <a:close/>
                  </a:path>
                  <a:path w="1568450" h="2136775">
                    <a:moveTo>
                      <a:pt x="149352" y="2006155"/>
                    </a:moveTo>
                    <a:lnTo>
                      <a:pt x="140017" y="1996821"/>
                    </a:lnTo>
                    <a:lnTo>
                      <a:pt x="133794" y="2009267"/>
                    </a:lnTo>
                    <a:lnTo>
                      <a:pt x="121348" y="2015490"/>
                    </a:lnTo>
                    <a:lnTo>
                      <a:pt x="130683" y="2024824"/>
                    </a:lnTo>
                    <a:lnTo>
                      <a:pt x="136906" y="2021713"/>
                    </a:lnTo>
                    <a:lnTo>
                      <a:pt x="140017" y="2024824"/>
                    </a:lnTo>
                    <a:lnTo>
                      <a:pt x="143129" y="2018601"/>
                    </a:lnTo>
                    <a:lnTo>
                      <a:pt x="149352" y="2015490"/>
                    </a:lnTo>
                    <a:lnTo>
                      <a:pt x="146240" y="2012378"/>
                    </a:lnTo>
                    <a:lnTo>
                      <a:pt x="149352" y="2006155"/>
                    </a:lnTo>
                    <a:close/>
                  </a:path>
                  <a:path w="1568450" h="2136775">
                    <a:moveTo>
                      <a:pt x="186690" y="1996821"/>
                    </a:moveTo>
                    <a:lnTo>
                      <a:pt x="177355" y="1987486"/>
                    </a:lnTo>
                    <a:lnTo>
                      <a:pt x="158686" y="1996821"/>
                    </a:lnTo>
                    <a:lnTo>
                      <a:pt x="168021" y="2006155"/>
                    </a:lnTo>
                    <a:lnTo>
                      <a:pt x="186690" y="1996821"/>
                    </a:lnTo>
                    <a:close/>
                  </a:path>
                  <a:path w="1568450" h="2136775">
                    <a:moveTo>
                      <a:pt x="224028" y="1950148"/>
                    </a:moveTo>
                    <a:lnTo>
                      <a:pt x="214693" y="1940814"/>
                    </a:lnTo>
                    <a:lnTo>
                      <a:pt x="205359" y="1959483"/>
                    </a:lnTo>
                    <a:lnTo>
                      <a:pt x="214693" y="1968817"/>
                    </a:lnTo>
                    <a:lnTo>
                      <a:pt x="224028" y="1950148"/>
                    </a:lnTo>
                    <a:close/>
                  </a:path>
                  <a:path w="1568450" h="2136775">
                    <a:moveTo>
                      <a:pt x="270700" y="1922145"/>
                    </a:moveTo>
                    <a:lnTo>
                      <a:pt x="261366" y="1912810"/>
                    </a:lnTo>
                    <a:lnTo>
                      <a:pt x="252031" y="1931479"/>
                    </a:lnTo>
                    <a:lnTo>
                      <a:pt x="233362" y="1940814"/>
                    </a:lnTo>
                    <a:lnTo>
                      <a:pt x="242697" y="1950148"/>
                    </a:lnTo>
                    <a:lnTo>
                      <a:pt x="261366" y="1940814"/>
                    </a:lnTo>
                    <a:lnTo>
                      <a:pt x="270700" y="1922145"/>
                    </a:lnTo>
                    <a:close/>
                  </a:path>
                  <a:path w="1568450" h="2136775">
                    <a:moveTo>
                      <a:pt x="289369" y="1903476"/>
                    </a:moveTo>
                    <a:lnTo>
                      <a:pt x="280035" y="1894141"/>
                    </a:lnTo>
                    <a:lnTo>
                      <a:pt x="261366" y="1903476"/>
                    </a:lnTo>
                    <a:lnTo>
                      <a:pt x="270700" y="1912810"/>
                    </a:lnTo>
                    <a:lnTo>
                      <a:pt x="289369" y="1903476"/>
                    </a:lnTo>
                    <a:close/>
                  </a:path>
                  <a:path w="1568450" h="2136775">
                    <a:moveTo>
                      <a:pt x="317373" y="1875472"/>
                    </a:moveTo>
                    <a:lnTo>
                      <a:pt x="308038" y="1866138"/>
                    </a:lnTo>
                    <a:lnTo>
                      <a:pt x="298704" y="1884807"/>
                    </a:lnTo>
                    <a:lnTo>
                      <a:pt x="308038" y="1894141"/>
                    </a:lnTo>
                    <a:lnTo>
                      <a:pt x="317373" y="1875472"/>
                    </a:lnTo>
                    <a:close/>
                  </a:path>
                  <a:path w="1568450" h="2136775">
                    <a:moveTo>
                      <a:pt x="354711" y="1838223"/>
                    </a:moveTo>
                    <a:lnTo>
                      <a:pt x="345376" y="1828888"/>
                    </a:lnTo>
                    <a:lnTo>
                      <a:pt x="336042" y="1847570"/>
                    </a:lnTo>
                    <a:lnTo>
                      <a:pt x="345376" y="1856892"/>
                    </a:lnTo>
                    <a:lnTo>
                      <a:pt x="354711" y="1838223"/>
                    </a:lnTo>
                    <a:close/>
                  </a:path>
                  <a:path w="1568450" h="2136775">
                    <a:moveTo>
                      <a:pt x="382714" y="1819554"/>
                    </a:moveTo>
                    <a:lnTo>
                      <a:pt x="373380" y="1810219"/>
                    </a:lnTo>
                    <a:lnTo>
                      <a:pt x="354711" y="1819554"/>
                    </a:lnTo>
                    <a:lnTo>
                      <a:pt x="364045" y="1828888"/>
                    </a:lnTo>
                    <a:lnTo>
                      <a:pt x="382714" y="1819554"/>
                    </a:lnTo>
                    <a:close/>
                  </a:path>
                  <a:path w="1568450" h="2136775">
                    <a:moveTo>
                      <a:pt x="420052" y="1772881"/>
                    </a:moveTo>
                    <a:lnTo>
                      <a:pt x="410718" y="1763547"/>
                    </a:lnTo>
                    <a:lnTo>
                      <a:pt x="407606" y="1769770"/>
                    </a:lnTo>
                    <a:lnTo>
                      <a:pt x="401383" y="1763547"/>
                    </a:lnTo>
                    <a:lnTo>
                      <a:pt x="392049" y="1782216"/>
                    </a:lnTo>
                    <a:lnTo>
                      <a:pt x="401383" y="1791563"/>
                    </a:lnTo>
                    <a:lnTo>
                      <a:pt x="404495" y="1785340"/>
                    </a:lnTo>
                    <a:lnTo>
                      <a:pt x="410718" y="1791563"/>
                    </a:lnTo>
                    <a:lnTo>
                      <a:pt x="420052" y="1772881"/>
                    </a:lnTo>
                    <a:close/>
                  </a:path>
                  <a:path w="1568450" h="2136775">
                    <a:moveTo>
                      <a:pt x="457390" y="1735543"/>
                    </a:moveTo>
                    <a:lnTo>
                      <a:pt x="448056" y="1726222"/>
                    </a:lnTo>
                    <a:lnTo>
                      <a:pt x="438721" y="1744878"/>
                    </a:lnTo>
                    <a:lnTo>
                      <a:pt x="448056" y="1754212"/>
                    </a:lnTo>
                    <a:lnTo>
                      <a:pt x="457390" y="1735543"/>
                    </a:lnTo>
                    <a:close/>
                  </a:path>
                  <a:path w="1568450" h="2136775">
                    <a:moveTo>
                      <a:pt x="485394" y="1698205"/>
                    </a:moveTo>
                    <a:lnTo>
                      <a:pt x="476059" y="1688871"/>
                    </a:lnTo>
                    <a:lnTo>
                      <a:pt x="466725" y="1707540"/>
                    </a:lnTo>
                    <a:lnTo>
                      <a:pt x="476059" y="1716874"/>
                    </a:lnTo>
                    <a:lnTo>
                      <a:pt x="485394" y="1698205"/>
                    </a:lnTo>
                    <a:close/>
                  </a:path>
                  <a:path w="1568450" h="2136775">
                    <a:moveTo>
                      <a:pt x="522732" y="1660867"/>
                    </a:moveTo>
                    <a:lnTo>
                      <a:pt x="513397" y="1651533"/>
                    </a:lnTo>
                    <a:lnTo>
                      <a:pt x="510286" y="1657756"/>
                    </a:lnTo>
                    <a:lnTo>
                      <a:pt x="504063" y="1651533"/>
                    </a:lnTo>
                    <a:lnTo>
                      <a:pt x="494728" y="1670202"/>
                    </a:lnTo>
                    <a:lnTo>
                      <a:pt x="504063" y="1679536"/>
                    </a:lnTo>
                    <a:lnTo>
                      <a:pt x="507174" y="1673313"/>
                    </a:lnTo>
                    <a:lnTo>
                      <a:pt x="513397" y="1679536"/>
                    </a:lnTo>
                    <a:lnTo>
                      <a:pt x="522732" y="1660867"/>
                    </a:lnTo>
                    <a:close/>
                  </a:path>
                  <a:path w="1568450" h="2136775">
                    <a:moveTo>
                      <a:pt x="560070" y="1623529"/>
                    </a:moveTo>
                    <a:lnTo>
                      <a:pt x="550735" y="1614195"/>
                    </a:lnTo>
                    <a:lnTo>
                      <a:pt x="541401" y="1632864"/>
                    </a:lnTo>
                    <a:lnTo>
                      <a:pt x="550735" y="1642198"/>
                    </a:lnTo>
                    <a:lnTo>
                      <a:pt x="560070" y="1623529"/>
                    </a:lnTo>
                    <a:close/>
                  </a:path>
                  <a:path w="1568450" h="2136775">
                    <a:moveTo>
                      <a:pt x="578739" y="1595628"/>
                    </a:moveTo>
                    <a:lnTo>
                      <a:pt x="569404" y="1586293"/>
                    </a:lnTo>
                    <a:lnTo>
                      <a:pt x="560070" y="1604962"/>
                    </a:lnTo>
                    <a:lnTo>
                      <a:pt x="569404" y="1614195"/>
                    </a:lnTo>
                    <a:lnTo>
                      <a:pt x="578739" y="1595628"/>
                    </a:lnTo>
                    <a:close/>
                  </a:path>
                  <a:path w="1568450" h="2136775">
                    <a:moveTo>
                      <a:pt x="616077" y="1558290"/>
                    </a:moveTo>
                    <a:lnTo>
                      <a:pt x="606742" y="1548955"/>
                    </a:lnTo>
                    <a:lnTo>
                      <a:pt x="597408" y="1567624"/>
                    </a:lnTo>
                    <a:lnTo>
                      <a:pt x="606742" y="1576959"/>
                    </a:lnTo>
                    <a:lnTo>
                      <a:pt x="616077" y="1558290"/>
                    </a:lnTo>
                    <a:close/>
                  </a:path>
                  <a:path w="1568450" h="2136775">
                    <a:moveTo>
                      <a:pt x="634746" y="1520952"/>
                    </a:moveTo>
                    <a:lnTo>
                      <a:pt x="625411" y="1520952"/>
                    </a:lnTo>
                    <a:lnTo>
                      <a:pt x="625411" y="1539621"/>
                    </a:lnTo>
                    <a:lnTo>
                      <a:pt x="634746" y="1539621"/>
                    </a:lnTo>
                    <a:lnTo>
                      <a:pt x="634746" y="1520952"/>
                    </a:lnTo>
                    <a:close/>
                  </a:path>
                  <a:path w="1568450" h="2136775">
                    <a:moveTo>
                      <a:pt x="662749" y="1483614"/>
                    </a:moveTo>
                    <a:lnTo>
                      <a:pt x="653415" y="1474279"/>
                    </a:lnTo>
                    <a:lnTo>
                      <a:pt x="644080" y="1492948"/>
                    </a:lnTo>
                    <a:lnTo>
                      <a:pt x="653415" y="1502283"/>
                    </a:lnTo>
                    <a:lnTo>
                      <a:pt x="662749" y="1483614"/>
                    </a:lnTo>
                    <a:close/>
                  </a:path>
                  <a:path w="1568450" h="2136775">
                    <a:moveTo>
                      <a:pt x="700087" y="1446276"/>
                    </a:moveTo>
                    <a:lnTo>
                      <a:pt x="690753" y="1436941"/>
                    </a:lnTo>
                    <a:lnTo>
                      <a:pt x="681418" y="1455610"/>
                    </a:lnTo>
                    <a:lnTo>
                      <a:pt x="690753" y="1464945"/>
                    </a:lnTo>
                    <a:lnTo>
                      <a:pt x="700087" y="1446276"/>
                    </a:lnTo>
                    <a:close/>
                  </a:path>
                  <a:path w="1568450" h="2136775">
                    <a:moveTo>
                      <a:pt x="737425" y="1408938"/>
                    </a:moveTo>
                    <a:lnTo>
                      <a:pt x="728091" y="1399603"/>
                    </a:lnTo>
                    <a:lnTo>
                      <a:pt x="724979" y="1405826"/>
                    </a:lnTo>
                    <a:lnTo>
                      <a:pt x="718756" y="1399603"/>
                    </a:lnTo>
                    <a:lnTo>
                      <a:pt x="709422" y="1418272"/>
                    </a:lnTo>
                    <a:lnTo>
                      <a:pt x="718756" y="1427607"/>
                    </a:lnTo>
                    <a:lnTo>
                      <a:pt x="721868" y="1421384"/>
                    </a:lnTo>
                    <a:lnTo>
                      <a:pt x="728091" y="1427607"/>
                    </a:lnTo>
                    <a:lnTo>
                      <a:pt x="737425" y="1408938"/>
                    </a:lnTo>
                    <a:close/>
                  </a:path>
                  <a:path w="1568450" h="2136775">
                    <a:moveTo>
                      <a:pt x="765429" y="1371600"/>
                    </a:moveTo>
                    <a:lnTo>
                      <a:pt x="756094" y="1362265"/>
                    </a:lnTo>
                    <a:lnTo>
                      <a:pt x="746760" y="1380934"/>
                    </a:lnTo>
                    <a:lnTo>
                      <a:pt x="756094" y="1390269"/>
                    </a:lnTo>
                    <a:lnTo>
                      <a:pt x="765429" y="1371600"/>
                    </a:lnTo>
                    <a:close/>
                  </a:path>
                  <a:path w="1568450" h="2136775">
                    <a:moveTo>
                      <a:pt x="784098" y="1334350"/>
                    </a:moveTo>
                    <a:lnTo>
                      <a:pt x="774763" y="1325016"/>
                    </a:lnTo>
                    <a:lnTo>
                      <a:pt x="765429" y="1343685"/>
                    </a:lnTo>
                    <a:lnTo>
                      <a:pt x="774763" y="1353019"/>
                    </a:lnTo>
                    <a:lnTo>
                      <a:pt x="784098" y="1334350"/>
                    </a:lnTo>
                    <a:close/>
                  </a:path>
                  <a:path w="1568450" h="2136775">
                    <a:moveTo>
                      <a:pt x="812101" y="1297012"/>
                    </a:moveTo>
                    <a:lnTo>
                      <a:pt x="802767" y="1287678"/>
                    </a:lnTo>
                    <a:lnTo>
                      <a:pt x="793432" y="1306347"/>
                    </a:lnTo>
                    <a:lnTo>
                      <a:pt x="802767" y="1315681"/>
                    </a:lnTo>
                    <a:lnTo>
                      <a:pt x="812101" y="1297012"/>
                    </a:lnTo>
                    <a:close/>
                  </a:path>
                  <a:path w="1568450" h="2136775">
                    <a:moveTo>
                      <a:pt x="840105" y="1259674"/>
                    </a:moveTo>
                    <a:lnTo>
                      <a:pt x="830770" y="1250340"/>
                    </a:lnTo>
                    <a:lnTo>
                      <a:pt x="821436" y="1269009"/>
                    </a:lnTo>
                    <a:lnTo>
                      <a:pt x="830770" y="1278343"/>
                    </a:lnTo>
                    <a:lnTo>
                      <a:pt x="840105" y="1259674"/>
                    </a:lnTo>
                    <a:close/>
                  </a:path>
                  <a:path w="1568450" h="2136775">
                    <a:moveTo>
                      <a:pt x="877443" y="1222336"/>
                    </a:moveTo>
                    <a:lnTo>
                      <a:pt x="868108" y="1213002"/>
                    </a:lnTo>
                    <a:lnTo>
                      <a:pt x="858774" y="1231671"/>
                    </a:lnTo>
                    <a:lnTo>
                      <a:pt x="868108" y="1241005"/>
                    </a:lnTo>
                    <a:lnTo>
                      <a:pt x="877443" y="1222336"/>
                    </a:lnTo>
                    <a:close/>
                  </a:path>
                  <a:path w="1568450" h="2136775">
                    <a:moveTo>
                      <a:pt x="896112" y="1184998"/>
                    </a:moveTo>
                    <a:lnTo>
                      <a:pt x="886777" y="1175664"/>
                    </a:lnTo>
                    <a:lnTo>
                      <a:pt x="877443" y="1194333"/>
                    </a:lnTo>
                    <a:lnTo>
                      <a:pt x="886777" y="1203667"/>
                    </a:lnTo>
                    <a:lnTo>
                      <a:pt x="896112" y="1184998"/>
                    </a:lnTo>
                    <a:close/>
                  </a:path>
                  <a:path w="1568450" h="2136775">
                    <a:moveTo>
                      <a:pt x="914781" y="1147660"/>
                    </a:moveTo>
                    <a:lnTo>
                      <a:pt x="905446" y="1138326"/>
                    </a:lnTo>
                    <a:lnTo>
                      <a:pt x="896112" y="1156995"/>
                    </a:lnTo>
                    <a:lnTo>
                      <a:pt x="905446" y="1166329"/>
                    </a:lnTo>
                    <a:lnTo>
                      <a:pt x="914781" y="1147660"/>
                    </a:lnTo>
                    <a:close/>
                  </a:path>
                  <a:path w="1568450" h="2136775">
                    <a:moveTo>
                      <a:pt x="942784" y="1110322"/>
                    </a:moveTo>
                    <a:lnTo>
                      <a:pt x="933450" y="1101090"/>
                    </a:lnTo>
                    <a:lnTo>
                      <a:pt x="924115" y="1119657"/>
                    </a:lnTo>
                    <a:lnTo>
                      <a:pt x="933450" y="1128991"/>
                    </a:lnTo>
                    <a:lnTo>
                      <a:pt x="942784" y="1110322"/>
                    </a:lnTo>
                    <a:close/>
                  </a:path>
                  <a:path w="1568450" h="2136775">
                    <a:moveTo>
                      <a:pt x="970788" y="1073086"/>
                    </a:moveTo>
                    <a:lnTo>
                      <a:pt x="961453" y="1063752"/>
                    </a:lnTo>
                    <a:lnTo>
                      <a:pt x="952119" y="1082421"/>
                    </a:lnTo>
                    <a:lnTo>
                      <a:pt x="961453" y="1091755"/>
                    </a:lnTo>
                    <a:lnTo>
                      <a:pt x="970788" y="1073086"/>
                    </a:lnTo>
                    <a:close/>
                  </a:path>
                  <a:path w="1568450" h="2136775">
                    <a:moveTo>
                      <a:pt x="998791" y="1035748"/>
                    </a:moveTo>
                    <a:lnTo>
                      <a:pt x="989457" y="1026414"/>
                    </a:lnTo>
                    <a:lnTo>
                      <a:pt x="980122" y="1045083"/>
                    </a:lnTo>
                    <a:lnTo>
                      <a:pt x="989457" y="1054417"/>
                    </a:lnTo>
                    <a:lnTo>
                      <a:pt x="998791" y="1035748"/>
                    </a:lnTo>
                    <a:close/>
                  </a:path>
                  <a:path w="1568450" h="2136775">
                    <a:moveTo>
                      <a:pt x="1017460" y="998410"/>
                    </a:moveTo>
                    <a:lnTo>
                      <a:pt x="1008126" y="989076"/>
                    </a:lnTo>
                    <a:lnTo>
                      <a:pt x="998791" y="1007745"/>
                    </a:lnTo>
                    <a:lnTo>
                      <a:pt x="1008126" y="1017079"/>
                    </a:lnTo>
                    <a:lnTo>
                      <a:pt x="1017460" y="998410"/>
                    </a:lnTo>
                    <a:close/>
                  </a:path>
                  <a:path w="1568450" h="2136775">
                    <a:moveTo>
                      <a:pt x="1045464" y="961072"/>
                    </a:moveTo>
                    <a:lnTo>
                      <a:pt x="1036129" y="956411"/>
                    </a:lnTo>
                    <a:lnTo>
                      <a:pt x="1036129" y="951738"/>
                    </a:lnTo>
                    <a:lnTo>
                      <a:pt x="1026795" y="951738"/>
                    </a:lnTo>
                    <a:lnTo>
                      <a:pt x="1017460" y="961072"/>
                    </a:lnTo>
                    <a:lnTo>
                      <a:pt x="1036129" y="970407"/>
                    </a:lnTo>
                    <a:lnTo>
                      <a:pt x="1045464" y="961072"/>
                    </a:lnTo>
                    <a:close/>
                  </a:path>
                  <a:path w="1568450" h="2136775">
                    <a:moveTo>
                      <a:pt x="1062710" y="912964"/>
                    </a:moveTo>
                    <a:lnTo>
                      <a:pt x="1053566" y="912964"/>
                    </a:lnTo>
                    <a:lnTo>
                      <a:pt x="1053566" y="932776"/>
                    </a:lnTo>
                    <a:lnTo>
                      <a:pt x="1062710" y="932776"/>
                    </a:lnTo>
                    <a:lnTo>
                      <a:pt x="1062710" y="912964"/>
                    </a:lnTo>
                    <a:close/>
                  </a:path>
                  <a:path w="1568450" h="2136775">
                    <a:moveTo>
                      <a:pt x="1101471" y="867727"/>
                    </a:moveTo>
                    <a:lnTo>
                      <a:pt x="1092136" y="858393"/>
                    </a:lnTo>
                    <a:lnTo>
                      <a:pt x="1089025" y="864616"/>
                    </a:lnTo>
                    <a:lnTo>
                      <a:pt x="1082802" y="858393"/>
                    </a:lnTo>
                    <a:lnTo>
                      <a:pt x="1073467" y="877062"/>
                    </a:lnTo>
                    <a:lnTo>
                      <a:pt x="1082802" y="886396"/>
                    </a:lnTo>
                    <a:lnTo>
                      <a:pt x="1085913" y="880173"/>
                    </a:lnTo>
                    <a:lnTo>
                      <a:pt x="1092136" y="886396"/>
                    </a:lnTo>
                    <a:lnTo>
                      <a:pt x="1101471" y="867727"/>
                    </a:lnTo>
                    <a:close/>
                  </a:path>
                  <a:path w="1568450" h="2136775">
                    <a:moveTo>
                      <a:pt x="1129474" y="830478"/>
                    </a:moveTo>
                    <a:lnTo>
                      <a:pt x="1120140" y="821143"/>
                    </a:lnTo>
                    <a:lnTo>
                      <a:pt x="1110805" y="839812"/>
                    </a:lnTo>
                    <a:lnTo>
                      <a:pt x="1120140" y="849147"/>
                    </a:lnTo>
                    <a:lnTo>
                      <a:pt x="1129474" y="830478"/>
                    </a:lnTo>
                    <a:close/>
                  </a:path>
                  <a:path w="1568450" h="2136775">
                    <a:moveTo>
                      <a:pt x="1137386" y="783424"/>
                    </a:moveTo>
                    <a:lnTo>
                      <a:pt x="1128242" y="783424"/>
                    </a:lnTo>
                    <a:lnTo>
                      <a:pt x="1128242" y="801712"/>
                    </a:lnTo>
                    <a:lnTo>
                      <a:pt x="1137386" y="801712"/>
                    </a:lnTo>
                    <a:lnTo>
                      <a:pt x="1137386" y="783424"/>
                    </a:lnTo>
                    <a:close/>
                  </a:path>
                  <a:path w="1568450" h="2136775">
                    <a:moveTo>
                      <a:pt x="1176147" y="737133"/>
                    </a:moveTo>
                    <a:lnTo>
                      <a:pt x="1166812" y="727798"/>
                    </a:lnTo>
                    <a:lnTo>
                      <a:pt x="1163701" y="734021"/>
                    </a:lnTo>
                    <a:lnTo>
                      <a:pt x="1157478" y="727798"/>
                    </a:lnTo>
                    <a:lnTo>
                      <a:pt x="1148143" y="746467"/>
                    </a:lnTo>
                    <a:lnTo>
                      <a:pt x="1157478" y="755802"/>
                    </a:lnTo>
                    <a:lnTo>
                      <a:pt x="1160589" y="749579"/>
                    </a:lnTo>
                    <a:lnTo>
                      <a:pt x="1166812" y="755802"/>
                    </a:lnTo>
                    <a:lnTo>
                      <a:pt x="1176147" y="737133"/>
                    </a:lnTo>
                    <a:close/>
                  </a:path>
                  <a:path w="1568450" h="2136775">
                    <a:moveTo>
                      <a:pt x="1204150" y="699795"/>
                    </a:moveTo>
                    <a:lnTo>
                      <a:pt x="1194816" y="690460"/>
                    </a:lnTo>
                    <a:lnTo>
                      <a:pt x="1185481" y="709129"/>
                    </a:lnTo>
                    <a:lnTo>
                      <a:pt x="1194816" y="718464"/>
                    </a:lnTo>
                    <a:lnTo>
                      <a:pt x="1204150" y="699795"/>
                    </a:lnTo>
                    <a:close/>
                  </a:path>
                  <a:path w="1568450" h="2136775">
                    <a:moveTo>
                      <a:pt x="1222730" y="652360"/>
                    </a:moveTo>
                    <a:lnTo>
                      <a:pt x="1212062" y="652360"/>
                    </a:lnTo>
                    <a:lnTo>
                      <a:pt x="1212062" y="670648"/>
                    </a:lnTo>
                    <a:lnTo>
                      <a:pt x="1222730" y="670648"/>
                    </a:lnTo>
                    <a:lnTo>
                      <a:pt x="1222730" y="652360"/>
                    </a:lnTo>
                    <a:close/>
                  </a:path>
                  <a:path w="1568450" h="2136775">
                    <a:moveTo>
                      <a:pt x="1260157" y="606450"/>
                    </a:moveTo>
                    <a:lnTo>
                      <a:pt x="1250823" y="597217"/>
                    </a:lnTo>
                    <a:lnTo>
                      <a:pt x="1247711" y="603389"/>
                    </a:lnTo>
                    <a:lnTo>
                      <a:pt x="1241488" y="597217"/>
                    </a:lnTo>
                    <a:lnTo>
                      <a:pt x="1232154" y="615784"/>
                    </a:lnTo>
                    <a:lnTo>
                      <a:pt x="1241488" y="625119"/>
                    </a:lnTo>
                    <a:lnTo>
                      <a:pt x="1244600" y="618896"/>
                    </a:lnTo>
                    <a:lnTo>
                      <a:pt x="1250823" y="625119"/>
                    </a:lnTo>
                    <a:lnTo>
                      <a:pt x="1260157" y="606450"/>
                    </a:lnTo>
                    <a:close/>
                  </a:path>
                  <a:path w="1568450" h="2136775">
                    <a:moveTo>
                      <a:pt x="1268450" y="559396"/>
                    </a:moveTo>
                    <a:lnTo>
                      <a:pt x="1259306" y="559396"/>
                    </a:lnTo>
                    <a:lnTo>
                      <a:pt x="1259306" y="577684"/>
                    </a:lnTo>
                    <a:lnTo>
                      <a:pt x="1268450" y="577684"/>
                    </a:lnTo>
                    <a:lnTo>
                      <a:pt x="1268450" y="559396"/>
                    </a:lnTo>
                    <a:close/>
                  </a:path>
                  <a:path w="1568450" h="2136775">
                    <a:moveTo>
                      <a:pt x="1306830" y="513207"/>
                    </a:moveTo>
                    <a:lnTo>
                      <a:pt x="1297495" y="503872"/>
                    </a:lnTo>
                    <a:lnTo>
                      <a:pt x="1294384" y="510095"/>
                    </a:lnTo>
                    <a:lnTo>
                      <a:pt x="1288161" y="503872"/>
                    </a:lnTo>
                    <a:lnTo>
                      <a:pt x="1278826" y="522541"/>
                    </a:lnTo>
                    <a:lnTo>
                      <a:pt x="1288161" y="531876"/>
                    </a:lnTo>
                    <a:lnTo>
                      <a:pt x="1291272" y="525653"/>
                    </a:lnTo>
                    <a:lnTo>
                      <a:pt x="1297495" y="531876"/>
                    </a:lnTo>
                    <a:lnTo>
                      <a:pt x="1306830" y="513207"/>
                    </a:lnTo>
                    <a:close/>
                  </a:path>
                  <a:path w="1568450" h="2136775">
                    <a:moveTo>
                      <a:pt x="1324838" y="466432"/>
                    </a:moveTo>
                    <a:lnTo>
                      <a:pt x="1315694" y="466432"/>
                    </a:lnTo>
                    <a:lnTo>
                      <a:pt x="1315694" y="484720"/>
                    </a:lnTo>
                    <a:lnTo>
                      <a:pt x="1324838" y="484720"/>
                    </a:lnTo>
                    <a:lnTo>
                      <a:pt x="1324838" y="466432"/>
                    </a:lnTo>
                    <a:close/>
                  </a:path>
                  <a:path w="1568450" h="2136775">
                    <a:moveTo>
                      <a:pt x="1362837" y="419862"/>
                    </a:moveTo>
                    <a:lnTo>
                      <a:pt x="1353502" y="410527"/>
                    </a:lnTo>
                    <a:lnTo>
                      <a:pt x="1350391" y="416750"/>
                    </a:lnTo>
                    <a:lnTo>
                      <a:pt x="1344168" y="410527"/>
                    </a:lnTo>
                    <a:lnTo>
                      <a:pt x="1334833" y="429196"/>
                    </a:lnTo>
                    <a:lnTo>
                      <a:pt x="1344168" y="438531"/>
                    </a:lnTo>
                    <a:lnTo>
                      <a:pt x="1347279" y="432308"/>
                    </a:lnTo>
                    <a:lnTo>
                      <a:pt x="1353502" y="438531"/>
                    </a:lnTo>
                    <a:lnTo>
                      <a:pt x="1362837" y="419862"/>
                    </a:lnTo>
                    <a:close/>
                  </a:path>
                  <a:path w="1568450" h="2136775">
                    <a:moveTo>
                      <a:pt x="1390840" y="363855"/>
                    </a:moveTo>
                    <a:lnTo>
                      <a:pt x="1381506" y="354520"/>
                    </a:lnTo>
                    <a:lnTo>
                      <a:pt x="1378394" y="360743"/>
                    </a:lnTo>
                    <a:lnTo>
                      <a:pt x="1372171" y="354520"/>
                    </a:lnTo>
                    <a:lnTo>
                      <a:pt x="1362837" y="373189"/>
                    </a:lnTo>
                    <a:lnTo>
                      <a:pt x="1372171" y="382524"/>
                    </a:lnTo>
                    <a:lnTo>
                      <a:pt x="1375283" y="376301"/>
                    </a:lnTo>
                    <a:lnTo>
                      <a:pt x="1381506" y="382524"/>
                    </a:lnTo>
                    <a:lnTo>
                      <a:pt x="1390840" y="363855"/>
                    </a:lnTo>
                    <a:close/>
                  </a:path>
                  <a:path w="1568450" h="2136775">
                    <a:moveTo>
                      <a:pt x="1399514" y="317080"/>
                    </a:moveTo>
                    <a:lnTo>
                      <a:pt x="1390370" y="317080"/>
                    </a:lnTo>
                    <a:lnTo>
                      <a:pt x="1390370" y="335368"/>
                    </a:lnTo>
                    <a:lnTo>
                      <a:pt x="1399514" y="335368"/>
                    </a:lnTo>
                    <a:lnTo>
                      <a:pt x="1399514" y="317080"/>
                    </a:lnTo>
                    <a:close/>
                  </a:path>
                  <a:path w="1568450" h="2136775">
                    <a:moveTo>
                      <a:pt x="1437424" y="270598"/>
                    </a:moveTo>
                    <a:lnTo>
                      <a:pt x="1428089" y="261264"/>
                    </a:lnTo>
                    <a:lnTo>
                      <a:pt x="1424978" y="267487"/>
                    </a:lnTo>
                    <a:lnTo>
                      <a:pt x="1418755" y="261264"/>
                    </a:lnTo>
                    <a:lnTo>
                      <a:pt x="1409509" y="279933"/>
                    </a:lnTo>
                    <a:lnTo>
                      <a:pt x="1418755" y="289267"/>
                    </a:lnTo>
                    <a:lnTo>
                      <a:pt x="1421866" y="283044"/>
                    </a:lnTo>
                    <a:lnTo>
                      <a:pt x="1428089" y="289267"/>
                    </a:lnTo>
                    <a:lnTo>
                      <a:pt x="1437424" y="270598"/>
                    </a:lnTo>
                    <a:close/>
                  </a:path>
                  <a:path w="1568450" h="2136775">
                    <a:moveTo>
                      <a:pt x="1465427" y="214591"/>
                    </a:moveTo>
                    <a:lnTo>
                      <a:pt x="1456093" y="205257"/>
                    </a:lnTo>
                    <a:lnTo>
                      <a:pt x="1452981" y="211480"/>
                    </a:lnTo>
                    <a:lnTo>
                      <a:pt x="1446758" y="205257"/>
                    </a:lnTo>
                    <a:lnTo>
                      <a:pt x="1437424" y="223926"/>
                    </a:lnTo>
                    <a:lnTo>
                      <a:pt x="1446758" y="233260"/>
                    </a:lnTo>
                    <a:lnTo>
                      <a:pt x="1449870" y="227037"/>
                    </a:lnTo>
                    <a:lnTo>
                      <a:pt x="1456093" y="233260"/>
                    </a:lnTo>
                    <a:lnTo>
                      <a:pt x="1465427" y="214591"/>
                    </a:lnTo>
                    <a:close/>
                  </a:path>
                  <a:path w="1568450" h="2136775">
                    <a:moveTo>
                      <a:pt x="1483334" y="167728"/>
                    </a:moveTo>
                    <a:lnTo>
                      <a:pt x="1474190" y="167728"/>
                    </a:lnTo>
                    <a:lnTo>
                      <a:pt x="1474190" y="186016"/>
                    </a:lnTo>
                    <a:lnTo>
                      <a:pt x="1483334" y="186016"/>
                    </a:lnTo>
                    <a:lnTo>
                      <a:pt x="1483334" y="167728"/>
                    </a:lnTo>
                    <a:close/>
                  </a:path>
                  <a:path w="1568450" h="2136775">
                    <a:moveTo>
                      <a:pt x="1512100" y="121246"/>
                    </a:moveTo>
                    <a:lnTo>
                      <a:pt x="1502765" y="111912"/>
                    </a:lnTo>
                    <a:lnTo>
                      <a:pt x="1493431" y="130581"/>
                    </a:lnTo>
                    <a:lnTo>
                      <a:pt x="1502765" y="139915"/>
                    </a:lnTo>
                    <a:lnTo>
                      <a:pt x="1512100" y="121246"/>
                    </a:lnTo>
                    <a:close/>
                  </a:path>
                  <a:path w="1568450" h="2136775">
                    <a:moveTo>
                      <a:pt x="1521434" y="84010"/>
                    </a:moveTo>
                    <a:lnTo>
                      <a:pt x="1512100" y="84010"/>
                    </a:lnTo>
                    <a:lnTo>
                      <a:pt x="1512100" y="102577"/>
                    </a:lnTo>
                    <a:lnTo>
                      <a:pt x="1521434" y="102577"/>
                    </a:lnTo>
                    <a:lnTo>
                      <a:pt x="1521434" y="84010"/>
                    </a:lnTo>
                    <a:close/>
                  </a:path>
                  <a:path w="1568450" h="2136775">
                    <a:moveTo>
                      <a:pt x="1549438" y="46672"/>
                    </a:moveTo>
                    <a:lnTo>
                      <a:pt x="1540103" y="37338"/>
                    </a:lnTo>
                    <a:lnTo>
                      <a:pt x="1530769" y="56007"/>
                    </a:lnTo>
                    <a:lnTo>
                      <a:pt x="1540103" y="65341"/>
                    </a:lnTo>
                    <a:lnTo>
                      <a:pt x="1549438" y="46672"/>
                    </a:lnTo>
                    <a:close/>
                  </a:path>
                  <a:path w="1568450" h="2136775">
                    <a:moveTo>
                      <a:pt x="1568107" y="9334"/>
                    </a:moveTo>
                    <a:lnTo>
                      <a:pt x="1558772" y="0"/>
                    </a:lnTo>
                    <a:lnTo>
                      <a:pt x="1549438" y="18669"/>
                    </a:lnTo>
                    <a:lnTo>
                      <a:pt x="1558772" y="28003"/>
                    </a:lnTo>
                    <a:lnTo>
                      <a:pt x="1568107" y="9334"/>
                    </a:lnTo>
                    <a:close/>
                  </a:path>
                </a:pathLst>
              </a:custGeom>
              <a:solidFill>
                <a:srgbClr val="95959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0" name="object 14">
                <a:extLst>
                  <a:ext uri="{FF2B5EF4-FFF2-40B4-BE49-F238E27FC236}">
                    <a16:creationId xmlns:a16="http://schemas.microsoft.com/office/drawing/2014/main" id="{184A7789-DFB6-4602-A489-93422AB1C961}"/>
                  </a:ext>
                </a:extLst>
              </p:cNvPr>
              <p:cNvSpPr/>
              <p:nvPr/>
            </p:nvSpPr>
            <p:spPr>
              <a:xfrm>
                <a:off x="8571548" y="2717583"/>
                <a:ext cx="224154" cy="466725"/>
              </a:xfrm>
              <a:custGeom>
                <a:avLst/>
                <a:gdLst/>
                <a:ahLst/>
                <a:cxnLst/>
                <a:rect l="l" t="t" r="r" b="b"/>
                <a:pathLst>
                  <a:path w="224154" h="466725">
                    <a:moveTo>
                      <a:pt x="18669" y="447865"/>
                    </a:moveTo>
                    <a:lnTo>
                      <a:pt x="9334" y="438531"/>
                    </a:lnTo>
                    <a:lnTo>
                      <a:pt x="0" y="457200"/>
                    </a:lnTo>
                    <a:lnTo>
                      <a:pt x="9334" y="466534"/>
                    </a:lnTo>
                    <a:lnTo>
                      <a:pt x="18669" y="447865"/>
                    </a:lnTo>
                    <a:close/>
                  </a:path>
                  <a:path w="224154" h="466725">
                    <a:moveTo>
                      <a:pt x="46672" y="391858"/>
                    </a:moveTo>
                    <a:lnTo>
                      <a:pt x="37338" y="382524"/>
                    </a:lnTo>
                    <a:lnTo>
                      <a:pt x="34226" y="388747"/>
                    </a:lnTo>
                    <a:lnTo>
                      <a:pt x="28003" y="382524"/>
                    </a:lnTo>
                    <a:lnTo>
                      <a:pt x="18669" y="401193"/>
                    </a:lnTo>
                    <a:lnTo>
                      <a:pt x="28003" y="410527"/>
                    </a:lnTo>
                    <a:lnTo>
                      <a:pt x="31115" y="404304"/>
                    </a:lnTo>
                    <a:lnTo>
                      <a:pt x="37338" y="410527"/>
                    </a:lnTo>
                    <a:lnTo>
                      <a:pt x="46672" y="391858"/>
                    </a:lnTo>
                    <a:close/>
                  </a:path>
                  <a:path w="224154" h="466725">
                    <a:moveTo>
                      <a:pt x="74676" y="345186"/>
                    </a:moveTo>
                    <a:lnTo>
                      <a:pt x="65341" y="335851"/>
                    </a:lnTo>
                    <a:lnTo>
                      <a:pt x="60667" y="345186"/>
                    </a:lnTo>
                    <a:lnTo>
                      <a:pt x="56007" y="345186"/>
                    </a:lnTo>
                    <a:lnTo>
                      <a:pt x="56007" y="354520"/>
                    </a:lnTo>
                    <a:lnTo>
                      <a:pt x="65341" y="363855"/>
                    </a:lnTo>
                    <a:lnTo>
                      <a:pt x="74676" y="345186"/>
                    </a:lnTo>
                    <a:close/>
                  </a:path>
                  <a:path w="224154" h="466725">
                    <a:moveTo>
                      <a:pt x="93345" y="289179"/>
                    </a:moveTo>
                    <a:lnTo>
                      <a:pt x="84010" y="279933"/>
                    </a:lnTo>
                    <a:lnTo>
                      <a:pt x="79362" y="289179"/>
                    </a:lnTo>
                    <a:lnTo>
                      <a:pt x="74676" y="289179"/>
                    </a:lnTo>
                    <a:lnTo>
                      <a:pt x="74676" y="298513"/>
                    </a:lnTo>
                    <a:lnTo>
                      <a:pt x="74676" y="307848"/>
                    </a:lnTo>
                    <a:lnTo>
                      <a:pt x="84010" y="307848"/>
                    </a:lnTo>
                    <a:lnTo>
                      <a:pt x="93345" y="289179"/>
                    </a:lnTo>
                    <a:close/>
                  </a:path>
                  <a:path w="224154" h="466725">
                    <a:moveTo>
                      <a:pt x="121348" y="233260"/>
                    </a:moveTo>
                    <a:lnTo>
                      <a:pt x="112014" y="223926"/>
                    </a:lnTo>
                    <a:lnTo>
                      <a:pt x="108902" y="230149"/>
                    </a:lnTo>
                    <a:lnTo>
                      <a:pt x="102679" y="223926"/>
                    </a:lnTo>
                    <a:lnTo>
                      <a:pt x="93345" y="242595"/>
                    </a:lnTo>
                    <a:lnTo>
                      <a:pt x="102679" y="251929"/>
                    </a:lnTo>
                    <a:lnTo>
                      <a:pt x="105791" y="245706"/>
                    </a:lnTo>
                    <a:lnTo>
                      <a:pt x="112014" y="251929"/>
                    </a:lnTo>
                    <a:lnTo>
                      <a:pt x="121348" y="233260"/>
                    </a:lnTo>
                    <a:close/>
                  </a:path>
                  <a:path w="224154" h="466725">
                    <a:moveTo>
                      <a:pt x="149352" y="177253"/>
                    </a:moveTo>
                    <a:lnTo>
                      <a:pt x="140017" y="167919"/>
                    </a:lnTo>
                    <a:lnTo>
                      <a:pt x="136906" y="174142"/>
                    </a:lnTo>
                    <a:lnTo>
                      <a:pt x="130683" y="167919"/>
                    </a:lnTo>
                    <a:lnTo>
                      <a:pt x="121348" y="186588"/>
                    </a:lnTo>
                    <a:lnTo>
                      <a:pt x="130683" y="195922"/>
                    </a:lnTo>
                    <a:lnTo>
                      <a:pt x="133794" y="189699"/>
                    </a:lnTo>
                    <a:lnTo>
                      <a:pt x="140017" y="195922"/>
                    </a:lnTo>
                    <a:lnTo>
                      <a:pt x="149352" y="177253"/>
                    </a:lnTo>
                    <a:close/>
                  </a:path>
                  <a:path w="224154" h="466725">
                    <a:moveTo>
                      <a:pt x="177355" y="121246"/>
                    </a:moveTo>
                    <a:lnTo>
                      <a:pt x="168021" y="111912"/>
                    </a:lnTo>
                    <a:lnTo>
                      <a:pt x="164909" y="118135"/>
                    </a:lnTo>
                    <a:lnTo>
                      <a:pt x="158686" y="111912"/>
                    </a:lnTo>
                    <a:lnTo>
                      <a:pt x="149352" y="130581"/>
                    </a:lnTo>
                    <a:lnTo>
                      <a:pt x="158686" y="139915"/>
                    </a:lnTo>
                    <a:lnTo>
                      <a:pt x="161798" y="133692"/>
                    </a:lnTo>
                    <a:lnTo>
                      <a:pt x="168021" y="139915"/>
                    </a:lnTo>
                    <a:lnTo>
                      <a:pt x="177355" y="121246"/>
                    </a:lnTo>
                    <a:close/>
                  </a:path>
                  <a:path w="224154" h="466725">
                    <a:moveTo>
                      <a:pt x="205359" y="65239"/>
                    </a:moveTo>
                    <a:lnTo>
                      <a:pt x="196024" y="55905"/>
                    </a:lnTo>
                    <a:lnTo>
                      <a:pt x="192913" y="62128"/>
                    </a:lnTo>
                    <a:lnTo>
                      <a:pt x="186690" y="55905"/>
                    </a:lnTo>
                    <a:lnTo>
                      <a:pt x="177355" y="74574"/>
                    </a:lnTo>
                    <a:lnTo>
                      <a:pt x="186690" y="83908"/>
                    </a:lnTo>
                    <a:lnTo>
                      <a:pt x="189801" y="77685"/>
                    </a:lnTo>
                    <a:lnTo>
                      <a:pt x="196024" y="83908"/>
                    </a:lnTo>
                    <a:lnTo>
                      <a:pt x="205359" y="65239"/>
                    </a:lnTo>
                    <a:close/>
                  </a:path>
                  <a:path w="224154" h="466725">
                    <a:moveTo>
                      <a:pt x="224028" y="9334"/>
                    </a:moveTo>
                    <a:lnTo>
                      <a:pt x="214693" y="0"/>
                    </a:lnTo>
                    <a:lnTo>
                      <a:pt x="210019" y="9334"/>
                    </a:lnTo>
                    <a:lnTo>
                      <a:pt x="205359" y="9334"/>
                    </a:lnTo>
                    <a:lnTo>
                      <a:pt x="205359" y="18669"/>
                    </a:lnTo>
                    <a:lnTo>
                      <a:pt x="205359" y="28003"/>
                    </a:lnTo>
                    <a:lnTo>
                      <a:pt x="214693" y="28003"/>
                    </a:lnTo>
                    <a:lnTo>
                      <a:pt x="224028" y="9334"/>
                    </a:lnTo>
                    <a:close/>
                  </a:path>
                </a:pathLst>
              </a:custGeom>
              <a:solidFill>
                <a:srgbClr val="95959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1" name="object 15">
                <a:extLst>
                  <a:ext uri="{FF2B5EF4-FFF2-40B4-BE49-F238E27FC236}">
                    <a16:creationId xmlns:a16="http://schemas.microsoft.com/office/drawing/2014/main" id="{252C4C05-889E-478C-A498-8895A54DD796}"/>
                  </a:ext>
                </a:extLst>
              </p:cNvPr>
              <p:cNvSpPr/>
              <p:nvPr/>
            </p:nvSpPr>
            <p:spPr>
              <a:xfrm>
                <a:off x="8795575" y="2548127"/>
                <a:ext cx="74104" cy="141446"/>
              </a:xfrm>
              <a:prstGeom prst="rect">
                <a:avLst/>
              </a:prstGeom>
              <a:blipFill>
                <a:blip r:embed="rId3" cstate="print"/>
                <a:stretch>
                  <a:fillRect/>
                </a:stretch>
              </a:blip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2" name="object 16">
                <a:extLst>
                  <a:ext uri="{FF2B5EF4-FFF2-40B4-BE49-F238E27FC236}">
                    <a16:creationId xmlns:a16="http://schemas.microsoft.com/office/drawing/2014/main" id="{B46665AB-5087-4AAA-B4BB-2AB648DDF8A0}"/>
                  </a:ext>
                </a:extLst>
              </p:cNvPr>
              <p:cNvSpPr/>
              <p:nvPr/>
            </p:nvSpPr>
            <p:spPr>
              <a:xfrm>
                <a:off x="8879586" y="2502884"/>
                <a:ext cx="9525" cy="19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9050">
                    <a:moveTo>
                      <a:pt x="9334" y="18669"/>
                    </a:moveTo>
                    <a:lnTo>
                      <a:pt x="0" y="18669"/>
                    </a:lnTo>
                    <a:lnTo>
                      <a:pt x="0" y="0"/>
                    </a:lnTo>
                    <a:lnTo>
                      <a:pt x="9334" y="0"/>
                    </a:lnTo>
                    <a:lnTo>
                      <a:pt x="9334" y="18669"/>
                    </a:lnTo>
                    <a:close/>
                  </a:path>
                </a:pathLst>
              </a:custGeom>
              <a:solidFill>
                <a:srgbClr val="959595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6" name="object 17">
              <a:extLst>
                <a:ext uri="{FF2B5EF4-FFF2-40B4-BE49-F238E27FC236}">
                  <a16:creationId xmlns:a16="http://schemas.microsoft.com/office/drawing/2014/main" id="{4FA64B11-112D-4B11-8624-90A06D4EE12C}"/>
                </a:ext>
              </a:extLst>
            </p:cNvPr>
            <p:cNvSpPr txBox="1"/>
            <p:nvPr/>
          </p:nvSpPr>
          <p:spPr>
            <a:xfrm>
              <a:off x="5647412" y="2031994"/>
              <a:ext cx="467359" cy="3626485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R="5080" algn="r">
                <a:lnSpc>
                  <a:spcPct val="100000"/>
                </a:lnSpc>
                <a:spcBef>
                  <a:spcPts val="95"/>
                </a:spcBef>
              </a:pPr>
              <a:r>
                <a:rPr sz="1400" b="1" spc="-20" dirty="0">
                  <a:latin typeface="UKIJ Inchike"/>
                  <a:cs typeface="UKIJ Inchike"/>
                </a:rPr>
                <a:t>9</a:t>
              </a:r>
              <a:r>
                <a:rPr sz="1400" b="1" spc="-5" dirty="0">
                  <a:latin typeface="UKIJ Inchike"/>
                  <a:cs typeface="UKIJ Inchike"/>
                </a:rPr>
                <a:t>0</a:t>
              </a:r>
              <a:r>
                <a:rPr sz="1400" b="1" spc="-20" dirty="0">
                  <a:latin typeface="UKIJ Inchike"/>
                  <a:cs typeface="UKIJ Inchike"/>
                </a:rPr>
                <a:t>0</a:t>
              </a:r>
              <a:r>
                <a:rPr sz="1400" b="1" spc="-60" dirty="0">
                  <a:latin typeface="UKIJ Inchike"/>
                  <a:cs typeface="UKIJ Inchike"/>
                </a:rPr>
                <a:t>0</a:t>
              </a:r>
              <a:endParaRPr sz="1400">
                <a:latin typeface="UKIJ Inchike"/>
                <a:cs typeface="UKIJ Inchike"/>
              </a:endParaRPr>
            </a:p>
            <a:p>
              <a:pPr marR="5080" algn="r">
                <a:lnSpc>
                  <a:spcPct val="100000"/>
                </a:lnSpc>
                <a:spcBef>
                  <a:spcPts val="1260"/>
                </a:spcBef>
              </a:pPr>
              <a:r>
                <a:rPr sz="1400" b="1" spc="-20" dirty="0">
                  <a:latin typeface="UKIJ Inchike"/>
                  <a:cs typeface="UKIJ Inchike"/>
                </a:rPr>
                <a:t>8</a:t>
              </a:r>
              <a:r>
                <a:rPr sz="1400" b="1" spc="-5" dirty="0">
                  <a:latin typeface="UKIJ Inchike"/>
                  <a:cs typeface="UKIJ Inchike"/>
                </a:rPr>
                <a:t>0</a:t>
              </a:r>
              <a:r>
                <a:rPr sz="1400" b="1" spc="-20" dirty="0">
                  <a:latin typeface="UKIJ Inchike"/>
                  <a:cs typeface="UKIJ Inchike"/>
                </a:rPr>
                <a:t>0</a:t>
              </a:r>
              <a:r>
                <a:rPr sz="1400" b="1" spc="-60" dirty="0">
                  <a:latin typeface="UKIJ Inchike"/>
                  <a:cs typeface="UKIJ Inchike"/>
                </a:rPr>
                <a:t>0</a:t>
              </a:r>
              <a:endParaRPr sz="1400">
                <a:latin typeface="UKIJ Inchike"/>
                <a:cs typeface="UKIJ Inchike"/>
              </a:endParaRPr>
            </a:p>
            <a:p>
              <a:pPr marR="5080" algn="r">
                <a:lnSpc>
                  <a:spcPct val="100000"/>
                </a:lnSpc>
                <a:spcBef>
                  <a:spcPts val="1330"/>
                </a:spcBef>
              </a:pPr>
              <a:r>
                <a:rPr sz="1400" b="1" spc="-20" dirty="0">
                  <a:latin typeface="UKIJ Inchike"/>
                  <a:cs typeface="UKIJ Inchike"/>
                </a:rPr>
                <a:t>7</a:t>
              </a:r>
              <a:r>
                <a:rPr sz="1400" b="1" spc="-5" dirty="0">
                  <a:latin typeface="UKIJ Inchike"/>
                  <a:cs typeface="UKIJ Inchike"/>
                </a:rPr>
                <a:t>0</a:t>
              </a:r>
              <a:r>
                <a:rPr sz="1400" b="1" spc="-20" dirty="0">
                  <a:latin typeface="UKIJ Inchike"/>
                  <a:cs typeface="UKIJ Inchike"/>
                </a:rPr>
                <a:t>0</a:t>
              </a:r>
              <a:r>
                <a:rPr sz="1400" b="1" spc="-60" dirty="0">
                  <a:latin typeface="UKIJ Inchike"/>
                  <a:cs typeface="UKIJ Inchike"/>
                </a:rPr>
                <a:t>0</a:t>
              </a:r>
              <a:endParaRPr sz="1400">
                <a:latin typeface="UKIJ Inchike"/>
                <a:cs typeface="UKIJ Inchike"/>
              </a:endParaRPr>
            </a:p>
            <a:p>
              <a:pPr marR="5080" algn="r">
                <a:lnSpc>
                  <a:spcPct val="100000"/>
                </a:lnSpc>
                <a:spcBef>
                  <a:spcPts val="1260"/>
                </a:spcBef>
              </a:pPr>
              <a:r>
                <a:rPr sz="1400" b="1" spc="-20" dirty="0">
                  <a:latin typeface="UKIJ Inchike"/>
                  <a:cs typeface="UKIJ Inchike"/>
                </a:rPr>
                <a:t>6</a:t>
              </a:r>
              <a:r>
                <a:rPr sz="1400" b="1" spc="-5" dirty="0">
                  <a:latin typeface="UKIJ Inchike"/>
                  <a:cs typeface="UKIJ Inchike"/>
                </a:rPr>
                <a:t>0</a:t>
              </a:r>
              <a:r>
                <a:rPr sz="1400" b="1" spc="-20" dirty="0">
                  <a:latin typeface="UKIJ Inchike"/>
                  <a:cs typeface="UKIJ Inchike"/>
                </a:rPr>
                <a:t>0</a:t>
              </a:r>
              <a:r>
                <a:rPr sz="1400" b="1" spc="-60" dirty="0">
                  <a:latin typeface="UKIJ Inchike"/>
                  <a:cs typeface="UKIJ Inchike"/>
                </a:rPr>
                <a:t>0</a:t>
              </a:r>
              <a:endParaRPr sz="1400">
                <a:latin typeface="UKIJ Inchike"/>
                <a:cs typeface="UKIJ Inchike"/>
              </a:endParaRPr>
            </a:p>
            <a:p>
              <a:pPr marR="5080" algn="r">
                <a:lnSpc>
                  <a:spcPct val="100000"/>
                </a:lnSpc>
                <a:spcBef>
                  <a:spcPts val="1260"/>
                </a:spcBef>
              </a:pPr>
              <a:r>
                <a:rPr sz="1400" b="1" spc="-20" dirty="0">
                  <a:latin typeface="UKIJ Inchike"/>
                  <a:cs typeface="UKIJ Inchike"/>
                </a:rPr>
                <a:t>5</a:t>
              </a:r>
              <a:r>
                <a:rPr sz="1400" b="1" spc="-5" dirty="0">
                  <a:latin typeface="UKIJ Inchike"/>
                  <a:cs typeface="UKIJ Inchike"/>
                </a:rPr>
                <a:t>0</a:t>
              </a:r>
              <a:r>
                <a:rPr sz="1400" b="1" spc="-20" dirty="0">
                  <a:latin typeface="UKIJ Inchike"/>
                  <a:cs typeface="UKIJ Inchike"/>
                </a:rPr>
                <a:t>0</a:t>
              </a:r>
              <a:r>
                <a:rPr sz="1400" b="1" spc="-60" dirty="0">
                  <a:latin typeface="UKIJ Inchike"/>
                  <a:cs typeface="UKIJ Inchike"/>
                </a:rPr>
                <a:t>0</a:t>
              </a:r>
              <a:endParaRPr sz="1400">
                <a:latin typeface="UKIJ Inchike"/>
                <a:cs typeface="UKIJ Inchike"/>
              </a:endParaRPr>
            </a:p>
            <a:p>
              <a:pPr marR="5080" algn="r">
                <a:lnSpc>
                  <a:spcPct val="100000"/>
                </a:lnSpc>
                <a:spcBef>
                  <a:spcPts val="1335"/>
                </a:spcBef>
              </a:pPr>
              <a:r>
                <a:rPr sz="1400" b="1" spc="-20" dirty="0">
                  <a:latin typeface="UKIJ Inchike"/>
                  <a:cs typeface="UKIJ Inchike"/>
                </a:rPr>
                <a:t>4</a:t>
              </a:r>
              <a:r>
                <a:rPr sz="1400" b="1" spc="-5" dirty="0">
                  <a:latin typeface="UKIJ Inchike"/>
                  <a:cs typeface="UKIJ Inchike"/>
                </a:rPr>
                <a:t>0</a:t>
              </a:r>
              <a:r>
                <a:rPr sz="1400" b="1" spc="-20" dirty="0">
                  <a:latin typeface="UKIJ Inchike"/>
                  <a:cs typeface="UKIJ Inchike"/>
                </a:rPr>
                <a:t>0</a:t>
              </a:r>
              <a:r>
                <a:rPr sz="1400" b="1" spc="-60" dirty="0">
                  <a:latin typeface="UKIJ Inchike"/>
                  <a:cs typeface="UKIJ Inchike"/>
                </a:rPr>
                <a:t>0</a:t>
              </a:r>
              <a:endParaRPr sz="1400">
                <a:latin typeface="UKIJ Inchike"/>
                <a:cs typeface="UKIJ Inchike"/>
              </a:endParaRPr>
            </a:p>
            <a:p>
              <a:pPr marR="5080" algn="r">
                <a:lnSpc>
                  <a:spcPct val="100000"/>
                </a:lnSpc>
                <a:spcBef>
                  <a:spcPts val="1260"/>
                </a:spcBef>
              </a:pPr>
              <a:r>
                <a:rPr sz="1400" b="1" spc="-20" dirty="0">
                  <a:latin typeface="UKIJ Inchike"/>
                  <a:cs typeface="UKIJ Inchike"/>
                </a:rPr>
                <a:t>3</a:t>
              </a:r>
              <a:r>
                <a:rPr sz="1400" b="1" spc="-5" dirty="0">
                  <a:latin typeface="UKIJ Inchike"/>
                  <a:cs typeface="UKIJ Inchike"/>
                </a:rPr>
                <a:t>0</a:t>
              </a:r>
              <a:r>
                <a:rPr sz="1400" b="1" spc="-20" dirty="0">
                  <a:latin typeface="UKIJ Inchike"/>
                  <a:cs typeface="UKIJ Inchike"/>
                </a:rPr>
                <a:t>0</a:t>
              </a:r>
              <a:r>
                <a:rPr sz="1400" b="1" spc="-60" dirty="0">
                  <a:latin typeface="UKIJ Inchike"/>
                  <a:cs typeface="UKIJ Inchike"/>
                </a:rPr>
                <a:t>0</a:t>
              </a:r>
              <a:endParaRPr sz="1400">
                <a:latin typeface="UKIJ Inchike"/>
                <a:cs typeface="UKIJ Inchike"/>
              </a:endParaRPr>
            </a:p>
            <a:p>
              <a:pPr marR="5080" algn="r">
                <a:lnSpc>
                  <a:spcPct val="100000"/>
                </a:lnSpc>
                <a:spcBef>
                  <a:spcPts val="1260"/>
                </a:spcBef>
              </a:pPr>
              <a:r>
                <a:rPr sz="1400" b="1" spc="-20" dirty="0">
                  <a:latin typeface="UKIJ Inchike"/>
                  <a:cs typeface="UKIJ Inchike"/>
                </a:rPr>
                <a:t>2</a:t>
              </a:r>
              <a:r>
                <a:rPr sz="1400" b="1" spc="-5" dirty="0">
                  <a:latin typeface="UKIJ Inchike"/>
                  <a:cs typeface="UKIJ Inchike"/>
                </a:rPr>
                <a:t>0</a:t>
              </a:r>
              <a:r>
                <a:rPr sz="1400" b="1" spc="-20" dirty="0">
                  <a:latin typeface="UKIJ Inchike"/>
                  <a:cs typeface="UKIJ Inchike"/>
                </a:rPr>
                <a:t>0</a:t>
              </a:r>
              <a:r>
                <a:rPr sz="1400" b="1" spc="-60" dirty="0">
                  <a:latin typeface="UKIJ Inchike"/>
                  <a:cs typeface="UKIJ Inchike"/>
                </a:rPr>
                <a:t>0</a:t>
              </a:r>
              <a:endParaRPr sz="1400">
                <a:latin typeface="UKIJ Inchike"/>
                <a:cs typeface="UKIJ Inchike"/>
              </a:endParaRPr>
            </a:p>
            <a:p>
              <a:pPr marR="5080" algn="r">
                <a:lnSpc>
                  <a:spcPct val="100000"/>
                </a:lnSpc>
                <a:spcBef>
                  <a:spcPts val="1330"/>
                </a:spcBef>
              </a:pPr>
              <a:r>
                <a:rPr sz="1400" b="1" spc="-20" dirty="0">
                  <a:latin typeface="UKIJ Inchike"/>
                  <a:cs typeface="UKIJ Inchike"/>
                </a:rPr>
                <a:t>1</a:t>
              </a:r>
              <a:r>
                <a:rPr sz="1400" b="1" spc="-5" dirty="0">
                  <a:latin typeface="UKIJ Inchike"/>
                  <a:cs typeface="UKIJ Inchike"/>
                </a:rPr>
                <a:t>0</a:t>
              </a:r>
              <a:r>
                <a:rPr sz="1400" b="1" spc="-20" dirty="0">
                  <a:latin typeface="UKIJ Inchike"/>
                  <a:cs typeface="UKIJ Inchike"/>
                </a:rPr>
                <a:t>0</a:t>
              </a:r>
              <a:r>
                <a:rPr sz="1400" b="1" spc="-60" dirty="0">
                  <a:latin typeface="UKIJ Inchike"/>
                  <a:cs typeface="UKIJ Inchike"/>
                </a:rPr>
                <a:t>0</a:t>
              </a:r>
              <a:endParaRPr sz="1400">
                <a:latin typeface="UKIJ Inchike"/>
                <a:cs typeface="UKIJ Inchike"/>
              </a:endParaRPr>
            </a:p>
            <a:p>
              <a:pPr marR="5080" algn="r">
                <a:lnSpc>
                  <a:spcPct val="100000"/>
                </a:lnSpc>
                <a:spcBef>
                  <a:spcPts val="1260"/>
                </a:spcBef>
              </a:pPr>
              <a:r>
                <a:rPr sz="1400" b="1" spc="-60" dirty="0">
                  <a:latin typeface="UKIJ Inchike"/>
                  <a:cs typeface="UKIJ Inchike"/>
                </a:rPr>
                <a:t>0</a:t>
              </a:r>
              <a:endParaRPr sz="1400">
                <a:latin typeface="UKIJ Inchike"/>
                <a:cs typeface="UKIJ Inchike"/>
              </a:endParaRPr>
            </a:p>
          </p:txBody>
        </p:sp>
        <p:sp>
          <p:nvSpPr>
            <p:cNvPr id="7" name="object 18">
              <a:extLst>
                <a:ext uri="{FF2B5EF4-FFF2-40B4-BE49-F238E27FC236}">
                  <a16:creationId xmlns:a16="http://schemas.microsoft.com/office/drawing/2014/main" id="{938791F3-33B4-4CA0-AEB2-0B7B2F4D90B6}"/>
                </a:ext>
              </a:extLst>
            </p:cNvPr>
            <p:cNvSpPr txBox="1"/>
            <p:nvPr/>
          </p:nvSpPr>
          <p:spPr>
            <a:xfrm>
              <a:off x="6179316" y="5680394"/>
              <a:ext cx="131445" cy="2387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400" b="1" spc="-60" dirty="0">
                  <a:latin typeface="UKIJ Inchike"/>
                  <a:cs typeface="UKIJ Inchike"/>
                </a:rPr>
                <a:t>0</a:t>
              </a:r>
              <a:endParaRPr sz="1400">
                <a:latin typeface="UKIJ Inchike"/>
                <a:cs typeface="UKIJ Inchike"/>
              </a:endParaRPr>
            </a:p>
          </p:txBody>
        </p:sp>
        <p:sp>
          <p:nvSpPr>
            <p:cNvPr id="8" name="object 19">
              <a:extLst>
                <a:ext uri="{FF2B5EF4-FFF2-40B4-BE49-F238E27FC236}">
                  <a16:creationId xmlns:a16="http://schemas.microsoft.com/office/drawing/2014/main" id="{D15BDF3D-FF55-4A77-8BB2-4DA69687F35C}"/>
                </a:ext>
              </a:extLst>
            </p:cNvPr>
            <p:cNvSpPr txBox="1"/>
            <p:nvPr/>
          </p:nvSpPr>
          <p:spPr>
            <a:xfrm>
              <a:off x="7204952" y="5601536"/>
              <a:ext cx="1013460" cy="639445"/>
            </a:xfrm>
            <a:prstGeom prst="rect">
              <a:avLst/>
            </a:prstGeom>
          </p:spPr>
          <p:txBody>
            <a:bodyPr vert="horz" wrap="square" lIns="0" tIns="90805" rIns="0" bIns="0" rtlCol="0">
              <a:spAutoFit/>
            </a:bodyPr>
            <a:lstStyle/>
            <a:p>
              <a:pPr algn="ctr">
                <a:lnSpc>
                  <a:spcPct val="100000"/>
                </a:lnSpc>
                <a:spcBef>
                  <a:spcPts val="715"/>
                </a:spcBef>
              </a:pPr>
              <a:r>
                <a:rPr sz="1400" b="1" spc="-35" dirty="0">
                  <a:latin typeface="UKIJ Inchike"/>
                  <a:cs typeface="UKIJ Inchike"/>
                </a:rPr>
                <a:t>50</a:t>
              </a:r>
              <a:endParaRPr sz="1400">
                <a:latin typeface="UKIJ Inchike"/>
                <a:cs typeface="UKIJ Inchike"/>
              </a:endParaRPr>
            </a:p>
            <a:p>
              <a:pPr algn="ctr">
                <a:lnSpc>
                  <a:spcPct val="100000"/>
                </a:lnSpc>
                <a:spcBef>
                  <a:spcPts val="680"/>
                </a:spcBef>
              </a:pPr>
              <a:r>
                <a:rPr sz="1550" b="1" spc="-35" dirty="0">
                  <a:latin typeface="UKIJ Inchike"/>
                  <a:cs typeface="UKIJ Inchike"/>
                </a:rPr>
                <a:t>Input</a:t>
              </a:r>
              <a:r>
                <a:rPr sz="1550" b="1" spc="-20" dirty="0">
                  <a:latin typeface="UKIJ Inchike"/>
                  <a:cs typeface="UKIJ Inchike"/>
                </a:rPr>
                <a:t> </a:t>
              </a:r>
              <a:r>
                <a:rPr sz="1550" b="1" spc="-35" dirty="0">
                  <a:latin typeface="UKIJ Inchike"/>
                  <a:cs typeface="UKIJ Inchike"/>
                </a:rPr>
                <a:t>Size</a:t>
              </a:r>
              <a:endParaRPr sz="1550">
                <a:latin typeface="UKIJ Inchike"/>
                <a:cs typeface="UKIJ Inchike"/>
              </a:endParaRPr>
            </a:p>
          </p:txBody>
        </p:sp>
        <p:sp>
          <p:nvSpPr>
            <p:cNvPr id="9" name="object 20">
              <a:extLst>
                <a:ext uri="{FF2B5EF4-FFF2-40B4-BE49-F238E27FC236}">
                  <a16:creationId xmlns:a16="http://schemas.microsoft.com/office/drawing/2014/main" id="{CAFCFC34-C9B9-4647-BF77-2BEAED209704}"/>
                </a:ext>
              </a:extLst>
            </p:cNvPr>
            <p:cNvSpPr txBox="1"/>
            <p:nvPr/>
          </p:nvSpPr>
          <p:spPr>
            <a:xfrm>
              <a:off x="8997487" y="5680394"/>
              <a:ext cx="356235" cy="238760"/>
            </a:xfrm>
            <a:prstGeom prst="rect">
              <a:avLst/>
            </a:prstGeom>
          </p:spPr>
          <p:txBody>
            <a:bodyPr vert="horz" wrap="square" lIns="0" tIns="12065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5"/>
                </a:spcBef>
              </a:pPr>
              <a:r>
                <a:rPr sz="1400" b="1" spc="-5" dirty="0">
                  <a:latin typeface="UKIJ Inchike"/>
                  <a:cs typeface="UKIJ Inchike"/>
                </a:rPr>
                <a:t>1</a:t>
              </a:r>
              <a:r>
                <a:rPr sz="1400" b="1" spc="-20" dirty="0">
                  <a:latin typeface="UKIJ Inchike"/>
                  <a:cs typeface="UKIJ Inchike"/>
                </a:rPr>
                <a:t>0</a:t>
              </a:r>
              <a:r>
                <a:rPr sz="1400" b="1" spc="-60" dirty="0">
                  <a:latin typeface="UKIJ Inchike"/>
                  <a:cs typeface="UKIJ Inchike"/>
                </a:rPr>
                <a:t>0</a:t>
              </a:r>
              <a:endParaRPr sz="1400">
                <a:latin typeface="UKIJ Inchike"/>
                <a:cs typeface="UKIJ Inchike"/>
              </a:endParaRPr>
            </a:p>
          </p:txBody>
        </p:sp>
        <p:sp>
          <p:nvSpPr>
            <p:cNvPr id="10" name="object 21">
              <a:extLst>
                <a:ext uri="{FF2B5EF4-FFF2-40B4-BE49-F238E27FC236}">
                  <a16:creationId xmlns:a16="http://schemas.microsoft.com/office/drawing/2014/main" id="{8591ACE6-8C55-44D0-8936-BF268AD443A6}"/>
                </a:ext>
              </a:extLst>
            </p:cNvPr>
            <p:cNvSpPr txBox="1"/>
            <p:nvPr/>
          </p:nvSpPr>
          <p:spPr>
            <a:xfrm>
              <a:off x="5352266" y="3357913"/>
              <a:ext cx="262255" cy="1033780"/>
            </a:xfrm>
            <a:prstGeom prst="rect">
              <a:avLst/>
            </a:prstGeom>
          </p:spPr>
          <p:txBody>
            <a:bodyPr vert="vert270" wrap="square" lIns="0" tIns="1143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90"/>
                </a:spcBef>
              </a:pPr>
              <a:r>
                <a:rPr sz="1550" b="1" spc="-25" dirty="0">
                  <a:latin typeface="UKIJ Inchike"/>
                  <a:cs typeface="UKIJ Inchike"/>
                </a:rPr>
                <a:t>Time</a:t>
              </a:r>
              <a:r>
                <a:rPr sz="1550" b="1" spc="5" dirty="0">
                  <a:latin typeface="UKIJ Inchike"/>
                  <a:cs typeface="UKIJ Inchike"/>
                </a:rPr>
                <a:t> </a:t>
              </a:r>
              <a:r>
                <a:rPr sz="1550" b="1" spc="-5" dirty="0">
                  <a:latin typeface="UKIJ Inchike"/>
                  <a:cs typeface="UKIJ Inchike"/>
                </a:rPr>
                <a:t>(ms)</a:t>
              </a:r>
              <a:endParaRPr sz="1550">
                <a:latin typeface="UKIJ Inchike"/>
                <a:cs typeface="UKIJ Inchike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1321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DB05D-DA3C-4BD8-9561-51527088F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Limitations </a:t>
            </a:r>
            <a:r>
              <a:rPr lang="en-US" dirty="0"/>
              <a:t>Of</a:t>
            </a:r>
            <a:r>
              <a:rPr lang="en-US" spc="-40" dirty="0"/>
              <a:t> </a:t>
            </a:r>
            <a:r>
              <a:rPr lang="en-US" spc="-5" dirty="0"/>
              <a:t>Experiments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F85682-0EEB-48D5-97AD-94C82D7D5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Experimental evaluation of running time is very useful but</a:t>
            </a:r>
          </a:p>
          <a:p>
            <a:endParaRPr lang="en-US" sz="2400" dirty="0"/>
          </a:p>
          <a:p>
            <a:pPr lvl="1"/>
            <a:r>
              <a:rPr lang="en-US" sz="2000" dirty="0"/>
              <a:t>It is necessary to implement the algorithm, which may be difficult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Results may not be indicative of the running time on other inputs  not included in the experiment</a:t>
            </a:r>
          </a:p>
          <a:p>
            <a:pPr lvl="1"/>
            <a:endParaRPr lang="en-US" sz="2000" dirty="0"/>
          </a:p>
          <a:p>
            <a:pPr lvl="1"/>
            <a:r>
              <a:rPr lang="en-US" sz="2000" dirty="0"/>
              <a:t>In order to compare two algorithms, the same hardware and  software environments must be used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3647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FE9B7-537B-42B1-8E89-B4582C36D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Theoretical </a:t>
            </a:r>
            <a:r>
              <a:rPr lang="en-US" spc="-10" dirty="0"/>
              <a:t>Analysis of Run</a:t>
            </a:r>
            <a:r>
              <a:rPr lang="en-US" spc="135" dirty="0"/>
              <a:t> </a:t>
            </a:r>
            <a:r>
              <a:rPr lang="en-US" spc="-10" dirty="0"/>
              <a:t>Time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D82C88-E594-4ECF-84A0-F1A9053173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Uses a pseudo-code description of the algorithm instead of an  implementation</a:t>
            </a:r>
          </a:p>
          <a:p>
            <a:endParaRPr lang="en-US" dirty="0"/>
          </a:p>
          <a:p>
            <a:r>
              <a:rPr lang="en-US" dirty="0"/>
              <a:t>Characterizes running time as a function of the input size n</a:t>
            </a:r>
          </a:p>
          <a:p>
            <a:endParaRPr lang="en-US" dirty="0"/>
          </a:p>
          <a:p>
            <a:r>
              <a:rPr lang="en-US" dirty="0"/>
              <a:t>Takes into account all possible inputs</a:t>
            </a:r>
          </a:p>
          <a:p>
            <a:endParaRPr lang="en-US" dirty="0"/>
          </a:p>
          <a:p>
            <a:r>
              <a:rPr lang="en-US" dirty="0"/>
              <a:t>Allows us to evaluate the speed of an algorithm independent of the  hardware/software environment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9558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28675-EE18-421F-8300-EF90FCE74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Analyzing </a:t>
            </a:r>
            <a:r>
              <a:rPr lang="en-US" dirty="0"/>
              <a:t>an </a:t>
            </a:r>
            <a:r>
              <a:rPr lang="en-US" spc="-5" dirty="0"/>
              <a:t>Algorithm – Operations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FC590-2F2E-4B59-B3AE-8DDA5BA48F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354965" indent="-342900">
              <a:spcBef>
                <a:spcPts val="615"/>
              </a:spcBef>
              <a:tabLst>
                <a:tab pos="356235" algn="l"/>
                <a:tab pos="356870" algn="l"/>
              </a:tabLst>
            </a:pPr>
            <a:r>
              <a:rPr lang="en-US" sz="2100" spc="-10" dirty="0">
                <a:latin typeface="Tahoma"/>
                <a:cs typeface="Tahoma"/>
              </a:rPr>
              <a:t>Each </a:t>
            </a:r>
            <a:r>
              <a:rPr lang="en-US" sz="2100" dirty="0">
                <a:latin typeface="Tahoma"/>
                <a:cs typeface="Tahoma"/>
              </a:rPr>
              <a:t>machine </a:t>
            </a:r>
            <a:r>
              <a:rPr lang="en-US" sz="2100" spc="-5" dirty="0">
                <a:latin typeface="Tahoma"/>
                <a:cs typeface="Tahoma"/>
              </a:rPr>
              <a:t>instruction </a:t>
            </a:r>
            <a:r>
              <a:rPr lang="en-US" sz="2100" dirty="0">
                <a:latin typeface="Tahoma"/>
                <a:cs typeface="Tahoma"/>
              </a:rPr>
              <a:t>is executed </a:t>
            </a:r>
            <a:r>
              <a:rPr lang="en-US" sz="2100" spc="-5" dirty="0">
                <a:latin typeface="Tahoma"/>
                <a:cs typeface="Tahoma"/>
              </a:rPr>
              <a:t>in </a:t>
            </a:r>
            <a:r>
              <a:rPr lang="en-US" sz="2100" dirty="0">
                <a:latin typeface="Tahoma"/>
                <a:cs typeface="Tahoma"/>
              </a:rPr>
              <a:t>a </a:t>
            </a:r>
            <a:r>
              <a:rPr lang="en-US" sz="2100" spc="-5" dirty="0">
                <a:latin typeface="Tahoma"/>
                <a:cs typeface="Tahoma"/>
              </a:rPr>
              <a:t>fixed </a:t>
            </a:r>
            <a:r>
              <a:rPr lang="en-US" sz="2100" dirty="0">
                <a:latin typeface="Tahoma"/>
                <a:cs typeface="Tahoma"/>
              </a:rPr>
              <a:t>number </a:t>
            </a:r>
            <a:r>
              <a:rPr lang="en-US" sz="2100" spc="-5" dirty="0">
                <a:latin typeface="Tahoma"/>
                <a:cs typeface="Tahoma"/>
              </a:rPr>
              <a:t>of</a:t>
            </a:r>
            <a:r>
              <a:rPr lang="en-US" sz="2100" spc="15" dirty="0">
                <a:latin typeface="Tahoma"/>
                <a:cs typeface="Tahoma"/>
              </a:rPr>
              <a:t> </a:t>
            </a:r>
            <a:r>
              <a:rPr lang="en-US" sz="2100" spc="-5" dirty="0">
                <a:latin typeface="Tahoma"/>
                <a:cs typeface="Tahoma"/>
              </a:rPr>
              <a:t>cycles</a:t>
            </a:r>
            <a:endParaRPr lang="en-US" sz="2100" dirty="0">
              <a:latin typeface="Tahoma"/>
              <a:cs typeface="Tahoma"/>
            </a:endParaRPr>
          </a:p>
          <a:p>
            <a:pPr marL="811530" lvl="1" indent="-342900">
              <a:spcBef>
                <a:spcPts val="465"/>
              </a:spcBef>
              <a:tabLst>
                <a:tab pos="756285" algn="l"/>
                <a:tab pos="756920" algn="l"/>
              </a:tabLst>
            </a:pPr>
            <a:r>
              <a:rPr lang="en-US" sz="1900" spc="-5" dirty="0">
                <a:latin typeface="Tahoma"/>
                <a:cs typeface="Tahoma"/>
              </a:rPr>
              <a:t>We </a:t>
            </a:r>
            <a:r>
              <a:rPr lang="en-US" sz="1900" spc="-10" dirty="0">
                <a:latin typeface="Tahoma"/>
                <a:cs typeface="Tahoma"/>
              </a:rPr>
              <a:t>may </a:t>
            </a:r>
            <a:r>
              <a:rPr lang="en-US" sz="1900" spc="-5" dirty="0">
                <a:latin typeface="Tahoma"/>
                <a:cs typeface="Tahoma"/>
              </a:rPr>
              <a:t>assume </a:t>
            </a:r>
            <a:r>
              <a:rPr lang="en-US" sz="1900" spc="-10" dirty="0">
                <a:latin typeface="Tahoma"/>
                <a:cs typeface="Tahoma"/>
              </a:rPr>
              <a:t>each operation requires </a:t>
            </a:r>
            <a:r>
              <a:rPr lang="en-US" sz="1900" spc="-5" dirty="0">
                <a:latin typeface="Tahoma"/>
                <a:cs typeface="Tahoma"/>
              </a:rPr>
              <a:t>a </a:t>
            </a:r>
            <a:r>
              <a:rPr lang="en-US" sz="1900" spc="-10" dirty="0">
                <a:latin typeface="Tahoma"/>
                <a:cs typeface="Tahoma"/>
              </a:rPr>
              <a:t>fixed number </a:t>
            </a:r>
            <a:r>
              <a:rPr lang="en-US" sz="1900" dirty="0">
                <a:latin typeface="Tahoma"/>
                <a:cs typeface="Tahoma"/>
              </a:rPr>
              <a:t>of</a:t>
            </a:r>
            <a:r>
              <a:rPr lang="en-US" sz="1900" spc="380" dirty="0">
                <a:latin typeface="Tahoma"/>
                <a:cs typeface="Tahoma"/>
              </a:rPr>
              <a:t> </a:t>
            </a:r>
            <a:r>
              <a:rPr lang="en-US" sz="1900" spc="-5" dirty="0">
                <a:latin typeface="Tahoma"/>
                <a:cs typeface="Tahoma"/>
              </a:rPr>
              <a:t>cycles</a:t>
            </a:r>
            <a:endParaRPr lang="en-US" sz="1900" dirty="0">
              <a:latin typeface="Tahoma"/>
              <a:cs typeface="Tahoma"/>
            </a:endParaRPr>
          </a:p>
          <a:p>
            <a:pPr lvl="1">
              <a:spcBef>
                <a:spcPts val="25"/>
              </a:spcBef>
            </a:pPr>
            <a:endParaRPr lang="en-US" sz="2300" dirty="0">
              <a:latin typeface="Tahoma"/>
              <a:cs typeface="Tahoma"/>
            </a:endParaRPr>
          </a:p>
          <a:p>
            <a:pPr marL="354965" indent="-342900">
              <a:tabLst>
                <a:tab pos="356235" algn="l"/>
                <a:tab pos="356870" algn="l"/>
              </a:tabLst>
            </a:pPr>
            <a:r>
              <a:rPr lang="en-US" sz="2100" spc="-10" dirty="0">
                <a:latin typeface="Tahoma"/>
                <a:cs typeface="Tahoma"/>
              </a:rPr>
              <a:t>Idea: </a:t>
            </a:r>
            <a:r>
              <a:rPr lang="en-US" sz="2100" spc="-5" dirty="0">
                <a:latin typeface="Tahoma"/>
                <a:cs typeface="Tahoma"/>
              </a:rPr>
              <a:t>Use abstract machine </a:t>
            </a:r>
            <a:r>
              <a:rPr lang="en-US" sz="2100" dirty="0">
                <a:latin typeface="Tahoma"/>
                <a:cs typeface="Tahoma"/>
              </a:rPr>
              <a:t>that </a:t>
            </a:r>
            <a:r>
              <a:rPr lang="en-US" sz="2100" spc="-5" dirty="0">
                <a:latin typeface="Tahoma"/>
                <a:cs typeface="Tahoma"/>
              </a:rPr>
              <a:t>uses steps </a:t>
            </a:r>
            <a:r>
              <a:rPr lang="en-US" sz="2100" spc="5" dirty="0">
                <a:latin typeface="Tahoma"/>
                <a:cs typeface="Tahoma"/>
              </a:rPr>
              <a:t>of </a:t>
            </a:r>
            <a:r>
              <a:rPr lang="en-US" sz="2100" spc="-5" dirty="0">
                <a:latin typeface="Tahoma"/>
                <a:cs typeface="Tahoma"/>
              </a:rPr>
              <a:t>time instead of</a:t>
            </a:r>
            <a:r>
              <a:rPr lang="en-US" sz="2100" spc="90" dirty="0">
                <a:latin typeface="Tahoma"/>
                <a:cs typeface="Tahoma"/>
              </a:rPr>
              <a:t> </a:t>
            </a:r>
            <a:r>
              <a:rPr lang="en-US" sz="2100" spc="-5" dirty="0">
                <a:latin typeface="Tahoma"/>
                <a:cs typeface="Tahoma"/>
              </a:rPr>
              <a:t>secs</a:t>
            </a:r>
            <a:endParaRPr lang="en-US" sz="2100" dirty="0">
              <a:latin typeface="Tahoma"/>
              <a:cs typeface="Tahoma"/>
            </a:endParaRPr>
          </a:p>
          <a:p>
            <a:pPr marL="811530" lvl="1" indent="-342900">
              <a:spcBef>
                <a:spcPts val="465"/>
              </a:spcBef>
              <a:tabLst>
                <a:tab pos="756285" algn="l"/>
                <a:tab pos="756920" algn="l"/>
              </a:tabLst>
            </a:pPr>
            <a:r>
              <a:rPr lang="en-US" sz="1900" spc="-5" dirty="0">
                <a:latin typeface="Tahoma"/>
                <a:cs typeface="Tahoma"/>
              </a:rPr>
              <a:t>Each elementary </a:t>
            </a:r>
            <a:r>
              <a:rPr lang="en-US" sz="1900" spc="-10" dirty="0">
                <a:latin typeface="Tahoma"/>
                <a:cs typeface="Tahoma"/>
              </a:rPr>
              <a:t>operation takes </a:t>
            </a:r>
            <a:r>
              <a:rPr lang="en-US" sz="1900" spc="-5" dirty="0">
                <a:latin typeface="Tahoma"/>
                <a:cs typeface="Tahoma"/>
              </a:rPr>
              <a:t>1</a:t>
            </a:r>
            <a:r>
              <a:rPr lang="en-US" sz="1900" spc="150" dirty="0">
                <a:latin typeface="Tahoma"/>
                <a:cs typeface="Tahoma"/>
              </a:rPr>
              <a:t> </a:t>
            </a:r>
            <a:r>
              <a:rPr lang="en-US" sz="1900" dirty="0">
                <a:latin typeface="Tahoma"/>
                <a:cs typeface="Tahoma"/>
              </a:rPr>
              <a:t>steps</a:t>
            </a:r>
          </a:p>
          <a:p>
            <a:pPr marL="468630" lvl="1" indent="0">
              <a:spcBef>
                <a:spcPts val="465"/>
              </a:spcBef>
              <a:buNone/>
              <a:tabLst>
                <a:tab pos="756285" algn="l"/>
                <a:tab pos="756920" algn="l"/>
              </a:tabLst>
            </a:pPr>
            <a:endParaRPr lang="en-US" sz="1900" dirty="0">
              <a:latin typeface="Tahoma"/>
              <a:cs typeface="Tahoma"/>
            </a:endParaRPr>
          </a:p>
          <a:p>
            <a:pPr marL="354965" indent="-342900">
              <a:spcBef>
                <a:spcPts val="615"/>
              </a:spcBef>
              <a:tabLst>
                <a:tab pos="354965" algn="l"/>
                <a:tab pos="355600" algn="l"/>
              </a:tabLst>
            </a:pPr>
            <a:r>
              <a:rPr lang="en-US" sz="2100" dirty="0">
                <a:latin typeface="Tahoma"/>
                <a:cs typeface="Tahoma"/>
              </a:rPr>
              <a:t>Example</a:t>
            </a:r>
            <a:r>
              <a:rPr lang="en-US" sz="2100" dirty="0">
                <a:solidFill>
                  <a:srgbClr val="0070BF"/>
                </a:solidFill>
                <a:latin typeface="Tahoma"/>
                <a:cs typeface="Tahoma"/>
              </a:rPr>
              <a:t> </a:t>
            </a:r>
            <a:r>
              <a:rPr lang="en-US" sz="2100" spc="-5" dirty="0">
                <a:latin typeface="Tahoma"/>
                <a:cs typeface="Tahoma"/>
              </a:rPr>
              <a:t>of</a:t>
            </a:r>
            <a:r>
              <a:rPr lang="en-US" sz="2100" spc="-45" dirty="0">
                <a:latin typeface="Tahoma"/>
                <a:cs typeface="Tahoma"/>
              </a:rPr>
              <a:t> </a:t>
            </a:r>
            <a:r>
              <a:rPr lang="en-US" sz="2100" dirty="0">
                <a:latin typeface="Tahoma"/>
                <a:cs typeface="Tahoma"/>
              </a:rPr>
              <a:t>operations</a:t>
            </a:r>
          </a:p>
          <a:p>
            <a:pPr marL="811530" lvl="1" indent="-342900">
              <a:spcBef>
                <a:spcPts val="465"/>
              </a:spcBef>
              <a:tabLst>
                <a:tab pos="756285" algn="l"/>
                <a:tab pos="756920" algn="l"/>
              </a:tabLst>
            </a:pPr>
            <a:r>
              <a:rPr lang="en-US" sz="1900" spc="-5" dirty="0">
                <a:latin typeface="Tahoma"/>
                <a:cs typeface="Tahoma"/>
              </a:rPr>
              <a:t>Retrieving/storing </a:t>
            </a:r>
            <a:r>
              <a:rPr lang="en-US" sz="1900" spc="-10" dirty="0">
                <a:latin typeface="Tahoma"/>
                <a:cs typeface="Tahoma"/>
              </a:rPr>
              <a:t>variables from</a:t>
            </a:r>
            <a:r>
              <a:rPr lang="en-US" sz="1900" spc="135" dirty="0">
                <a:latin typeface="Tahoma"/>
                <a:cs typeface="Tahoma"/>
              </a:rPr>
              <a:t> </a:t>
            </a:r>
            <a:r>
              <a:rPr lang="en-US" sz="1900" spc="-5" dirty="0">
                <a:latin typeface="Tahoma"/>
                <a:cs typeface="Tahoma"/>
              </a:rPr>
              <a:t>memory</a:t>
            </a:r>
            <a:endParaRPr lang="en-US" sz="1900" dirty="0">
              <a:latin typeface="Tahoma"/>
              <a:cs typeface="Tahoma"/>
            </a:endParaRPr>
          </a:p>
          <a:p>
            <a:pPr marL="811530" lvl="1" indent="-342900">
              <a:spcBef>
                <a:spcPts val="455"/>
              </a:spcBef>
              <a:tabLst>
                <a:tab pos="756285" algn="l"/>
                <a:tab pos="756920" algn="l"/>
              </a:tabLst>
            </a:pPr>
            <a:r>
              <a:rPr lang="en-US" sz="1900" spc="-10" dirty="0">
                <a:latin typeface="Tahoma"/>
                <a:cs typeface="Tahoma"/>
              </a:rPr>
              <a:t>Variable</a:t>
            </a:r>
            <a:r>
              <a:rPr lang="en-US" sz="1900" spc="30" dirty="0">
                <a:latin typeface="Tahoma"/>
                <a:cs typeface="Tahoma"/>
              </a:rPr>
              <a:t> </a:t>
            </a:r>
            <a:r>
              <a:rPr lang="en-US" sz="1900" spc="-5" dirty="0">
                <a:latin typeface="Tahoma"/>
                <a:cs typeface="Tahoma"/>
              </a:rPr>
              <a:t>assignment</a:t>
            </a:r>
            <a:endParaRPr lang="en-US" sz="1900" dirty="0">
              <a:latin typeface="Tahoma"/>
              <a:cs typeface="Tahoma"/>
            </a:endParaRPr>
          </a:p>
          <a:p>
            <a:pPr marL="811530" lvl="1" indent="-342900">
              <a:spcBef>
                <a:spcPts val="455"/>
              </a:spcBef>
              <a:tabLst>
                <a:tab pos="756285" algn="l"/>
                <a:tab pos="756920" algn="l"/>
              </a:tabLst>
            </a:pPr>
            <a:r>
              <a:rPr lang="en-US" sz="1900" spc="-5" dirty="0">
                <a:latin typeface="Tahoma"/>
                <a:cs typeface="Tahoma"/>
              </a:rPr>
              <a:t>Integer</a:t>
            </a:r>
            <a:r>
              <a:rPr lang="en-US" sz="1900" spc="25" dirty="0">
                <a:latin typeface="Tahoma"/>
                <a:cs typeface="Tahoma"/>
              </a:rPr>
              <a:t> </a:t>
            </a:r>
            <a:r>
              <a:rPr lang="en-US" sz="1900" spc="-5" dirty="0">
                <a:latin typeface="Tahoma"/>
                <a:cs typeface="Tahoma"/>
              </a:rPr>
              <a:t>operations</a:t>
            </a:r>
            <a:endParaRPr lang="en-US" sz="1900" dirty="0">
              <a:latin typeface="Tahoma"/>
              <a:cs typeface="Tahoma"/>
            </a:endParaRPr>
          </a:p>
          <a:p>
            <a:pPr marL="811530" lvl="1" indent="-342900">
              <a:spcBef>
                <a:spcPts val="459"/>
              </a:spcBef>
              <a:tabLst>
                <a:tab pos="756285" algn="l"/>
                <a:tab pos="756920" algn="l"/>
              </a:tabLst>
            </a:pPr>
            <a:r>
              <a:rPr lang="en-US" sz="1900" spc="-5" dirty="0">
                <a:latin typeface="Tahoma"/>
                <a:cs typeface="Tahoma"/>
              </a:rPr>
              <a:t>Logical</a:t>
            </a:r>
            <a:r>
              <a:rPr lang="en-US" sz="1900" spc="-65" dirty="0">
                <a:latin typeface="Tahoma"/>
                <a:cs typeface="Tahoma"/>
              </a:rPr>
              <a:t> </a:t>
            </a:r>
            <a:r>
              <a:rPr lang="en-US" sz="1900" spc="-5" dirty="0">
                <a:latin typeface="Tahoma"/>
                <a:cs typeface="Tahoma"/>
              </a:rPr>
              <a:t>operations</a:t>
            </a:r>
            <a:endParaRPr lang="en-US" sz="1900" dirty="0">
              <a:latin typeface="Tahoma"/>
              <a:cs typeface="Tahoma"/>
            </a:endParaRPr>
          </a:p>
          <a:p>
            <a:pPr marL="811530" lvl="1" indent="-342900">
              <a:spcBef>
                <a:spcPts val="455"/>
              </a:spcBef>
              <a:tabLst>
                <a:tab pos="756285" algn="l"/>
                <a:tab pos="756920" algn="l"/>
              </a:tabLst>
            </a:pPr>
            <a:r>
              <a:rPr lang="en-US" sz="1900" spc="-5" dirty="0">
                <a:latin typeface="Tahoma"/>
                <a:cs typeface="Tahoma"/>
              </a:rPr>
              <a:t>Bitwise </a:t>
            </a:r>
            <a:r>
              <a:rPr lang="en-US" sz="1900" spc="-10" dirty="0">
                <a:latin typeface="Tahoma"/>
                <a:cs typeface="Tahoma"/>
              </a:rPr>
              <a:t>operations</a:t>
            </a:r>
            <a:endParaRPr lang="en-US" sz="1900" dirty="0">
              <a:latin typeface="Tahoma"/>
              <a:cs typeface="Tahoma"/>
            </a:endParaRPr>
          </a:p>
          <a:p>
            <a:pPr marL="811530" lvl="1" indent="-342900">
              <a:spcBef>
                <a:spcPts val="455"/>
              </a:spcBef>
              <a:tabLst>
                <a:tab pos="756285" algn="l"/>
                <a:tab pos="756920" algn="l"/>
              </a:tabLst>
            </a:pPr>
            <a:r>
              <a:rPr lang="en-US" sz="1900" spc="-5" dirty="0">
                <a:latin typeface="Tahoma"/>
                <a:cs typeface="Tahoma"/>
              </a:rPr>
              <a:t>Relational</a:t>
            </a:r>
            <a:r>
              <a:rPr lang="en-US" sz="1900" spc="30" dirty="0">
                <a:latin typeface="Tahoma"/>
                <a:cs typeface="Tahoma"/>
              </a:rPr>
              <a:t> </a:t>
            </a:r>
            <a:r>
              <a:rPr lang="en-US" sz="1900" spc="-5" dirty="0">
                <a:latin typeface="Tahoma"/>
                <a:cs typeface="Tahoma"/>
              </a:rPr>
              <a:t>operations</a:t>
            </a:r>
            <a:endParaRPr lang="en-US" sz="1900" dirty="0">
              <a:latin typeface="Tahoma"/>
              <a:cs typeface="Tahoma"/>
            </a:endParaRPr>
          </a:p>
          <a:p>
            <a:pPr marL="811530" lvl="1" indent="-342900">
              <a:spcBef>
                <a:spcPts val="455"/>
              </a:spcBef>
              <a:tabLst>
                <a:tab pos="756285" algn="l"/>
                <a:tab pos="756920" algn="l"/>
              </a:tabLst>
            </a:pPr>
            <a:r>
              <a:rPr lang="en-US" sz="1900" spc="-5" dirty="0">
                <a:latin typeface="Tahoma"/>
                <a:cs typeface="Tahoma"/>
              </a:rPr>
              <a:t>Memory allocation </a:t>
            </a:r>
            <a:r>
              <a:rPr lang="en-US" sz="1900" spc="-10" dirty="0">
                <a:latin typeface="Tahoma"/>
                <a:cs typeface="Tahoma"/>
              </a:rPr>
              <a:t>and</a:t>
            </a:r>
            <a:r>
              <a:rPr lang="en-US" sz="1900" spc="85" dirty="0">
                <a:latin typeface="Tahoma"/>
                <a:cs typeface="Tahoma"/>
              </a:rPr>
              <a:t> </a:t>
            </a:r>
            <a:r>
              <a:rPr lang="en-US" sz="1900" spc="-5" dirty="0">
                <a:latin typeface="Tahoma"/>
                <a:cs typeface="Tahoma"/>
              </a:rPr>
              <a:t>deallocation</a:t>
            </a:r>
            <a:endParaRPr lang="en-US" sz="1900" dirty="0">
              <a:latin typeface="Tahoma"/>
              <a:cs typeface="Tahoma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70305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791E25-3EB4-4881-BFA1-FE916B31BC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spc="-5" dirty="0"/>
              <a:t>Analyzing </a:t>
            </a:r>
            <a:r>
              <a:rPr lang="en-US" sz="3600" dirty="0"/>
              <a:t>an </a:t>
            </a:r>
            <a:r>
              <a:rPr lang="en-US" sz="3600" spc="-5" dirty="0"/>
              <a:t>Algorithm – Blocks </a:t>
            </a:r>
            <a:r>
              <a:rPr lang="en-US" sz="3600" spc="5" dirty="0"/>
              <a:t>of </a:t>
            </a:r>
            <a:r>
              <a:rPr lang="en-US" sz="3600" spc="-5" dirty="0"/>
              <a:t>Operations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C6955-E965-4944-9686-2A3893D83C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965" indent="-342900">
              <a:spcBef>
                <a:spcPts val="600"/>
              </a:spcBef>
              <a:tabLst>
                <a:tab pos="356235" algn="l"/>
                <a:tab pos="356870" algn="l"/>
              </a:tabLst>
            </a:pPr>
            <a:r>
              <a:rPr lang="en-US" sz="2400" spc="-10" dirty="0"/>
              <a:t>Each </a:t>
            </a:r>
            <a:r>
              <a:rPr lang="en-US" sz="2400" spc="-5" dirty="0"/>
              <a:t>operation </a:t>
            </a:r>
            <a:r>
              <a:rPr lang="en-US" sz="2400" dirty="0"/>
              <a:t>runs </a:t>
            </a:r>
            <a:r>
              <a:rPr lang="en-US" sz="2400" spc="-5" dirty="0"/>
              <a:t>in </a:t>
            </a:r>
            <a:r>
              <a:rPr lang="en-US" sz="2400" dirty="0"/>
              <a:t>a step </a:t>
            </a:r>
            <a:r>
              <a:rPr lang="en-US" sz="2400" spc="-5" dirty="0"/>
              <a:t>of </a:t>
            </a:r>
            <a:r>
              <a:rPr lang="en-US" sz="2400" dirty="0"/>
              <a:t>1 time</a:t>
            </a:r>
            <a:r>
              <a:rPr lang="en-US" sz="2400" spc="5" dirty="0"/>
              <a:t> </a:t>
            </a:r>
            <a:r>
              <a:rPr lang="en-US" sz="2400" dirty="0"/>
              <a:t>unit</a:t>
            </a:r>
          </a:p>
          <a:p>
            <a:pPr marL="12065" indent="0">
              <a:spcBef>
                <a:spcPts val="600"/>
              </a:spcBef>
              <a:buNone/>
              <a:tabLst>
                <a:tab pos="356235" algn="l"/>
                <a:tab pos="356870" algn="l"/>
              </a:tabLst>
            </a:pPr>
            <a:endParaRPr lang="en-US" sz="2400" dirty="0"/>
          </a:p>
          <a:p>
            <a:pPr marL="354965" indent="-342900">
              <a:spcBef>
                <a:spcPts val="505"/>
              </a:spcBef>
              <a:tabLst>
                <a:tab pos="356235" algn="l"/>
                <a:tab pos="356870" algn="l"/>
              </a:tabLst>
            </a:pPr>
            <a:r>
              <a:rPr lang="en-US" sz="2400" spc="-5" dirty="0"/>
              <a:t>Therefore any fixed </a:t>
            </a:r>
            <a:r>
              <a:rPr lang="en-US" sz="2400" dirty="0"/>
              <a:t>number </a:t>
            </a:r>
            <a:r>
              <a:rPr lang="en-US" sz="2400" spc="5" dirty="0"/>
              <a:t>of </a:t>
            </a:r>
            <a:r>
              <a:rPr lang="en-US" sz="2400" spc="-5" dirty="0"/>
              <a:t>operations also run in </a:t>
            </a:r>
            <a:r>
              <a:rPr lang="en-US" sz="2400" dirty="0"/>
              <a:t>1 </a:t>
            </a:r>
            <a:r>
              <a:rPr lang="en-US" sz="2400" spc="-5" dirty="0"/>
              <a:t>time</a:t>
            </a:r>
            <a:r>
              <a:rPr lang="en-US" sz="2400" spc="55" dirty="0"/>
              <a:t> </a:t>
            </a:r>
            <a:r>
              <a:rPr lang="en-US" sz="2400" dirty="0"/>
              <a:t>step</a:t>
            </a:r>
          </a:p>
          <a:p>
            <a:pPr marL="354965" indent="-342900">
              <a:spcBef>
                <a:spcPts val="505"/>
              </a:spcBef>
              <a:tabLst>
                <a:tab pos="356235" algn="l"/>
                <a:tab pos="356870" algn="l"/>
              </a:tabLst>
            </a:pPr>
            <a:endParaRPr lang="en-US" sz="2400" dirty="0"/>
          </a:p>
          <a:p>
            <a:pPr marL="812165" lvl="1" indent="-285750">
              <a:spcBef>
                <a:spcPts val="355"/>
              </a:spcBef>
              <a:tabLst>
                <a:tab pos="756285" algn="l"/>
                <a:tab pos="1288415" algn="l"/>
                <a:tab pos="1820545" algn="l"/>
                <a:tab pos="2222500" algn="l"/>
                <a:tab pos="2487295" algn="l"/>
              </a:tabLst>
            </a:pPr>
            <a:r>
              <a:rPr lang="en-US" sz="2000" spc="195" dirty="0"/>
              <a:t>s1;	</a:t>
            </a:r>
            <a:r>
              <a:rPr lang="en-US" sz="2000" spc="200" dirty="0"/>
              <a:t>s2;	</a:t>
            </a:r>
            <a:r>
              <a:rPr lang="en-US" sz="2000" spc="-165" dirty="0"/>
              <a:t>….	</a:t>
            </a:r>
            <a:r>
              <a:rPr lang="en-US" sz="2000" spc="509" dirty="0"/>
              <a:t>;	</a:t>
            </a:r>
            <a:r>
              <a:rPr lang="en-US" sz="2000" spc="95" dirty="0" err="1"/>
              <a:t>sk</a:t>
            </a:r>
            <a:endParaRPr lang="en-US" sz="2000" dirty="0"/>
          </a:p>
          <a:p>
            <a:pPr marL="812165" lvl="1" indent="-285750">
              <a:spcBef>
                <a:spcPts val="565"/>
              </a:spcBef>
              <a:tabLst>
                <a:tab pos="756285" algn="l"/>
              </a:tabLst>
            </a:pPr>
            <a:r>
              <a:rPr lang="en-US" sz="2000" spc="-5" dirty="0"/>
              <a:t>As </a:t>
            </a:r>
            <a:r>
              <a:rPr lang="en-US" sz="2000" spc="-10" dirty="0"/>
              <a:t>long as number of </a:t>
            </a:r>
            <a:r>
              <a:rPr lang="en-US" sz="2000" spc="-5" dirty="0"/>
              <a:t>operations k is</a:t>
            </a:r>
            <a:r>
              <a:rPr lang="en-US" sz="2000" spc="229" dirty="0"/>
              <a:t> </a:t>
            </a:r>
            <a:r>
              <a:rPr lang="en-US" sz="2000" spc="-5" dirty="0"/>
              <a:t>constant</a:t>
            </a:r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55177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0093A4-E305-4EEB-A282-7155C495E1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>
                <a:solidFill>
                  <a:srgbClr val="000000"/>
                </a:solidFill>
                <a:cs typeface="AR PL SungtiL GB" charset="0"/>
              </a:rPr>
              <a:t>Example</a:t>
            </a: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CE43926A-5BB9-4CFB-B28D-7DE632B2EE3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3145" y="1499394"/>
            <a:ext cx="6191250" cy="2851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BBCB7A5-39E8-4237-B55B-A6EF7CBF0143}"/>
              </a:ext>
            </a:extLst>
          </p:cNvPr>
          <p:cNvSpPr txBox="1"/>
          <p:nvPr/>
        </p:nvSpPr>
        <p:spPr>
          <a:xfrm>
            <a:off x="3609975" y="4590315"/>
            <a:ext cx="60960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8925" indent="-285750" eaLnBrk="1" hangingPunct="1">
              <a:spcBef>
                <a:spcPts val="600"/>
              </a:spcBef>
              <a:buClr>
                <a:schemeClr val="accent1"/>
              </a:buClr>
              <a:buSzPct val="100000"/>
              <a:buFont typeface="Century Gothic" panose="020B0502020202020204" pitchFamily="34" charset="0"/>
              <a:buChar char="►"/>
              <a:defRPr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Lines 1 and 4 count for one unit each.</a:t>
            </a:r>
          </a:p>
          <a:p>
            <a:pPr marL="288925" indent="-285750" eaLnBrk="1" hangingPunct="1">
              <a:spcBef>
                <a:spcPts val="600"/>
              </a:spcBef>
              <a:buClr>
                <a:schemeClr val="accent1"/>
              </a:buClr>
              <a:buSzPct val="100000"/>
              <a:buFont typeface="Century Gothic" panose="020B0502020202020204" pitchFamily="34" charset="0"/>
              <a:buChar char="►"/>
              <a:defRPr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Line 3: executed N times, each time four units.</a:t>
            </a:r>
          </a:p>
          <a:p>
            <a:pPr marL="288925" indent="-285750" eaLnBrk="1" hangingPunct="1">
              <a:spcBef>
                <a:spcPts val="600"/>
              </a:spcBef>
              <a:buClr>
                <a:schemeClr val="accent1"/>
              </a:buClr>
              <a:buSzPct val="100000"/>
              <a:buFont typeface="Century Gothic" panose="020B0502020202020204" pitchFamily="34" charset="0"/>
              <a:buChar char="►"/>
              <a:defRPr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Line 2: (1 for initialization, N+1 for all tests, N for all increments) total 2N + 2.</a:t>
            </a:r>
          </a:p>
          <a:p>
            <a:pPr marL="288925" indent="-285750" eaLnBrk="1" hangingPunct="1">
              <a:spcBef>
                <a:spcPts val="600"/>
              </a:spcBef>
              <a:buClr>
                <a:schemeClr val="accent1"/>
              </a:buClr>
              <a:buSzPct val="100000"/>
              <a:buFont typeface="Century Gothic" panose="020B0502020202020204" pitchFamily="34" charset="0"/>
              <a:buChar char="►"/>
              <a:defRPr/>
            </a:pPr>
            <a:r>
              <a:rPr lang="en-US" altLang="en-US" sz="1800" dirty="0">
                <a:latin typeface="Calibri" panose="020F0502020204030204" pitchFamily="34" charset="0"/>
                <a:cs typeface="Calibri" panose="020F0502020204030204" pitchFamily="34" charset="0"/>
              </a:rPr>
              <a:t>total time units: 6N + 4</a:t>
            </a: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0668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0F3059-06CD-4819-83FE-DADA6754A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Analyzing </a:t>
            </a:r>
            <a:r>
              <a:rPr lang="en-US" dirty="0"/>
              <a:t>an</a:t>
            </a:r>
            <a:r>
              <a:rPr lang="en-US" spc="-55" dirty="0"/>
              <a:t> </a:t>
            </a:r>
            <a:r>
              <a:rPr lang="en-US" spc="-5" dirty="0"/>
              <a:t>Algorithm</a:t>
            </a:r>
            <a:endParaRPr 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FA9E316-E48E-4E26-BDD4-697A9444034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494533" y="1281554"/>
            <a:ext cx="5108473" cy="337914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BF68E7B-1636-476C-9045-9BA58EF2D329}"/>
              </a:ext>
            </a:extLst>
          </p:cNvPr>
          <p:cNvSpPr txBox="1"/>
          <p:nvPr/>
        </p:nvSpPr>
        <p:spPr>
          <a:xfrm>
            <a:off x="4086225" y="4911313"/>
            <a:ext cx="609600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8925" indent="-28575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Century Gothic" panose="020B0502020202020204" pitchFamily="34" charset="0"/>
              <a:buChar char="►"/>
              <a:tabLst>
                <a:tab pos="356235" algn="l"/>
                <a:tab pos="356870" algn="l"/>
              </a:tabLst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Operations 1,2,8 are executed once</a:t>
            </a:r>
          </a:p>
          <a:p>
            <a:pPr marL="288925" indent="-28575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Century Gothic" panose="020B0502020202020204" pitchFamily="34" charset="0"/>
              <a:buChar char="►"/>
              <a:tabLst>
                <a:tab pos="356235" algn="l"/>
                <a:tab pos="356870" algn="l"/>
              </a:tabLst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Operations 4,5,6,7: Once per each iteration of for loop n iteration</a:t>
            </a:r>
          </a:p>
          <a:p>
            <a:pPr marL="288925" indent="-28575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Century Gothic" panose="020B0502020202020204" pitchFamily="34" charset="0"/>
              <a:buChar char="►"/>
              <a:tabLst>
                <a:tab pos="356235" algn="l"/>
                <a:tab pos="356870" algn="l"/>
              </a:tabLst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Operation 3 is executed n+1 times</a:t>
            </a:r>
          </a:p>
          <a:p>
            <a:pPr marL="288925" indent="-285750">
              <a:lnSpc>
                <a:spcPct val="100000"/>
              </a:lnSpc>
              <a:spcBef>
                <a:spcPts val="600"/>
              </a:spcBef>
              <a:buClr>
                <a:schemeClr val="accent1"/>
              </a:buClr>
              <a:buSzPct val="100000"/>
              <a:buFont typeface="Century Gothic" panose="020B0502020202020204" pitchFamily="34" charset="0"/>
              <a:buChar char="►"/>
              <a:tabLst>
                <a:tab pos="356235" algn="l"/>
                <a:tab pos="356870" algn="l"/>
              </a:tabLst>
              <a:defRPr/>
            </a:pP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The complexity function of the algorithm is : T(n) = 5n +4</a:t>
            </a:r>
          </a:p>
        </p:txBody>
      </p:sp>
    </p:spTree>
    <p:extLst>
      <p:ext uri="{BB962C8B-B14F-4D97-AF65-F5344CB8AC3E}">
        <p14:creationId xmlns:p14="http://schemas.microsoft.com/office/powerpoint/2010/main" val="11827305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552A6-3067-4879-8675-6E0AAC97B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spc="-5" dirty="0"/>
              <a:t>Analyzing </a:t>
            </a:r>
            <a:r>
              <a:rPr lang="en-US" sz="4000" dirty="0"/>
              <a:t>an</a:t>
            </a:r>
            <a:r>
              <a:rPr lang="en-US" sz="4000" spc="-55" dirty="0"/>
              <a:t> </a:t>
            </a:r>
            <a:r>
              <a:rPr lang="en-US" sz="4000" spc="-5" dirty="0"/>
              <a:t>Algorithm – Growth</a:t>
            </a:r>
            <a:r>
              <a:rPr lang="en-US" sz="4000" spc="20" dirty="0"/>
              <a:t> </a:t>
            </a:r>
            <a:r>
              <a:rPr lang="en-US" sz="4000" spc="-5" dirty="0"/>
              <a:t>Rate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40F63-2F74-4778-AC23-51AE1FDBE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spc="-5" dirty="0">
                <a:latin typeface="Tahoma"/>
                <a:cs typeface="Tahoma"/>
              </a:rPr>
              <a:t>Estimated </a:t>
            </a:r>
            <a:r>
              <a:rPr lang="en-US" sz="2000" dirty="0">
                <a:latin typeface="Tahoma"/>
                <a:cs typeface="Tahoma"/>
              </a:rPr>
              <a:t>running time for different </a:t>
            </a:r>
            <a:r>
              <a:rPr lang="en-US" sz="2000" spc="-5" dirty="0">
                <a:latin typeface="Tahoma"/>
                <a:cs typeface="Tahoma"/>
              </a:rPr>
              <a:t>values of</a:t>
            </a:r>
            <a:r>
              <a:rPr lang="en-US" sz="2000" spc="-95" dirty="0">
                <a:latin typeface="Tahoma"/>
                <a:cs typeface="Tahoma"/>
              </a:rPr>
              <a:t> </a:t>
            </a:r>
            <a:r>
              <a:rPr lang="en-US" sz="2000" dirty="0">
                <a:latin typeface="Tahoma"/>
                <a:cs typeface="Tahoma"/>
              </a:rPr>
              <a:t>n:</a:t>
            </a:r>
          </a:p>
          <a:p>
            <a:pPr marL="412741" lvl="1">
              <a:spcBef>
                <a:spcPts val="555"/>
              </a:spcBef>
              <a:tabLst>
                <a:tab pos="299085" algn="l"/>
              </a:tabLst>
            </a:pPr>
            <a:r>
              <a:rPr lang="pt-BR" spc="-5" dirty="0">
                <a:latin typeface="Tahoma"/>
                <a:cs typeface="Tahoma"/>
              </a:rPr>
              <a:t>n = </a:t>
            </a:r>
            <a:r>
              <a:rPr lang="pt-BR" dirty="0">
                <a:latin typeface="Tahoma"/>
                <a:cs typeface="Tahoma"/>
              </a:rPr>
              <a:t>10			</a:t>
            </a:r>
            <a:r>
              <a:rPr lang="en-US" sz="1800" spc="-5" dirty="0">
                <a:latin typeface="Tahoma"/>
                <a:cs typeface="Tahoma"/>
              </a:rPr>
              <a:t>=&gt; </a:t>
            </a:r>
            <a:r>
              <a:rPr lang="en-US" sz="1800" spc="-10" dirty="0">
                <a:latin typeface="Tahoma"/>
                <a:cs typeface="Tahoma"/>
              </a:rPr>
              <a:t>54</a:t>
            </a:r>
            <a:r>
              <a:rPr lang="en-US" sz="1800" spc="25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steps</a:t>
            </a:r>
            <a:endParaRPr lang="pt-BR" dirty="0">
              <a:latin typeface="Tahoma"/>
              <a:cs typeface="Tahoma"/>
            </a:endParaRPr>
          </a:p>
          <a:p>
            <a:pPr marL="412741" lvl="1">
              <a:spcBef>
                <a:spcPts val="455"/>
              </a:spcBef>
              <a:tabLst>
                <a:tab pos="299085" algn="l"/>
              </a:tabLst>
            </a:pPr>
            <a:r>
              <a:rPr lang="pt-BR" spc="-5" dirty="0">
                <a:latin typeface="Tahoma"/>
                <a:cs typeface="Tahoma"/>
              </a:rPr>
              <a:t>n = </a:t>
            </a:r>
            <a:r>
              <a:rPr lang="pt-BR" spc="-10" dirty="0">
                <a:latin typeface="Tahoma"/>
                <a:cs typeface="Tahoma"/>
              </a:rPr>
              <a:t>100			</a:t>
            </a:r>
            <a:r>
              <a:rPr lang="en-US" sz="1800" spc="-5" dirty="0">
                <a:latin typeface="Tahoma"/>
                <a:cs typeface="Tahoma"/>
              </a:rPr>
              <a:t>=&gt; </a:t>
            </a:r>
            <a:r>
              <a:rPr lang="en-US" sz="1800" spc="-10" dirty="0">
                <a:latin typeface="Tahoma"/>
                <a:cs typeface="Tahoma"/>
              </a:rPr>
              <a:t>504</a:t>
            </a:r>
            <a:r>
              <a:rPr lang="en-US" sz="1800" spc="25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steps</a:t>
            </a:r>
            <a:endParaRPr lang="pt-BR" dirty="0">
              <a:latin typeface="Tahoma"/>
              <a:cs typeface="Tahoma"/>
            </a:endParaRPr>
          </a:p>
          <a:p>
            <a:pPr marL="412741" lvl="1">
              <a:spcBef>
                <a:spcPts val="459"/>
              </a:spcBef>
              <a:tabLst>
                <a:tab pos="299085" algn="l"/>
              </a:tabLst>
            </a:pPr>
            <a:r>
              <a:rPr lang="pt-BR" spc="-5" dirty="0">
                <a:latin typeface="Tahoma"/>
                <a:cs typeface="Tahoma"/>
              </a:rPr>
              <a:t>n = </a:t>
            </a:r>
            <a:r>
              <a:rPr lang="pt-BR" spc="-10" dirty="0">
                <a:latin typeface="Tahoma"/>
                <a:cs typeface="Tahoma"/>
              </a:rPr>
              <a:t>1,000		</a:t>
            </a:r>
            <a:r>
              <a:rPr lang="en-US" sz="1800" spc="-5" dirty="0">
                <a:latin typeface="Tahoma"/>
                <a:cs typeface="Tahoma"/>
              </a:rPr>
              <a:t>=&gt; </a:t>
            </a:r>
            <a:r>
              <a:rPr lang="en-US" sz="1800" spc="-10" dirty="0">
                <a:latin typeface="Tahoma"/>
                <a:cs typeface="Tahoma"/>
              </a:rPr>
              <a:t>5004</a:t>
            </a:r>
            <a:r>
              <a:rPr lang="en-US" sz="1800" spc="25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steps</a:t>
            </a:r>
            <a:endParaRPr lang="pt-BR" dirty="0">
              <a:latin typeface="Tahoma"/>
              <a:cs typeface="Tahoma"/>
            </a:endParaRPr>
          </a:p>
          <a:p>
            <a:pPr marL="412741" lvl="1">
              <a:spcBef>
                <a:spcPts val="455"/>
              </a:spcBef>
              <a:tabLst>
                <a:tab pos="299085" algn="l"/>
              </a:tabLst>
            </a:pPr>
            <a:r>
              <a:rPr lang="pt-BR" spc="-5" dirty="0">
                <a:latin typeface="Tahoma"/>
                <a:cs typeface="Tahoma"/>
              </a:rPr>
              <a:t>n =</a:t>
            </a:r>
            <a:r>
              <a:rPr lang="pt-BR" spc="-40" dirty="0">
                <a:latin typeface="Tahoma"/>
                <a:cs typeface="Tahoma"/>
              </a:rPr>
              <a:t> </a:t>
            </a:r>
            <a:r>
              <a:rPr lang="pt-BR" spc="-10" dirty="0">
                <a:latin typeface="Tahoma"/>
                <a:cs typeface="Tahoma"/>
              </a:rPr>
              <a:t>1,000,000	</a:t>
            </a:r>
            <a:r>
              <a:rPr lang="en-US" sz="1800" spc="-5" dirty="0">
                <a:latin typeface="Tahoma"/>
                <a:cs typeface="Tahoma"/>
              </a:rPr>
              <a:t>=&gt; </a:t>
            </a:r>
            <a:r>
              <a:rPr lang="en-US" sz="1800" spc="-10" dirty="0">
                <a:latin typeface="Tahoma"/>
                <a:cs typeface="Tahoma"/>
              </a:rPr>
              <a:t>5000004</a:t>
            </a:r>
            <a:r>
              <a:rPr lang="en-US" sz="1800" spc="25" dirty="0">
                <a:latin typeface="Tahoma"/>
                <a:cs typeface="Tahoma"/>
              </a:rPr>
              <a:t> </a:t>
            </a:r>
            <a:r>
              <a:rPr lang="en-US" sz="1800" spc="-5" dirty="0">
                <a:latin typeface="Tahoma"/>
                <a:cs typeface="Tahoma"/>
              </a:rPr>
              <a:t>steps</a:t>
            </a:r>
          </a:p>
          <a:p>
            <a:pPr marL="412741" lvl="1">
              <a:spcBef>
                <a:spcPts val="455"/>
              </a:spcBef>
              <a:tabLst>
                <a:tab pos="299085" algn="l"/>
              </a:tabLst>
            </a:pPr>
            <a:endParaRPr lang="en-US" spc="-5" dirty="0">
              <a:latin typeface="Tahoma"/>
              <a:cs typeface="Tahoma"/>
            </a:endParaRPr>
          </a:p>
          <a:p>
            <a:pPr marL="12700">
              <a:spcBef>
                <a:spcPts val="455"/>
              </a:spcBef>
              <a:tabLst>
                <a:tab pos="299085" algn="l"/>
              </a:tabLst>
            </a:pPr>
            <a:r>
              <a:rPr lang="en-US" sz="2000" dirty="0">
                <a:latin typeface="Tahoma"/>
                <a:cs typeface="Tahoma"/>
              </a:rPr>
              <a:t>As </a:t>
            </a:r>
            <a:r>
              <a:rPr lang="en-US" sz="2000" spc="-5" dirty="0">
                <a:latin typeface="Tahoma"/>
                <a:cs typeface="Tahoma"/>
              </a:rPr>
              <a:t>n grows, </a:t>
            </a:r>
            <a:r>
              <a:rPr lang="en-US" sz="2000" dirty="0">
                <a:latin typeface="Tahoma"/>
                <a:cs typeface="Tahoma"/>
              </a:rPr>
              <a:t>number </a:t>
            </a:r>
            <a:r>
              <a:rPr lang="en-US" sz="2000" spc="-5" dirty="0">
                <a:latin typeface="Tahoma"/>
                <a:cs typeface="Tahoma"/>
              </a:rPr>
              <a:t>of steps T(n) grow in linear proportion to</a:t>
            </a:r>
            <a:r>
              <a:rPr lang="en-US" sz="2000" spc="130" dirty="0">
                <a:latin typeface="Tahoma"/>
                <a:cs typeface="Tahoma"/>
              </a:rPr>
              <a:t> </a:t>
            </a:r>
            <a:r>
              <a:rPr lang="en-US" sz="2000" spc="-5" dirty="0">
                <a:latin typeface="Tahoma"/>
                <a:cs typeface="Tahoma"/>
              </a:rPr>
              <a:t>n</a:t>
            </a:r>
            <a:endParaRPr lang="en-US" sz="2000" dirty="0">
              <a:latin typeface="Tahoma"/>
              <a:cs typeface="Tahoma"/>
            </a:endParaRPr>
          </a:p>
          <a:p>
            <a:pPr marL="0" indent="0">
              <a:spcBef>
                <a:spcPts val="455"/>
              </a:spcBef>
              <a:buNone/>
              <a:tabLst>
                <a:tab pos="299085" algn="l"/>
              </a:tabLst>
            </a:pPr>
            <a:endParaRPr lang="en-US" dirty="0">
              <a:latin typeface="Tahoma"/>
              <a:cs typeface="Tahoma"/>
            </a:endParaRPr>
          </a:p>
          <a:p>
            <a:pPr marL="126997" lvl="1" indent="0">
              <a:spcBef>
                <a:spcPts val="455"/>
              </a:spcBef>
              <a:buNone/>
              <a:tabLst>
                <a:tab pos="299085" algn="l"/>
              </a:tabLst>
            </a:pPr>
            <a:endParaRPr lang="pt-BR" dirty="0">
              <a:latin typeface="Tahoma"/>
              <a:cs typeface="Tahoma"/>
            </a:endParaRP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31860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7CB06-A84F-4EE1-937B-71B7C5569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000" dirty="0"/>
              <a:t>Types of Algorithms in Relation to Time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F90975-CEBC-4081-9BC6-88238CF496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lnSpc>
                <a:spcPct val="80000"/>
              </a:lnSpc>
              <a:spcBef>
                <a:spcPts val="750"/>
              </a:spcBef>
            </a:pPr>
            <a:r>
              <a:rPr lang="en-US" altLang="en-US" sz="3000" b="1" dirty="0"/>
              <a:t>Linear Algorithm</a:t>
            </a:r>
          </a:p>
          <a:p>
            <a:pPr lvl="1" algn="l">
              <a:lnSpc>
                <a:spcPct val="80000"/>
              </a:lnSpc>
              <a:spcBef>
                <a:spcPts val="650"/>
              </a:spcBef>
            </a:pPr>
            <a:r>
              <a:rPr lang="en-US" altLang="en-US" sz="2600" dirty="0"/>
              <a:t>Takes a time in order of n (n is </a:t>
            </a:r>
            <a:r>
              <a:rPr lang="en-GB" altLang="en-US" sz="2600" dirty="0"/>
              <a:t>size of instances)</a:t>
            </a:r>
          </a:p>
          <a:p>
            <a:pPr algn="l">
              <a:lnSpc>
                <a:spcPct val="80000"/>
              </a:lnSpc>
              <a:spcBef>
                <a:spcPts val="750"/>
              </a:spcBef>
            </a:pPr>
            <a:r>
              <a:rPr lang="en-US" altLang="en-US" sz="3000" b="1" dirty="0"/>
              <a:t>Quadratic Algorithm</a:t>
            </a:r>
          </a:p>
          <a:p>
            <a:pPr lvl="1" algn="l">
              <a:lnSpc>
                <a:spcPct val="80000"/>
              </a:lnSpc>
              <a:spcBef>
                <a:spcPts val="650"/>
              </a:spcBef>
            </a:pPr>
            <a:r>
              <a:rPr lang="en-US" altLang="en-US" sz="2600" dirty="0"/>
              <a:t>Takes a time in order of n</a:t>
            </a:r>
            <a:r>
              <a:rPr lang="en-US" altLang="en-US" sz="2600" baseline="30000" dirty="0"/>
              <a:t>2</a:t>
            </a:r>
          </a:p>
          <a:p>
            <a:pPr algn="l">
              <a:lnSpc>
                <a:spcPct val="80000"/>
              </a:lnSpc>
              <a:spcBef>
                <a:spcPts val="750"/>
              </a:spcBef>
            </a:pPr>
            <a:r>
              <a:rPr lang="en-US" altLang="en-US" sz="3000" b="1" dirty="0"/>
              <a:t>Cubic Algorithm</a:t>
            </a:r>
          </a:p>
          <a:p>
            <a:pPr lvl="1" algn="l">
              <a:lnSpc>
                <a:spcPct val="80000"/>
              </a:lnSpc>
              <a:spcBef>
                <a:spcPts val="650"/>
              </a:spcBef>
            </a:pPr>
            <a:r>
              <a:rPr lang="en-US" altLang="en-US" sz="2600" dirty="0"/>
              <a:t>Takes a time in order of n</a:t>
            </a:r>
            <a:r>
              <a:rPr lang="en-US" altLang="en-US" sz="2600" baseline="30000" dirty="0"/>
              <a:t>3</a:t>
            </a:r>
          </a:p>
          <a:p>
            <a:pPr algn="l">
              <a:lnSpc>
                <a:spcPct val="80000"/>
              </a:lnSpc>
              <a:spcBef>
                <a:spcPts val="750"/>
              </a:spcBef>
            </a:pPr>
            <a:r>
              <a:rPr lang="en-US" altLang="en-US" sz="3000" b="1" dirty="0"/>
              <a:t>Polynomial Algorithm</a:t>
            </a:r>
          </a:p>
          <a:p>
            <a:pPr lvl="1" algn="l">
              <a:lnSpc>
                <a:spcPct val="80000"/>
              </a:lnSpc>
              <a:spcBef>
                <a:spcPts val="650"/>
              </a:spcBef>
            </a:pPr>
            <a:r>
              <a:rPr lang="en-US" altLang="en-US" sz="2600" dirty="0"/>
              <a:t>Takes a time in order of </a:t>
            </a:r>
            <a:r>
              <a:rPr lang="en-US" altLang="en-US" sz="2600" dirty="0" err="1"/>
              <a:t>n</a:t>
            </a:r>
            <a:r>
              <a:rPr lang="en-US" altLang="en-US" sz="2600" baseline="30000" dirty="0" err="1"/>
              <a:t>k</a:t>
            </a:r>
            <a:r>
              <a:rPr lang="en-US" altLang="en-US" sz="2600" baseline="30000" dirty="0"/>
              <a:t>   </a:t>
            </a:r>
            <a:r>
              <a:rPr lang="en-GB" altLang="en-US" sz="2600" dirty="0"/>
              <a:t>(k is constant)</a:t>
            </a:r>
          </a:p>
          <a:p>
            <a:pPr algn="l">
              <a:lnSpc>
                <a:spcPct val="80000"/>
              </a:lnSpc>
              <a:spcBef>
                <a:spcPts val="750"/>
              </a:spcBef>
            </a:pPr>
            <a:r>
              <a:rPr lang="en-US" altLang="en-US" sz="3000" b="1" dirty="0"/>
              <a:t>Exponential Algorithm</a:t>
            </a:r>
          </a:p>
          <a:p>
            <a:pPr lvl="1" algn="l">
              <a:lnSpc>
                <a:spcPct val="80000"/>
              </a:lnSpc>
              <a:spcBef>
                <a:spcPts val="650"/>
              </a:spcBef>
            </a:pPr>
            <a:r>
              <a:rPr lang="en-US" altLang="en-US" sz="2600" dirty="0"/>
              <a:t>Takes a time in order of </a:t>
            </a:r>
            <a:r>
              <a:rPr lang="en-US" altLang="en-US" sz="2600" dirty="0" err="1"/>
              <a:t>c</a:t>
            </a:r>
            <a:r>
              <a:rPr lang="en-US" altLang="en-US" sz="2600" baseline="30000" dirty="0" err="1"/>
              <a:t>n</a:t>
            </a:r>
            <a:r>
              <a:rPr lang="en-US" altLang="en-US" sz="2600" dirty="0"/>
              <a:t>  </a:t>
            </a:r>
            <a:r>
              <a:rPr lang="en-GB" altLang="en-US" sz="2600" dirty="0"/>
              <a:t>(c is constant)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88931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8">
            <a:extLst>
              <a:ext uri="{FF2B5EF4-FFF2-40B4-BE49-F238E27FC236}">
                <a16:creationId xmlns:a16="http://schemas.microsoft.com/office/drawing/2014/main" id="{58DF5B7A-7785-49C6-B4EB-252FF28C21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78BD0529-90E2-47B4-8D13-CEE11A154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AE127430-162B-43FD-A02F-6E8AD8FD9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7A6023CB-BCF4-4A3C-B04B-EFF677921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98B0FCF0-0865-45E1-977A-5BFDD0EFC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4" name="Freeform 15">
              <a:extLst>
                <a:ext uri="{FF2B5EF4-FFF2-40B4-BE49-F238E27FC236}">
                  <a16:creationId xmlns:a16="http://schemas.microsoft.com/office/drawing/2014/main" id="{C1FF2792-ADB4-44D2-B7EF-6E3503725D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5" name="Freeform 16">
              <a:extLst>
                <a:ext uri="{FF2B5EF4-FFF2-40B4-BE49-F238E27FC236}">
                  <a16:creationId xmlns:a16="http://schemas.microsoft.com/office/drawing/2014/main" id="{B7B0F0A2-D4CD-4EA5-96E9-9E282F25CD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6" name="Freeform 17">
              <a:extLst>
                <a:ext uri="{FF2B5EF4-FFF2-40B4-BE49-F238E27FC236}">
                  <a16:creationId xmlns:a16="http://schemas.microsoft.com/office/drawing/2014/main" id="{FBBC4912-27C6-4C5E-9C40-AE9B6644E5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7" name="Freeform 18">
              <a:extLst>
                <a:ext uri="{FF2B5EF4-FFF2-40B4-BE49-F238E27FC236}">
                  <a16:creationId xmlns:a16="http://schemas.microsoft.com/office/drawing/2014/main" id="{127E474D-BE64-49E8-8C82-691642D0BC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8" name="Freeform 19">
              <a:extLst>
                <a:ext uri="{FF2B5EF4-FFF2-40B4-BE49-F238E27FC236}">
                  <a16:creationId xmlns:a16="http://schemas.microsoft.com/office/drawing/2014/main" id="{A385E451-43CB-441B-83EE-28ACB6BCBC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19" name="Freeform 20">
              <a:extLst>
                <a:ext uri="{FF2B5EF4-FFF2-40B4-BE49-F238E27FC236}">
                  <a16:creationId xmlns:a16="http://schemas.microsoft.com/office/drawing/2014/main" id="{5BF91B89-051C-49D8-9029-83A1F52B0E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0" name="Freeform 21">
              <a:extLst>
                <a:ext uri="{FF2B5EF4-FFF2-40B4-BE49-F238E27FC236}">
                  <a16:creationId xmlns:a16="http://schemas.microsoft.com/office/drawing/2014/main" id="{42329880-D64F-4074-ABE4-348FDC7FB1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1" name="Freeform 22">
              <a:extLst>
                <a:ext uri="{FF2B5EF4-FFF2-40B4-BE49-F238E27FC236}">
                  <a16:creationId xmlns:a16="http://schemas.microsoft.com/office/drawing/2014/main" id="{2FAD4595-5B16-442B-A756-924FB136A5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3" name="Group 22">
            <a:extLst>
              <a:ext uri="{FF2B5EF4-FFF2-40B4-BE49-F238E27FC236}">
                <a16:creationId xmlns:a16="http://schemas.microsoft.com/office/drawing/2014/main" id="{9F9B151E-1B34-4FA6-A53D-B92F787D9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4" name="Freeform 27">
              <a:extLst>
                <a:ext uri="{FF2B5EF4-FFF2-40B4-BE49-F238E27FC236}">
                  <a16:creationId xmlns:a16="http://schemas.microsoft.com/office/drawing/2014/main" id="{617ED8F6-0AA2-4080-ADCB-6C7CE17598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5" name="Freeform 28">
              <a:extLst>
                <a:ext uri="{FF2B5EF4-FFF2-40B4-BE49-F238E27FC236}">
                  <a16:creationId xmlns:a16="http://schemas.microsoft.com/office/drawing/2014/main" id="{76F017FD-AF02-4E22-A564-5DCC93F536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6" name="Freeform 29">
              <a:extLst>
                <a:ext uri="{FF2B5EF4-FFF2-40B4-BE49-F238E27FC236}">
                  <a16:creationId xmlns:a16="http://schemas.microsoft.com/office/drawing/2014/main" id="{61F8A187-FAA8-4625-AC70-EE2C7499D5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7" name="Freeform 30">
              <a:extLst>
                <a:ext uri="{FF2B5EF4-FFF2-40B4-BE49-F238E27FC236}">
                  <a16:creationId xmlns:a16="http://schemas.microsoft.com/office/drawing/2014/main" id="{6D431C21-669A-42BC-A2DF-9092CA729B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8" name="Freeform 31">
              <a:extLst>
                <a:ext uri="{FF2B5EF4-FFF2-40B4-BE49-F238E27FC236}">
                  <a16:creationId xmlns:a16="http://schemas.microsoft.com/office/drawing/2014/main" id="{D143DDDF-3A80-4C43-BBCF-8EC1280102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9" name="Freeform 32">
              <a:extLst>
                <a:ext uri="{FF2B5EF4-FFF2-40B4-BE49-F238E27FC236}">
                  <a16:creationId xmlns:a16="http://schemas.microsoft.com/office/drawing/2014/main" id="{313BFF88-4BDD-4CC4-A514-C7D6557791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0" name="Freeform 33">
              <a:extLst>
                <a:ext uri="{FF2B5EF4-FFF2-40B4-BE49-F238E27FC236}">
                  <a16:creationId xmlns:a16="http://schemas.microsoft.com/office/drawing/2014/main" id="{BA235B4A-F8AD-4C1E-9074-3562538136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1" name="Freeform 34">
              <a:extLst>
                <a:ext uri="{FF2B5EF4-FFF2-40B4-BE49-F238E27FC236}">
                  <a16:creationId xmlns:a16="http://schemas.microsoft.com/office/drawing/2014/main" id="{281D9204-5CB0-44D1-B01F-5FFF6BDB28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2" name="Freeform 35">
              <a:extLst>
                <a:ext uri="{FF2B5EF4-FFF2-40B4-BE49-F238E27FC236}">
                  <a16:creationId xmlns:a16="http://schemas.microsoft.com/office/drawing/2014/main" id="{4DD213C5-5C2A-403A-AAEF-E495E64AEB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3" name="Freeform 36">
              <a:extLst>
                <a:ext uri="{FF2B5EF4-FFF2-40B4-BE49-F238E27FC236}">
                  <a16:creationId xmlns:a16="http://schemas.microsoft.com/office/drawing/2014/main" id="{3D07FF46-5E32-4BEE-B85D-107AD341D4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4" name="Freeform 37">
              <a:extLst>
                <a:ext uri="{FF2B5EF4-FFF2-40B4-BE49-F238E27FC236}">
                  <a16:creationId xmlns:a16="http://schemas.microsoft.com/office/drawing/2014/main" id="{4E5AE900-6815-4A65-9A96-CA280B3A8D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35" name="Freeform 38">
              <a:extLst>
                <a:ext uri="{FF2B5EF4-FFF2-40B4-BE49-F238E27FC236}">
                  <a16:creationId xmlns:a16="http://schemas.microsoft.com/office/drawing/2014/main" id="{45EA57FC-ADA4-45DD-98E7-B0615C5306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44" name="Rectangle 36">
            <a:extLst>
              <a:ext uri="{FF2B5EF4-FFF2-40B4-BE49-F238E27FC236}">
                <a16:creationId xmlns:a16="http://schemas.microsoft.com/office/drawing/2014/main" id="{9FFA7C60-EEB5-45DC-B964-20A76F776E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5" name="Freeform 11">
            <a:extLst>
              <a:ext uri="{FF2B5EF4-FFF2-40B4-BE49-F238E27FC236}">
                <a16:creationId xmlns:a16="http://schemas.microsoft.com/office/drawing/2014/main" id="{7D84F46B-82DB-461C-88AC-F6C66B593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1" name="Freeform 11">
            <a:extLst>
              <a:ext uri="{FF2B5EF4-FFF2-40B4-BE49-F238E27FC236}">
                <a16:creationId xmlns:a16="http://schemas.microsoft.com/office/drawing/2014/main" id="{7E1C44A2-4B37-4B14-B90B-368A88D05E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pic>
        <p:nvPicPr>
          <p:cNvPr id="4" name="Picture 1" descr="Chart&#10;&#10;Description automatically generated">
            <a:extLst>
              <a:ext uri="{FF2B5EF4-FFF2-40B4-BE49-F238E27FC236}">
                <a16:creationId xmlns:a16="http://schemas.microsoft.com/office/drawing/2014/main" id="{CFF08FA4-F3BB-428B-98AF-3BC4E3A39B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16" r="2" b="2"/>
          <a:stretch/>
        </p:blipFill>
        <p:spPr bwMode="auto">
          <a:xfrm>
            <a:off x="2589211" y="643467"/>
            <a:ext cx="8951825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stretch>
                    <a:fillRect/>
                  </a:stretch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73033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2A361-3EFC-4558-A200-2110C2E36E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Growth</a:t>
            </a:r>
            <a:r>
              <a:rPr lang="en-US" spc="-50" dirty="0"/>
              <a:t> </a:t>
            </a:r>
            <a:r>
              <a:rPr lang="en-US" spc="-5" dirty="0"/>
              <a:t>Rate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1D39C8-B2AD-48C5-9543-F3034CB614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54965" indent="-342900">
              <a:spcBef>
                <a:spcPts val="615"/>
              </a:spcBef>
              <a:tabLst>
                <a:tab pos="356235" algn="l"/>
                <a:tab pos="356870" algn="l"/>
              </a:tabLst>
            </a:pPr>
            <a:r>
              <a:rPr lang="en-US" sz="2400" spc="-5" dirty="0"/>
              <a:t>Changing the hardware/software</a:t>
            </a:r>
            <a:r>
              <a:rPr lang="en-US" sz="2400" spc="5" dirty="0"/>
              <a:t> </a:t>
            </a:r>
            <a:r>
              <a:rPr lang="en-US" sz="2400" spc="-5" dirty="0"/>
              <a:t>environment</a:t>
            </a:r>
            <a:endParaRPr lang="en-US" sz="2400" dirty="0"/>
          </a:p>
          <a:p>
            <a:pPr marL="811530" lvl="1" indent="-342900">
              <a:spcBef>
                <a:spcPts val="465"/>
              </a:spcBef>
              <a:tabLst>
                <a:tab pos="756285" algn="l"/>
                <a:tab pos="756920" algn="l"/>
              </a:tabLst>
            </a:pPr>
            <a:r>
              <a:rPr lang="en-US" sz="2400" spc="-5" dirty="0"/>
              <a:t>Affects </a:t>
            </a:r>
            <a:r>
              <a:rPr lang="en-US" sz="2400" spc="-10" dirty="0"/>
              <a:t>T(n) by </a:t>
            </a:r>
            <a:r>
              <a:rPr lang="en-US" sz="2400" spc="-5" dirty="0"/>
              <a:t>a constant factor,</a:t>
            </a:r>
            <a:r>
              <a:rPr lang="en-US" sz="2400" spc="135" dirty="0"/>
              <a:t> </a:t>
            </a:r>
            <a:r>
              <a:rPr lang="en-US" sz="2400" spc="-10" dirty="0"/>
              <a:t>but</a:t>
            </a:r>
            <a:endParaRPr lang="en-US" sz="2400" dirty="0"/>
          </a:p>
          <a:p>
            <a:pPr marL="811530" lvl="1" indent="-342900">
              <a:spcBef>
                <a:spcPts val="455"/>
              </a:spcBef>
              <a:tabLst>
                <a:tab pos="756285" algn="l"/>
                <a:tab pos="756920" algn="l"/>
              </a:tabLst>
            </a:pPr>
            <a:r>
              <a:rPr lang="en-US" sz="2400" spc="-5" dirty="0"/>
              <a:t>Does </a:t>
            </a:r>
            <a:r>
              <a:rPr lang="en-US" sz="2400" spc="-10" dirty="0"/>
              <a:t>not </a:t>
            </a:r>
            <a:r>
              <a:rPr lang="en-US" sz="2400" spc="-5" dirty="0"/>
              <a:t>alter the </a:t>
            </a:r>
            <a:r>
              <a:rPr lang="en-US" sz="2400" spc="-10" dirty="0"/>
              <a:t>growth </a:t>
            </a:r>
            <a:r>
              <a:rPr lang="en-US" sz="2400" spc="-5" dirty="0"/>
              <a:t>rate </a:t>
            </a:r>
            <a:r>
              <a:rPr lang="en-US" sz="2400" spc="-10" dirty="0"/>
              <a:t>of</a:t>
            </a:r>
            <a:r>
              <a:rPr lang="en-US" sz="2400" spc="195" dirty="0"/>
              <a:t> </a:t>
            </a:r>
            <a:r>
              <a:rPr lang="en-US" sz="2400" spc="-10" dirty="0"/>
              <a:t>T(n)</a:t>
            </a:r>
            <a:endParaRPr lang="en-US" sz="2400" dirty="0"/>
          </a:p>
          <a:p>
            <a:pPr lvl="1">
              <a:spcBef>
                <a:spcPts val="20"/>
              </a:spcBef>
            </a:pPr>
            <a:endParaRPr lang="en-US" sz="2400" dirty="0"/>
          </a:p>
          <a:p>
            <a:pPr marL="354965" marR="5080" indent="-342900">
              <a:tabLst>
                <a:tab pos="356235" algn="l"/>
                <a:tab pos="356870" algn="l"/>
              </a:tabLst>
            </a:pPr>
            <a:r>
              <a:rPr lang="en-US" sz="2400" spc="-5" dirty="0"/>
              <a:t>Thus we </a:t>
            </a:r>
            <a:r>
              <a:rPr lang="en-US" sz="2400" dirty="0"/>
              <a:t>focus </a:t>
            </a:r>
            <a:r>
              <a:rPr lang="en-US" sz="2400" spc="-10" dirty="0"/>
              <a:t>on </a:t>
            </a:r>
            <a:r>
              <a:rPr lang="en-US" sz="2400" spc="5" dirty="0"/>
              <a:t>the </a:t>
            </a:r>
            <a:r>
              <a:rPr lang="en-US" sz="2400" spc="-5" dirty="0"/>
              <a:t>big-picture which </a:t>
            </a:r>
            <a:r>
              <a:rPr lang="en-US" sz="2400" dirty="0"/>
              <a:t>is </a:t>
            </a:r>
            <a:r>
              <a:rPr lang="en-US" sz="2400" spc="-5" dirty="0"/>
              <a:t>the </a:t>
            </a:r>
            <a:r>
              <a:rPr lang="en-US" sz="2400" dirty="0"/>
              <a:t>growth </a:t>
            </a:r>
            <a:r>
              <a:rPr lang="en-US" sz="2400" spc="-5" dirty="0"/>
              <a:t>rate </a:t>
            </a:r>
            <a:r>
              <a:rPr lang="en-US" sz="2400" spc="5" dirty="0"/>
              <a:t>of </a:t>
            </a:r>
            <a:r>
              <a:rPr lang="en-US" sz="2400" dirty="0"/>
              <a:t>an  algorithm</a:t>
            </a:r>
          </a:p>
          <a:p>
            <a:pPr>
              <a:spcBef>
                <a:spcPts val="55"/>
              </a:spcBef>
            </a:pPr>
            <a:endParaRPr lang="en-US" sz="2400" dirty="0"/>
          </a:p>
          <a:p>
            <a:pPr marL="354965" marR="310515" indent="-342900">
              <a:lnSpc>
                <a:spcPts val="2440"/>
              </a:lnSpc>
              <a:tabLst>
                <a:tab pos="356235" algn="l"/>
                <a:tab pos="356870" algn="l"/>
              </a:tabLst>
            </a:pPr>
            <a:r>
              <a:rPr lang="en-US" sz="2400" spc="-5" dirty="0"/>
              <a:t>The linear growth rate </a:t>
            </a:r>
            <a:r>
              <a:rPr lang="en-US" sz="2400" spc="5" dirty="0"/>
              <a:t>of the </a:t>
            </a:r>
            <a:r>
              <a:rPr lang="en-US" sz="2400" dirty="0"/>
              <a:t>running time T(n) is </a:t>
            </a:r>
            <a:r>
              <a:rPr lang="en-US" sz="2400" spc="-10" dirty="0"/>
              <a:t>an </a:t>
            </a:r>
            <a:r>
              <a:rPr lang="en-US" sz="2400" spc="-5" dirty="0"/>
              <a:t>fundamental  property of algorithm</a:t>
            </a:r>
            <a:r>
              <a:rPr lang="en-US" sz="2400" dirty="0"/>
              <a:t> </a:t>
            </a:r>
            <a:r>
              <a:rPr lang="en-US" sz="2400" spc="25" dirty="0" err="1"/>
              <a:t>sumArray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03293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28042-C1DD-4B09-8B05-77A418E43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Constant</a:t>
            </a:r>
            <a:r>
              <a:rPr lang="en-US" spc="-40" dirty="0"/>
              <a:t> </a:t>
            </a:r>
            <a:r>
              <a:rPr lang="en-US" spc="-5" dirty="0"/>
              <a:t>Factors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5E5789-7208-417C-8237-339EAB4D3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7665" indent="-342900">
              <a:spcBef>
                <a:spcPts val="615"/>
              </a:spcBef>
              <a:tabLst>
                <a:tab pos="368935" algn="l"/>
                <a:tab pos="369570" algn="l"/>
              </a:tabLst>
            </a:pPr>
            <a:r>
              <a:rPr lang="en-US" sz="2400" spc="-5" dirty="0"/>
              <a:t>The </a:t>
            </a:r>
            <a:r>
              <a:rPr lang="en-US" sz="2400" dirty="0"/>
              <a:t>growth </a:t>
            </a:r>
            <a:r>
              <a:rPr lang="en-US" sz="2400" spc="-5" dirty="0"/>
              <a:t>rate </a:t>
            </a:r>
            <a:r>
              <a:rPr lang="en-US" sz="2400" dirty="0"/>
              <a:t>is </a:t>
            </a:r>
            <a:r>
              <a:rPr lang="en-US" sz="2400" spc="-5" dirty="0"/>
              <a:t>not </a:t>
            </a:r>
            <a:r>
              <a:rPr lang="en-US" sz="2400" dirty="0"/>
              <a:t>affected</a:t>
            </a:r>
            <a:r>
              <a:rPr lang="en-US" sz="2400" spc="-65" dirty="0"/>
              <a:t> </a:t>
            </a:r>
            <a:r>
              <a:rPr lang="en-US" sz="2400" spc="5" dirty="0"/>
              <a:t>by</a:t>
            </a:r>
            <a:endParaRPr lang="en-US" sz="2400" dirty="0"/>
          </a:p>
          <a:p>
            <a:pPr marL="824230" lvl="1" indent="-342900">
              <a:spcBef>
                <a:spcPts val="465"/>
              </a:spcBef>
              <a:tabLst>
                <a:tab pos="768985" algn="l"/>
                <a:tab pos="769620" algn="l"/>
              </a:tabLst>
            </a:pPr>
            <a:r>
              <a:rPr lang="en-US" sz="2400" spc="-5" dirty="0"/>
              <a:t>Constant factors</a:t>
            </a:r>
            <a:r>
              <a:rPr lang="en-US" sz="2400" spc="40" dirty="0"/>
              <a:t> </a:t>
            </a:r>
            <a:r>
              <a:rPr lang="en-US" sz="2400" spc="-10" dirty="0"/>
              <a:t>or</a:t>
            </a:r>
            <a:endParaRPr lang="en-US" sz="2400" dirty="0"/>
          </a:p>
          <a:p>
            <a:pPr marL="824230" lvl="1" indent="-342900">
              <a:spcBef>
                <a:spcPts val="455"/>
              </a:spcBef>
              <a:tabLst>
                <a:tab pos="768985" algn="l"/>
                <a:tab pos="769620" algn="l"/>
              </a:tabLst>
            </a:pPr>
            <a:r>
              <a:rPr lang="en-US" sz="2400" spc="-10" dirty="0"/>
              <a:t>Lower-order</a:t>
            </a:r>
            <a:r>
              <a:rPr lang="en-US" sz="2400" spc="45" dirty="0"/>
              <a:t> </a:t>
            </a:r>
            <a:r>
              <a:rPr lang="en-US" sz="2400" dirty="0"/>
              <a:t>terms</a:t>
            </a:r>
          </a:p>
          <a:p>
            <a:pPr lvl="1">
              <a:spcBef>
                <a:spcPts val="20"/>
              </a:spcBef>
            </a:pPr>
            <a:endParaRPr lang="en-US" sz="2400" dirty="0"/>
          </a:p>
          <a:p>
            <a:pPr marL="367665" indent="-342900">
              <a:tabLst>
                <a:tab pos="368935" algn="l"/>
                <a:tab pos="369570" algn="l"/>
              </a:tabLst>
            </a:pPr>
            <a:r>
              <a:rPr lang="en-US" sz="2400" spc="-5" dirty="0"/>
              <a:t>Examples</a:t>
            </a:r>
            <a:endParaRPr lang="en-US" sz="2400" dirty="0"/>
          </a:p>
          <a:p>
            <a:pPr marL="824230" lvl="1" indent="-342900">
              <a:spcBef>
                <a:spcPts val="380"/>
              </a:spcBef>
              <a:tabLst>
                <a:tab pos="768985" algn="l"/>
                <a:tab pos="769620" algn="l"/>
                <a:tab pos="1389380" algn="l"/>
                <a:tab pos="1656714" algn="l"/>
                <a:tab pos="2146300" algn="l"/>
              </a:tabLst>
            </a:pPr>
            <a:r>
              <a:rPr lang="en-US" sz="2400" spc="-15" dirty="0"/>
              <a:t>10</a:t>
            </a:r>
            <a:r>
              <a:rPr lang="en-US" sz="2400" spc="-22" baseline="26666" dirty="0"/>
              <a:t>2</a:t>
            </a:r>
            <a:r>
              <a:rPr lang="en-US" sz="2400" spc="-15" dirty="0"/>
              <a:t>n	</a:t>
            </a:r>
            <a:r>
              <a:rPr lang="en-US" sz="2400" spc="-70" dirty="0"/>
              <a:t>+	</a:t>
            </a:r>
            <a:r>
              <a:rPr lang="en-US" sz="2400" spc="-10" dirty="0"/>
              <a:t>10</a:t>
            </a:r>
            <a:r>
              <a:rPr lang="en-US" sz="2400" spc="-15" baseline="26666" dirty="0"/>
              <a:t>5	</a:t>
            </a:r>
            <a:r>
              <a:rPr lang="en-US" sz="2400" spc="-5" dirty="0"/>
              <a:t>is a linear</a:t>
            </a:r>
            <a:r>
              <a:rPr lang="en-US" sz="2400" spc="40" dirty="0"/>
              <a:t> </a:t>
            </a:r>
            <a:r>
              <a:rPr lang="en-US" sz="2400" spc="-5" dirty="0"/>
              <a:t>function</a:t>
            </a:r>
            <a:endParaRPr lang="en-US" sz="2400" dirty="0"/>
          </a:p>
          <a:p>
            <a:pPr marL="824230" lvl="1" indent="-342900">
              <a:spcBef>
                <a:spcPts val="455"/>
              </a:spcBef>
              <a:tabLst>
                <a:tab pos="768985" algn="l"/>
                <a:tab pos="769620" algn="l"/>
                <a:tab pos="1480185" algn="l"/>
                <a:tab pos="1747520" algn="l"/>
                <a:tab pos="2369185" algn="l"/>
              </a:tabLst>
            </a:pPr>
            <a:r>
              <a:rPr lang="en-US" sz="2400" spc="-10" dirty="0"/>
              <a:t>10</a:t>
            </a:r>
            <a:r>
              <a:rPr lang="en-US" sz="2400" spc="-15" baseline="26666" dirty="0"/>
              <a:t>5</a:t>
            </a:r>
            <a:r>
              <a:rPr lang="en-US" sz="2400" spc="-10" dirty="0"/>
              <a:t>n</a:t>
            </a:r>
            <a:r>
              <a:rPr lang="en-US" sz="2400" spc="-15" baseline="26666" dirty="0"/>
              <a:t>2	</a:t>
            </a:r>
            <a:r>
              <a:rPr lang="en-US" sz="2400" spc="-70" dirty="0"/>
              <a:t>+	</a:t>
            </a:r>
            <a:r>
              <a:rPr lang="en-US" sz="2400" spc="-15" dirty="0"/>
              <a:t>10</a:t>
            </a:r>
            <a:r>
              <a:rPr lang="en-US" sz="2400" spc="-22" baseline="26666" dirty="0"/>
              <a:t>8</a:t>
            </a:r>
            <a:r>
              <a:rPr lang="en-US" sz="2400" spc="-15" dirty="0"/>
              <a:t>n	</a:t>
            </a:r>
            <a:r>
              <a:rPr lang="en-US" sz="2400" spc="-5" dirty="0"/>
              <a:t>is a </a:t>
            </a:r>
            <a:r>
              <a:rPr lang="en-US" sz="2400" spc="-10" dirty="0"/>
              <a:t>quadratic</a:t>
            </a:r>
            <a:r>
              <a:rPr lang="en-US" sz="2400" spc="35" dirty="0"/>
              <a:t> </a:t>
            </a:r>
            <a:r>
              <a:rPr lang="en-US" sz="2400" spc="-5" dirty="0"/>
              <a:t>function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959712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ED022B-9FCF-4232-BEFB-C5DDF1C1A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Growth Rate –</a:t>
            </a:r>
            <a:r>
              <a:rPr lang="en-US" spc="-40" dirty="0"/>
              <a:t> </a:t>
            </a:r>
            <a:r>
              <a:rPr lang="en-US" spc="-5" dirty="0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2903D-049F-4F22-B858-8513E1F370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80365" indent="-342900">
              <a:spcBef>
                <a:spcPts val="525"/>
              </a:spcBef>
              <a:tabLst>
                <a:tab pos="381635" algn="l"/>
                <a:tab pos="382270" algn="l"/>
              </a:tabLst>
            </a:pPr>
            <a:r>
              <a:rPr lang="en-US" sz="2400" spc="-5" dirty="0">
                <a:latin typeface="Tahoma"/>
                <a:cs typeface="Tahoma"/>
              </a:rPr>
              <a:t>Consider the </a:t>
            </a:r>
            <a:r>
              <a:rPr lang="en-US" sz="2400" dirty="0">
                <a:latin typeface="Tahoma"/>
                <a:cs typeface="Tahoma"/>
              </a:rPr>
              <a:t>two</a:t>
            </a:r>
            <a:r>
              <a:rPr lang="en-US" sz="2400" spc="25" dirty="0">
                <a:latin typeface="Tahoma"/>
                <a:cs typeface="Tahoma"/>
              </a:rPr>
              <a:t> </a:t>
            </a:r>
            <a:r>
              <a:rPr lang="en-US" sz="2400" dirty="0">
                <a:latin typeface="Tahoma"/>
                <a:cs typeface="Tahoma"/>
              </a:rPr>
              <a:t>functions</a:t>
            </a:r>
          </a:p>
          <a:p>
            <a:pPr marL="151774" indent="0" algn="ctr">
              <a:spcBef>
                <a:spcPts val="380"/>
              </a:spcBef>
              <a:buNone/>
              <a:tabLst>
                <a:tab pos="781685" algn="l"/>
                <a:tab pos="1447800" algn="l"/>
                <a:tab pos="1713864" algn="l"/>
              </a:tabLst>
            </a:pPr>
            <a:r>
              <a:rPr lang="en-US" sz="2800" b="1" spc="335" dirty="0">
                <a:solidFill>
                  <a:srgbClr val="FF0000"/>
                </a:solidFill>
                <a:latin typeface="Arial"/>
                <a:cs typeface="Arial"/>
              </a:rPr>
              <a:t>f(</a:t>
            </a:r>
            <a:r>
              <a:rPr lang="en-US" sz="2800" b="1" i="1" spc="335" dirty="0">
                <a:solidFill>
                  <a:srgbClr val="FF0000"/>
                </a:solidFill>
                <a:latin typeface="LM Roman 12"/>
                <a:cs typeface="LM Roman 12"/>
              </a:rPr>
              <a:t>n</a:t>
            </a:r>
            <a:r>
              <a:rPr lang="en-US" sz="2800" b="1" spc="335" dirty="0">
                <a:solidFill>
                  <a:srgbClr val="FF0000"/>
                </a:solidFill>
                <a:latin typeface="Arial"/>
                <a:cs typeface="Arial"/>
              </a:rPr>
              <a:t>)</a:t>
            </a:r>
            <a:r>
              <a:rPr lang="en-US" sz="2800" b="1" spc="-70" dirty="0">
                <a:solidFill>
                  <a:srgbClr val="FF0000"/>
                </a:solidFill>
                <a:latin typeface="Arial"/>
                <a:cs typeface="Arial"/>
              </a:rPr>
              <a:t>=</a:t>
            </a:r>
            <a:r>
              <a:rPr lang="en-US" sz="2800" b="1" i="1" dirty="0">
                <a:solidFill>
                  <a:srgbClr val="FF0000"/>
                </a:solidFill>
                <a:latin typeface="LM Roman 12"/>
                <a:cs typeface="LM Roman 12"/>
              </a:rPr>
              <a:t>n</a:t>
            </a:r>
            <a:r>
              <a:rPr lang="en-US" sz="2800" b="1" baseline="26666" dirty="0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lang="en-US" sz="2800" b="1" baseline="26666" dirty="0">
              <a:latin typeface="Arial"/>
              <a:cs typeface="Arial"/>
            </a:endParaRPr>
          </a:p>
          <a:p>
            <a:pPr marL="151774" indent="0" algn="ctr">
              <a:spcBef>
                <a:spcPts val="430"/>
              </a:spcBef>
              <a:buNone/>
              <a:tabLst>
                <a:tab pos="781685" algn="l"/>
                <a:tab pos="1447800" algn="l"/>
                <a:tab pos="1713864" algn="l"/>
                <a:tab pos="2069464" algn="l"/>
                <a:tab pos="2336800" algn="l"/>
                <a:tab pos="2736850" algn="l"/>
                <a:tab pos="3004185" algn="l"/>
              </a:tabLst>
            </a:pPr>
            <a:r>
              <a:rPr lang="en-US" sz="2800" b="1" spc="200" dirty="0">
                <a:solidFill>
                  <a:srgbClr val="3333CC"/>
                </a:solidFill>
                <a:latin typeface="Arial"/>
                <a:cs typeface="Arial"/>
              </a:rPr>
              <a:t>g(</a:t>
            </a:r>
            <a:r>
              <a:rPr lang="en-US" sz="2800" b="1" i="1" spc="200" dirty="0">
                <a:solidFill>
                  <a:srgbClr val="3333CC"/>
                </a:solidFill>
                <a:latin typeface="LM Roman 12"/>
                <a:cs typeface="LM Roman 12"/>
              </a:rPr>
              <a:t>n</a:t>
            </a:r>
            <a:r>
              <a:rPr lang="en-US" sz="2800" b="1" spc="200" dirty="0">
                <a:solidFill>
                  <a:srgbClr val="3333CC"/>
                </a:solidFill>
                <a:latin typeface="Arial"/>
                <a:cs typeface="Arial"/>
              </a:rPr>
              <a:t>)</a:t>
            </a:r>
            <a:r>
              <a:rPr lang="en-US" sz="2800" b="1" spc="-70" dirty="0">
                <a:solidFill>
                  <a:srgbClr val="3333CC"/>
                </a:solidFill>
                <a:latin typeface="Arial"/>
                <a:cs typeface="Arial"/>
              </a:rPr>
              <a:t>=</a:t>
            </a:r>
            <a:r>
              <a:rPr lang="en-US" sz="2800" b="1" i="1" dirty="0">
                <a:solidFill>
                  <a:srgbClr val="3333CC"/>
                </a:solidFill>
                <a:latin typeface="LM Roman 12"/>
                <a:cs typeface="LM Roman 12"/>
              </a:rPr>
              <a:t>n</a:t>
            </a:r>
            <a:r>
              <a:rPr lang="en-US" sz="2800" b="1" baseline="26666" dirty="0">
                <a:solidFill>
                  <a:srgbClr val="3333CC"/>
                </a:solidFill>
                <a:latin typeface="Arial"/>
                <a:cs typeface="Arial"/>
              </a:rPr>
              <a:t>2</a:t>
            </a:r>
            <a:r>
              <a:rPr lang="en-US" sz="2800" b="1" spc="-15" dirty="0">
                <a:solidFill>
                  <a:srgbClr val="3333CC"/>
                </a:solidFill>
                <a:latin typeface="Arial"/>
                <a:cs typeface="Arial"/>
              </a:rPr>
              <a:t>–</a:t>
            </a:r>
            <a:r>
              <a:rPr lang="en-US" sz="2800" b="1" spc="-10" dirty="0">
                <a:solidFill>
                  <a:srgbClr val="3333CC"/>
                </a:solidFill>
                <a:latin typeface="Arial"/>
                <a:cs typeface="Arial"/>
              </a:rPr>
              <a:t>3</a:t>
            </a:r>
            <a:r>
              <a:rPr lang="en-US" sz="2800" b="1" i="1" spc="-10" dirty="0">
                <a:solidFill>
                  <a:srgbClr val="3333CC"/>
                </a:solidFill>
                <a:latin typeface="LM Roman 12"/>
                <a:cs typeface="LM Roman 12"/>
              </a:rPr>
              <a:t>n</a:t>
            </a:r>
            <a:r>
              <a:rPr lang="en-US" sz="2800" b="1" spc="-70" dirty="0">
                <a:solidFill>
                  <a:srgbClr val="3333CC"/>
                </a:solidFill>
                <a:latin typeface="Arial"/>
                <a:cs typeface="Arial"/>
              </a:rPr>
              <a:t>+</a:t>
            </a:r>
            <a:r>
              <a:rPr lang="en-US" sz="2800" b="1" spc="-15" dirty="0">
                <a:solidFill>
                  <a:srgbClr val="3333CC"/>
                </a:solidFill>
                <a:latin typeface="Arial"/>
                <a:cs typeface="Arial"/>
              </a:rPr>
              <a:t>2</a:t>
            </a:r>
            <a:endParaRPr lang="en-US" sz="2800" b="1" dirty="0">
              <a:latin typeface="Arial"/>
              <a:cs typeface="Arial"/>
            </a:endParaRPr>
          </a:p>
          <a:p>
            <a:pPr marL="380365" indent="-342900">
              <a:spcBef>
                <a:spcPts val="520"/>
              </a:spcBef>
              <a:tabLst>
                <a:tab pos="381635" algn="l"/>
                <a:tab pos="382270" algn="l"/>
                <a:tab pos="1605280" algn="l"/>
                <a:tab pos="1895475" algn="l"/>
                <a:tab pos="2334260" algn="l"/>
              </a:tabLst>
            </a:pPr>
            <a:r>
              <a:rPr lang="en-US" sz="2400" spc="-5" dirty="0">
                <a:latin typeface="Tahoma"/>
                <a:cs typeface="Tahoma"/>
              </a:rPr>
              <a:t>Around</a:t>
            </a:r>
            <a:r>
              <a:rPr lang="en-US" sz="2400" spc="5" dirty="0">
                <a:latin typeface="Tahoma"/>
                <a:cs typeface="Tahoma"/>
              </a:rPr>
              <a:t> </a:t>
            </a:r>
            <a:r>
              <a:rPr lang="en-US" sz="2400" spc="-15" dirty="0">
                <a:latin typeface="Arial"/>
                <a:cs typeface="Arial"/>
              </a:rPr>
              <a:t>n	</a:t>
            </a:r>
            <a:r>
              <a:rPr lang="en-US" sz="2400" spc="-75" dirty="0">
                <a:latin typeface="Arial"/>
                <a:cs typeface="Arial"/>
              </a:rPr>
              <a:t>=	</a:t>
            </a:r>
            <a:r>
              <a:rPr lang="en-US" sz="2400" spc="275" dirty="0">
                <a:latin typeface="Arial"/>
                <a:cs typeface="Arial"/>
              </a:rPr>
              <a:t>0,	</a:t>
            </a:r>
            <a:r>
              <a:rPr lang="en-US" sz="2400" dirty="0">
                <a:latin typeface="Tahoma"/>
                <a:cs typeface="Tahoma"/>
              </a:rPr>
              <a:t>they </a:t>
            </a:r>
            <a:r>
              <a:rPr lang="en-US" sz="2400" spc="-5" dirty="0">
                <a:latin typeface="Tahoma"/>
                <a:cs typeface="Tahoma"/>
              </a:rPr>
              <a:t>look very</a:t>
            </a:r>
            <a:r>
              <a:rPr lang="en-US" sz="2400" spc="-35" dirty="0">
                <a:latin typeface="Tahoma"/>
                <a:cs typeface="Tahoma"/>
              </a:rPr>
              <a:t> </a:t>
            </a:r>
            <a:r>
              <a:rPr lang="en-US" sz="2400" spc="-5" dirty="0">
                <a:latin typeface="Tahoma"/>
                <a:cs typeface="Tahoma"/>
              </a:rPr>
              <a:t>different</a:t>
            </a:r>
            <a:endParaRPr lang="en-US" sz="2400" dirty="0">
              <a:latin typeface="Tahoma"/>
              <a:cs typeface="Tahoma"/>
            </a:endParaRPr>
          </a:p>
          <a:p>
            <a:endParaRPr lang="en-US"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C473DE00-B2F1-42CA-8004-2FA2DD36DACA}"/>
              </a:ext>
            </a:extLst>
          </p:cNvPr>
          <p:cNvSpPr/>
          <p:nvPr/>
        </p:nvSpPr>
        <p:spPr>
          <a:xfrm>
            <a:off x="3786100" y="3945200"/>
            <a:ext cx="4619799" cy="22440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971233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B592C2-FE04-47BE-9417-23C930514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Growth Rate –</a:t>
            </a:r>
            <a:r>
              <a:rPr lang="en-US" spc="-40" dirty="0"/>
              <a:t> </a:t>
            </a:r>
            <a:r>
              <a:rPr lang="en-US" spc="-5" dirty="0"/>
              <a:t>Example</a:t>
            </a:r>
            <a:endParaRPr lang="en-US" b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068C1D-DB04-4FB8-8493-85F497A48C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Yet on the range n = [0, 1000], f(n) and g(n) are (relatively)  indistinguishable</a:t>
            </a: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286FFB0B-824F-4801-8F26-E7C534B2661C}"/>
              </a:ext>
            </a:extLst>
          </p:cNvPr>
          <p:cNvSpPr/>
          <p:nvPr/>
        </p:nvSpPr>
        <p:spPr>
          <a:xfrm>
            <a:off x="3710211" y="2482611"/>
            <a:ext cx="6665975" cy="40332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933544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3B7ABC-8CA2-4A66-ACAB-5453974D8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Growth Rate –</a:t>
            </a:r>
            <a:r>
              <a:rPr lang="en-US" spc="-40" dirty="0"/>
              <a:t> </a:t>
            </a:r>
            <a:r>
              <a:rPr lang="en-US" spc="-5" dirty="0"/>
              <a:t>Example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94248B-9C4A-4962-8BEF-352D01C2C5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93065" indent="-342900">
              <a:spcBef>
                <a:spcPts val="495"/>
              </a:spcBef>
              <a:tabLst>
                <a:tab pos="394335" algn="l"/>
                <a:tab pos="394970" algn="l"/>
              </a:tabLst>
            </a:pPr>
            <a:r>
              <a:rPr lang="en-US" sz="2200" spc="-5" dirty="0"/>
              <a:t>The absolute </a:t>
            </a:r>
            <a:r>
              <a:rPr lang="en-US" sz="2200" dirty="0"/>
              <a:t>difference is </a:t>
            </a:r>
            <a:r>
              <a:rPr lang="en-US" sz="2200" spc="-5" dirty="0"/>
              <a:t>large, for</a:t>
            </a:r>
            <a:r>
              <a:rPr lang="en-US" sz="2200" spc="-25" dirty="0"/>
              <a:t> </a:t>
            </a:r>
            <a:r>
              <a:rPr lang="en-US" sz="2200" spc="-5" dirty="0"/>
              <a:t>example,</a:t>
            </a:r>
            <a:endParaRPr lang="en-US" sz="2200" dirty="0"/>
          </a:p>
          <a:p>
            <a:pPr marL="850265" lvl="1" indent="-285750">
              <a:spcBef>
                <a:spcPts val="355"/>
              </a:spcBef>
              <a:tabLst>
                <a:tab pos="794385" algn="l"/>
                <a:tab pos="1858645" algn="l"/>
                <a:tab pos="2125980" algn="l"/>
                <a:tab pos="2392680" algn="l"/>
                <a:tab pos="2925445" algn="l"/>
              </a:tabLst>
            </a:pPr>
            <a:r>
              <a:rPr lang="en-US" sz="2200" b="1" spc="185" dirty="0"/>
              <a:t>f(1000)</a:t>
            </a:r>
            <a:r>
              <a:rPr lang="en-US" sz="2200" b="1" spc="-70" dirty="0"/>
              <a:t>=</a:t>
            </a:r>
            <a:r>
              <a:rPr lang="en-US" sz="2200" b="1" spc="-15" dirty="0"/>
              <a:t>1</a:t>
            </a:r>
            <a:r>
              <a:rPr lang="en-US" sz="2200" b="1" spc="-10" dirty="0"/>
              <a:t>000000</a:t>
            </a:r>
            <a:endParaRPr lang="en-US" sz="2200" b="1" dirty="0"/>
          </a:p>
          <a:p>
            <a:pPr marL="850265" lvl="1" indent="-285750">
              <a:spcBef>
                <a:spcPts val="459"/>
              </a:spcBef>
              <a:tabLst>
                <a:tab pos="794385" algn="l"/>
                <a:tab pos="1858645" algn="l"/>
                <a:tab pos="2392680" algn="l"/>
                <a:tab pos="2925445" algn="l"/>
              </a:tabLst>
            </a:pPr>
            <a:r>
              <a:rPr lang="en-US" sz="2200" b="1" spc="110" dirty="0"/>
              <a:t>g(1000)</a:t>
            </a:r>
            <a:r>
              <a:rPr lang="en-US" sz="2200" b="1" spc="-70" dirty="0"/>
              <a:t>=</a:t>
            </a:r>
            <a:r>
              <a:rPr lang="en-US" sz="2200" b="1" spc="-10" dirty="0"/>
              <a:t>997002</a:t>
            </a:r>
          </a:p>
          <a:p>
            <a:pPr marL="850265" lvl="1" indent="-285750">
              <a:spcBef>
                <a:spcPts val="459"/>
              </a:spcBef>
              <a:tabLst>
                <a:tab pos="794385" algn="l"/>
                <a:tab pos="1858645" algn="l"/>
                <a:tab pos="2392680" algn="l"/>
                <a:tab pos="2925445" algn="l"/>
              </a:tabLst>
            </a:pPr>
            <a:endParaRPr lang="en-US" sz="2200" b="1" spc="-10" dirty="0"/>
          </a:p>
          <a:p>
            <a:pPr marL="393065" indent="-342900">
              <a:tabLst>
                <a:tab pos="394335" algn="l"/>
                <a:tab pos="394970" algn="l"/>
              </a:tabLst>
            </a:pPr>
            <a:r>
              <a:rPr lang="en-US" sz="2200" spc="-5" dirty="0"/>
              <a:t>But the relative difference </a:t>
            </a:r>
            <a:r>
              <a:rPr lang="en-US" sz="2200" dirty="0"/>
              <a:t>is very</a:t>
            </a:r>
            <a:r>
              <a:rPr lang="en-US" sz="2200" spc="5" dirty="0"/>
              <a:t> </a:t>
            </a:r>
            <a:r>
              <a:rPr lang="en-US" sz="2200" spc="-5" dirty="0"/>
              <a:t>small</a:t>
            </a:r>
          </a:p>
          <a:p>
            <a:pPr marL="50165" indent="0">
              <a:buNone/>
              <a:tabLst>
                <a:tab pos="394335" algn="l"/>
                <a:tab pos="394970" algn="l"/>
              </a:tabLst>
            </a:pPr>
            <a:endParaRPr lang="en-US" sz="2200" dirty="0"/>
          </a:p>
          <a:p>
            <a:pPr marL="450224" indent="-285750">
              <a:spcBef>
                <a:spcPts val="459"/>
              </a:spcBef>
              <a:tabLst>
                <a:tab pos="794385" algn="l"/>
                <a:tab pos="1858645" algn="l"/>
                <a:tab pos="2392680" algn="l"/>
                <a:tab pos="2925445" algn="l"/>
              </a:tabLst>
            </a:pPr>
            <a:endParaRPr lang="en-US" sz="2200" b="1" spc="-10" dirty="0"/>
          </a:p>
          <a:p>
            <a:pPr marL="450224" indent="-285750">
              <a:spcBef>
                <a:spcPts val="459"/>
              </a:spcBef>
              <a:tabLst>
                <a:tab pos="794385" algn="l"/>
                <a:tab pos="1858645" algn="l"/>
                <a:tab pos="2392680" algn="l"/>
                <a:tab pos="2925445" algn="l"/>
              </a:tabLst>
            </a:pPr>
            <a:endParaRPr lang="en-US" sz="2200" b="1" dirty="0"/>
          </a:p>
          <a:p>
            <a:endParaRPr lang="en-US" sz="2200" spc="-10" dirty="0"/>
          </a:p>
          <a:p>
            <a:r>
              <a:rPr lang="en-US" sz="2200" spc="-10" dirty="0"/>
              <a:t>The </a:t>
            </a:r>
            <a:r>
              <a:rPr lang="en-US" sz="2200" spc="-5" dirty="0"/>
              <a:t>difference </a:t>
            </a:r>
            <a:r>
              <a:rPr lang="en-US" sz="2200" spc="-10" dirty="0"/>
              <a:t>goes </a:t>
            </a:r>
            <a:r>
              <a:rPr lang="en-US" sz="2200" dirty="0"/>
              <a:t>to </a:t>
            </a:r>
            <a:r>
              <a:rPr lang="en-US" sz="2200" spc="-5" dirty="0"/>
              <a:t>zero</a:t>
            </a:r>
            <a:r>
              <a:rPr lang="en-US" sz="2200" spc="175" dirty="0"/>
              <a:t> </a:t>
            </a:r>
            <a:r>
              <a:rPr lang="en-US" sz="2200" spc="-10" dirty="0"/>
              <a:t>as</a:t>
            </a:r>
            <a:r>
              <a:rPr lang="en-US" sz="2200" spc="20" dirty="0"/>
              <a:t> </a:t>
            </a:r>
            <a:r>
              <a:rPr lang="en-US" sz="2200" i="1" spc="-5" dirty="0"/>
              <a:t>n	</a:t>
            </a:r>
            <a:r>
              <a:rPr lang="en-US" sz="2200" i="1" spc="-765" dirty="0"/>
              <a:t>→	</a:t>
            </a:r>
            <a:r>
              <a:rPr lang="en-US" sz="2200" spc="-315" dirty="0"/>
              <a:t>∞</a:t>
            </a:r>
            <a:endParaRPr lang="en-US" sz="2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ED703-D71B-4302-94BC-1098D5BEF5DB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75565" y="4029389"/>
            <a:ext cx="4840870" cy="1136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30795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8F182-8C0B-43C6-A7AC-9EADAE9EF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5" dirty="0"/>
              <a:t>Constant</a:t>
            </a:r>
            <a:r>
              <a:rPr lang="en-US" spc="-40" dirty="0"/>
              <a:t> </a:t>
            </a:r>
            <a:r>
              <a:rPr lang="en-US" spc="-5" dirty="0"/>
              <a:t>Factors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3A0D6-5833-4F93-81EB-C6A84F9497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67665" marR="17780" indent="-342900">
              <a:tabLst>
                <a:tab pos="368935" algn="l"/>
                <a:tab pos="369570" algn="l"/>
              </a:tabLst>
            </a:pPr>
            <a:r>
              <a:rPr lang="en-US" sz="2400" spc="-10" dirty="0"/>
              <a:t>How do </a:t>
            </a:r>
            <a:r>
              <a:rPr lang="en-US" sz="2400" spc="-5" dirty="0"/>
              <a:t>we </a:t>
            </a:r>
            <a:r>
              <a:rPr lang="en-US" sz="2400" dirty="0"/>
              <a:t>get </a:t>
            </a:r>
            <a:r>
              <a:rPr lang="en-US" sz="2400" spc="-5" dirty="0"/>
              <a:t>rid of </a:t>
            </a:r>
            <a:r>
              <a:rPr lang="en-US" sz="2400" spc="5" dirty="0"/>
              <a:t>the </a:t>
            </a:r>
            <a:r>
              <a:rPr lang="en-US" sz="2400" dirty="0"/>
              <a:t>constant factors </a:t>
            </a:r>
            <a:r>
              <a:rPr lang="en-US" sz="2400" spc="5" dirty="0"/>
              <a:t>to </a:t>
            </a:r>
            <a:r>
              <a:rPr lang="en-US" sz="2400" spc="-5" dirty="0"/>
              <a:t>focus </a:t>
            </a:r>
            <a:r>
              <a:rPr lang="en-US" sz="2400" spc="-10" dirty="0"/>
              <a:t>on </a:t>
            </a:r>
            <a:r>
              <a:rPr lang="en-US" sz="2400" spc="5" dirty="0"/>
              <a:t>the </a:t>
            </a:r>
            <a:r>
              <a:rPr lang="en-US" sz="2400" spc="-5" dirty="0"/>
              <a:t>essential  part of </a:t>
            </a:r>
            <a:r>
              <a:rPr lang="en-US" sz="2400" spc="5" dirty="0"/>
              <a:t>the </a:t>
            </a:r>
            <a:r>
              <a:rPr lang="en-US" sz="2400" dirty="0"/>
              <a:t>running</a:t>
            </a:r>
            <a:r>
              <a:rPr lang="en-US" sz="2400" spc="-10" dirty="0"/>
              <a:t> </a:t>
            </a:r>
            <a:r>
              <a:rPr lang="en-US" sz="2400" spc="-5" dirty="0"/>
              <a:t>time?</a:t>
            </a:r>
            <a:endParaRPr lang="en-US" sz="2400" dirty="0"/>
          </a:p>
          <a:p>
            <a:pPr marL="824230" lvl="1" indent="-342900">
              <a:spcBef>
                <a:spcPts val="465"/>
              </a:spcBef>
              <a:tabLst>
                <a:tab pos="768985" algn="l"/>
                <a:tab pos="769620" algn="l"/>
              </a:tabLst>
            </a:pPr>
            <a:r>
              <a:rPr lang="en-US" sz="2400" spc="-5" dirty="0"/>
              <a:t>Asymptotic</a:t>
            </a:r>
            <a:r>
              <a:rPr lang="en-US" sz="2400" spc="25" dirty="0"/>
              <a:t> </a:t>
            </a:r>
            <a:r>
              <a:rPr lang="en-US" sz="2400" spc="-5" dirty="0"/>
              <a:t>Analysis</a:t>
            </a:r>
            <a:endParaRPr lang="en-US" sz="24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4666654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928</TotalTime>
  <Words>1485</Words>
  <Application>Microsoft Office PowerPoint</Application>
  <PresentationFormat>Widescreen</PresentationFormat>
  <Paragraphs>205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7" baseType="lpstr">
      <vt:lpstr>Arial</vt:lpstr>
      <vt:lpstr>Arial</vt:lpstr>
      <vt:lpstr>Calibri</vt:lpstr>
      <vt:lpstr>Calibri Light</vt:lpstr>
      <vt:lpstr>Century Gothic</vt:lpstr>
      <vt:lpstr>LM Roman 12</vt:lpstr>
      <vt:lpstr>Tahoma</vt:lpstr>
      <vt:lpstr>UKIJ Inchike</vt:lpstr>
      <vt:lpstr>Wingdings 3</vt:lpstr>
      <vt:lpstr>Wisp</vt:lpstr>
      <vt:lpstr>Complexity Theory-I</vt:lpstr>
      <vt:lpstr>Algorithms</vt:lpstr>
      <vt:lpstr>Analysis of Algorithms</vt:lpstr>
      <vt:lpstr>Analysis of Algorithms</vt:lpstr>
      <vt:lpstr>Analysis of Algorithms</vt:lpstr>
      <vt:lpstr>Analysis of Algorithms</vt:lpstr>
      <vt:lpstr>Analysis of Algorithms</vt:lpstr>
      <vt:lpstr>Running time of an Algorithm</vt:lpstr>
      <vt:lpstr>Run Time of an Algorithm</vt:lpstr>
      <vt:lpstr>Finding Running Time of an Algorithm</vt:lpstr>
      <vt:lpstr>Finding Running Time of an Algorithm</vt:lpstr>
      <vt:lpstr>Experimental Evaluation of Run Time</vt:lpstr>
      <vt:lpstr>Limitations Of Experiments</vt:lpstr>
      <vt:lpstr>Theoretical Analysis of Run Time</vt:lpstr>
      <vt:lpstr>Analyzing an Algorithm – Operations</vt:lpstr>
      <vt:lpstr>Analyzing an Algorithm – Blocks of Operations</vt:lpstr>
      <vt:lpstr>Example</vt:lpstr>
      <vt:lpstr>Analyzing an Algorithm</vt:lpstr>
      <vt:lpstr>Analyzing an Algorithm – Growth Rate</vt:lpstr>
      <vt:lpstr>Types of Algorithms in Relation to Time</vt:lpstr>
      <vt:lpstr>PowerPoint Presentation</vt:lpstr>
      <vt:lpstr>Growth Rate</vt:lpstr>
      <vt:lpstr>Constant Factors</vt:lpstr>
      <vt:lpstr>Growth Rate – Example</vt:lpstr>
      <vt:lpstr>Growth Rate – Example</vt:lpstr>
      <vt:lpstr>Growth Rate – Example</vt:lpstr>
      <vt:lpstr>Constant Factors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 ADT</dc:title>
  <dc:creator>MARIUM HIDA</dc:creator>
  <cp:lastModifiedBy>MARIUM HIDA</cp:lastModifiedBy>
  <cp:revision>111</cp:revision>
  <dcterms:created xsi:type="dcterms:W3CDTF">2022-02-14T14:42:18Z</dcterms:created>
  <dcterms:modified xsi:type="dcterms:W3CDTF">2022-02-15T09:14:39Z</dcterms:modified>
</cp:coreProperties>
</file>