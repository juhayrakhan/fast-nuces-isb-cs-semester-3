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2"/>
  </p:notesMasterIdLst>
  <p:sldIdLst>
    <p:sldId id="427" r:id="rId2"/>
    <p:sldId id="428" r:id="rId3"/>
    <p:sldId id="429" r:id="rId4"/>
    <p:sldId id="430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  <p:sldId id="441" r:id="rId16"/>
    <p:sldId id="442" r:id="rId17"/>
    <p:sldId id="444" r:id="rId18"/>
    <p:sldId id="445" r:id="rId19"/>
    <p:sldId id="446" r:id="rId20"/>
    <p:sldId id="44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323" autoAdjust="0"/>
  </p:normalViewPr>
  <p:slideViewPr>
    <p:cSldViewPr snapToGrid="0">
      <p:cViewPr varScale="1">
        <p:scale>
          <a:sx n="46" d="100"/>
          <a:sy n="46" d="100"/>
        </p:scale>
        <p:origin x="72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124A2-D520-4413-AF58-8D5914DA4956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1D4AB-B64B-491F-85CA-6324D8284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9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1D4AB-B64B-491F-85CA-6324D82840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36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US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3D array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 is a multi-dimensional array(array of arrays). A 3D array is a collection of 2D arrays . It is specified by using three </a:t>
            </a:r>
            <a:r>
              <a:rPr lang="en-US" b="0" i="0" dirty="0" err="1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subscripts:Block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 size, row size and column size. More dimensions in an array means more data can be stored in that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1D4AB-B64B-491F-85CA-6324D82840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7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12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1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1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2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1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1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57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758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8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32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8226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7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9332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52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32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4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F71D0-33D5-40C4-ABCA-95358E618C29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D881A41-8D2D-4A34-8F07-7906DFBBA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8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7200" dirty="0" err="1"/>
              <a:t>Arrays</a:t>
            </a:r>
            <a:r>
              <a:rPr lang="fr-FR" sz="7200" dirty="0"/>
              <a:t> ADT</a:t>
            </a:r>
            <a:endParaRPr lang="en-US" sz="7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C85C4-B977-4429-87D6-E045F5388D1E}" type="slidenum">
              <a:rPr lang="en-US">
                <a:latin typeface="Calibri" panose="020F0502020204030204"/>
              </a:rPr>
              <a:pPr/>
              <a:t>1</a:t>
            </a:fld>
            <a:endParaRPr lang="en-US">
              <a:latin typeface="Calibri" panose="020F0502020204030204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46960" y="357166"/>
            <a:ext cx="7133416" cy="911594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cap="small">
                <a:latin typeface="Calibri Light" panose="020F0302020204030204"/>
              </a:rPr>
              <a:t>Data structures</a:t>
            </a:r>
            <a:endParaRPr lang="en-US" sz="4400" b="1" cap="small" dirty="0">
              <a:latin typeface="Calibri Light" panose="020F03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744E-0068-4556-8515-4F9087B9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Arrays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D70F7-347A-4B57-BE90-672C8D5AC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6235" indent="-344170">
              <a:lnSpc>
                <a:spcPct val="100000"/>
              </a:lnSpc>
              <a:spcBef>
                <a:spcPts val="615"/>
              </a:spcBef>
              <a:buFont typeface="Wingdings" panose="05000000000000000000" pitchFamily="2" charset="2"/>
              <a:buChar char="q"/>
              <a:tabLst>
                <a:tab pos="356235" algn="l"/>
                <a:tab pos="356870" algn="l"/>
              </a:tabLst>
            </a:pPr>
            <a:r>
              <a:rPr lang="en-US" sz="2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An array </a:t>
            </a:r>
            <a:r>
              <a:rPr lang="en-US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is </a:t>
            </a:r>
            <a:r>
              <a:rPr lang="en-US" sz="2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defined</a:t>
            </a:r>
            <a:r>
              <a:rPr lang="en-US" sz="21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1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as</a:t>
            </a:r>
            <a:endParaRPr lang="en-US" sz="2100" dirty="0">
              <a:solidFill>
                <a:schemeClr val="tx1">
                  <a:lumMod val="95000"/>
                  <a:lumOff val="5000"/>
                </a:schemeClr>
              </a:solidFill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Font typeface="Wingdings" panose="05000000000000000000" pitchFamily="2" charset="2"/>
              <a:buChar char="q"/>
              <a:tabLst>
                <a:tab pos="756285" algn="l"/>
                <a:tab pos="756920" algn="l"/>
              </a:tabLst>
            </a:pPr>
            <a:r>
              <a:rPr lang="en-US" sz="1900" spc="-10" dirty="0">
                <a:solidFill>
                  <a:srgbClr val="FF0000"/>
                </a:solidFill>
                <a:latin typeface="Tahoma"/>
                <a:cs typeface="Tahoma"/>
              </a:rPr>
              <a:t>Ordered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collection 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of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a </a:t>
            </a:r>
            <a:r>
              <a:rPr lang="en-US" sz="1900" spc="-10" dirty="0">
                <a:solidFill>
                  <a:srgbClr val="FF0000"/>
                </a:solidFill>
                <a:latin typeface="Tahoma"/>
                <a:cs typeface="Tahoma"/>
              </a:rPr>
              <a:t>fixed number 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of</a:t>
            </a:r>
            <a:r>
              <a:rPr lang="en-US" sz="1900" spc="23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elements</a:t>
            </a:r>
            <a:endParaRPr lang="en-US" sz="1900" dirty="0">
              <a:solidFill>
                <a:schemeClr val="tx1">
                  <a:lumMod val="95000"/>
                  <a:lumOff val="5000"/>
                </a:schemeClr>
              </a:solidFill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55"/>
              </a:spcBef>
              <a:buFont typeface="Wingdings" panose="05000000000000000000" pitchFamily="2" charset="2"/>
              <a:buChar char="q"/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All elements 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are of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the </a:t>
            </a:r>
            <a:r>
              <a:rPr lang="en-US" sz="1900" dirty="0">
                <a:solidFill>
                  <a:srgbClr val="FF0000"/>
                </a:solidFill>
                <a:latin typeface="Tahoma"/>
                <a:cs typeface="Tahoma"/>
              </a:rPr>
              <a:t>same </a:t>
            </a:r>
            <a:r>
              <a:rPr lang="en-US" sz="1900" spc="-5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lang="en-US" sz="1900" spc="1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type</a:t>
            </a:r>
            <a:endParaRPr lang="en-US" sz="1900" dirty="0">
              <a:solidFill>
                <a:schemeClr val="tx1">
                  <a:lumMod val="95000"/>
                  <a:lumOff val="5000"/>
                </a:schemeClr>
              </a:solidFill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 panose="05000000000000000000" pitchFamily="2" charset="2"/>
              <a:buChar char="q"/>
            </a:pPr>
            <a:endParaRPr lang="en-US" sz="2900" dirty="0">
              <a:solidFill>
                <a:schemeClr val="tx1">
                  <a:lumMod val="95000"/>
                  <a:lumOff val="5000"/>
                </a:schemeClr>
              </a:solidFill>
              <a:latin typeface="Tahoma"/>
              <a:cs typeface="Tahoma"/>
            </a:endParaRPr>
          </a:p>
          <a:p>
            <a:pPr marL="356235" indent="-344170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356235" algn="l"/>
                <a:tab pos="356870" algn="l"/>
              </a:tabLst>
            </a:pPr>
            <a:r>
              <a:rPr lang="en-US" sz="21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Basic</a:t>
            </a:r>
            <a:r>
              <a:rPr lang="en-US" sz="21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operations</a:t>
            </a:r>
          </a:p>
          <a:p>
            <a:pPr marL="811530" lvl="1" indent="-342900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Font typeface="Wingdings" panose="05000000000000000000" pitchFamily="2" charset="2"/>
              <a:buChar char="q"/>
              <a:tabLst>
                <a:tab pos="756285" algn="l"/>
                <a:tab pos="756920" algn="l"/>
              </a:tabLst>
            </a:pPr>
            <a:r>
              <a:rPr lang="en-US" sz="1900" spc="-10" dirty="0">
                <a:solidFill>
                  <a:srgbClr val="FF0000"/>
                </a:solidFill>
                <a:latin typeface="Tahoma"/>
                <a:cs typeface="Tahoma"/>
              </a:rPr>
              <a:t>Direct </a:t>
            </a:r>
            <a:r>
              <a:rPr lang="en-US" sz="1900" spc="-5" dirty="0">
                <a:solidFill>
                  <a:srgbClr val="FF0000"/>
                </a:solidFill>
                <a:latin typeface="Tahoma"/>
                <a:cs typeface="Tahoma"/>
              </a:rPr>
              <a:t>access 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to 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each element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in the</a:t>
            </a:r>
            <a:r>
              <a:rPr lang="en-US" sz="1900" spc="18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array</a:t>
            </a:r>
            <a:endParaRPr lang="en-US" sz="1900" dirty="0">
              <a:solidFill>
                <a:schemeClr val="tx1">
                  <a:lumMod val="95000"/>
                  <a:lumOff val="5000"/>
                </a:schemeClr>
              </a:solidFill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55"/>
              </a:spcBef>
              <a:buFont typeface="Wingdings" panose="05000000000000000000" pitchFamily="2" charset="2"/>
              <a:buChar char="q"/>
              <a:tabLst>
                <a:tab pos="756285" algn="l"/>
                <a:tab pos="756920" algn="l"/>
              </a:tabLst>
            </a:pP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Values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can 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be </a:t>
            </a:r>
            <a:r>
              <a:rPr lang="en-US" sz="1900" spc="-5" dirty="0">
                <a:solidFill>
                  <a:srgbClr val="FF0000"/>
                </a:solidFill>
                <a:latin typeface="Tahoma"/>
                <a:cs typeface="Tahoma"/>
              </a:rPr>
              <a:t>retrieved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or </a:t>
            </a:r>
            <a:r>
              <a:rPr lang="en-US" sz="1900" spc="-5" dirty="0">
                <a:solidFill>
                  <a:srgbClr val="FF0000"/>
                </a:solidFill>
                <a:latin typeface="Tahoma"/>
                <a:cs typeface="Tahoma"/>
              </a:rPr>
              <a:t>stored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in </a:t>
            </a:r>
            <a:r>
              <a:rPr lang="en-US" sz="19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each</a:t>
            </a:r>
            <a:r>
              <a:rPr lang="en-US" sz="1900" spc="21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ahoma"/>
                <a:cs typeface="Tahoma"/>
              </a:rPr>
              <a:t>element</a:t>
            </a:r>
            <a:endParaRPr lang="en-US" sz="1900" dirty="0">
              <a:solidFill>
                <a:schemeClr val="tx1">
                  <a:lumMod val="95000"/>
                  <a:lumOff val="5000"/>
                </a:schemeClr>
              </a:solidFill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9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195A3-5A09-4C42-B02C-BE8E0F64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Properties </a:t>
            </a:r>
            <a:r>
              <a:rPr lang="en-US" spc="5" dirty="0"/>
              <a:t>of </a:t>
            </a:r>
            <a:r>
              <a:rPr lang="en-US" spc="-15" dirty="0"/>
              <a:t>an</a:t>
            </a:r>
            <a:r>
              <a:rPr lang="en-US" spc="-10" dirty="0"/>
              <a:t> Array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B2155-D60B-4DA3-BBB8-968418EB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54965">
              <a:spcBef>
                <a:spcPts val="615"/>
              </a:spcBef>
              <a:tabLst>
                <a:tab pos="354965" algn="l"/>
                <a:tab pos="355600" algn="l"/>
              </a:tabLst>
            </a:pPr>
            <a:r>
              <a:rPr lang="en-US" sz="2100" b="1" dirty="0">
                <a:solidFill>
                  <a:schemeClr val="tx1"/>
                </a:solidFill>
                <a:latin typeface="UKIJ Inchike"/>
                <a:cs typeface="UKIJ Inchike"/>
              </a:rPr>
              <a:t>Ordered</a:t>
            </a:r>
            <a:endParaRPr lang="en-US" sz="2100" dirty="0">
              <a:solidFill>
                <a:schemeClr val="tx1"/>
              </a:solidFill>
              <a:latin typeface="UKIJ Inchike"/>
              <a:cs typeface="UKIJ Inchike"/>
            </a:endParaRPr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Every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element has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a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well-defined</a:t>
            </a:r>
            <a:r>
              <a:rPr lang="en-US" sz="1900" spc="19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position</a:t>
            </a: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First element,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second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element,</a:t>
            </a:r>
            <a:r>
              <a:rPr lang="en-US" sz="1900" spc="11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etc.</a:t>
            </a:r>
          </a:p>
          <a:p>
            <a:pPr marL="354965">
              <a:spcBef>
                <a:spcPts val="500"/>
              </a:spcBef>
              <a:tabLst>
                <a:tab pos="354965" algn="l"/>
                <a:tab pos="355600" algn="l"/>
              </a:tabLst>
            </a:pPr>
            <a:r>
              <a:rPr lang="en-US" sz="2100" b="1" dirty="0">
                <a:solidFill>
                  <a:schemeClr val="tx1"/>
                </a:solidFill>
                <a:latin typeface="UKIJ Inchike"/>
                <a:cs typeface="UKIJ Inchike"/>
              </a:rPr>
              <a:t>Fixed </a:t>
            </a:r>
            <a:r>
              <a:rPr lang="en-US" sz="2100" b="1" spc="-5" dirty="0">
                <a:solidFill>
                  <a:schemeClr val="tx1"/>
                </a:solidFill>
                <a:latin typeface="UKIJ Inchike"/>
                <a:cs typeface="UKIJ Inchike"/>
              </a:rPr>
              <a:t>size </a:t>
            </a:r>
            <a:r>
              <a:rPr lang="en-US" sz="2100" b="1" dirty="0">
                <a:solidFill>
                  <a:schemeClr val="tx1"/>
                </a:solidFill>
                <a:latin typeface="UKIJ Inchike"/>
                <a:cs typeface="UKIJ Inchike"/>
              </a:rPr>
              <a:t>or</a:t>
            </a:r>
            <a:r>
              <a:rPr lang="en-US" sz="2100" b="1" spc="-15" dirty="0">
                <a:solidFill>
                  <a:schemeClr val="tx1"/>
                </a:solidFill>
                <a:latin typeface="UKIJ Inchike"/>
                <a:cs typeface="UKIJ Inchike"/>
              </a:rPr>
              <a:t> </a:t>
            </a:r>
            <a:r>
              <a:rPr lang="en-US" sz="2100" b="1" spc="-5" dirty="0">
                <a:solidFill>
                  <a:schemeClr val="tx1"/>
                </a:solidFill>
                <a:latin typeface="UKIJ Inchike"/>
                <a:cs typeface="UKIJ Inchike"/>
              </a:rPr>
              <a:t>capacity</a:t>
            </a:r>
            <a:endParaRPr lang="en-US" sz="2100" dirty="0">
              <a:solidFill>
                <a:schemeClr val="tx1"/>
              </a:solidFill>
              <a:latin typeface="UKIJ Inchike"/>
              <a:cs typeface="UKIJ Inchike"/>
            </a:endParaRP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Total number 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of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elements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are</a:t>
            </a:r>
            <a:r>
              <a:rPr lang="en-US" sz="1900" spc="10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fixed</a:t>
            </a: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354965">
              <a:spcBef>
                <a:spcPts val="500"/>
              </a:spcBef>
              <a:tabLst>
                <a:tab pos="354965" algn="l"/>
                <a:tab pos="355600" algn="l"/>
              </a:tabLst>
            </a:pPr>
            <a:r>
              <a:rPr lang="en-US" sz="2100" b="1" spc="-5" dirty="0">
                <a:solidFill>
                  <a:schemeClr val="tx1"/>
                </a:solidFill>
                <a:latin typeface="UKIJ Inchike"/>
                <a:cs typeface="UKIJ Inchike"/>
              </a:rPr>
              <a:t>Homogeneous</a:t>
            </a:r>
            <a:endParaRPr lang="en-US" sz="2100" dirty="0">
              <a:solidFill>
                <a:schemeClr val="tx1"/>
              </a:solidFill>
              <a:latin typeface="UKIJ Inchike"/>
              <a:cs typeface="UKIJ Inchike"/>
            </a:endParaRP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Elements must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be 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of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the same data type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(and</a:t>
            </a:r>
            <a:r>
              <a:rPr lang="en-US" sz="1900" spc="20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size)</a:t>
            </a: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Use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arrays only for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homogeneous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data</a:t>
            </a:r>
            <a:r>
              <a:rPr lang="en-US" sz="1900" spc="17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sets</a:t>
            </a: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354965">
              <a:spcBef>
                <a:spcPts val="500"/>
              </a:spcBef>
              <a:tabLst>
                <a:tab pos="354965" algn="l"/>
                <a:tab pos="355600" algn="l"/>
              </a:tabLst>
            </a:pPr>
            <a:r>
              <a:rPr lang="en-US" sz="2100" b="1" dirty="0">
                <a:solidFill>
                  <a:schemeClr val="tx1"/>
                </a:solidFill>
                <a:latin typeface="UKIJ Inchike"/>
                <a:cs typeface="UKIJ Inchike"/>
              </a:rPr>
              <a:t>Direct</a:t>
            </a:r>
            <a:r>
              <a:rPr lang="en-US" sz="2100" b="1" spc="-5" dirty="0">
                <a:solidFill>
                  <a:schemeClr val="tx1"/>
                </a:solidFill>
                <a:latin typeface="UKIJ Inchike"/>
                <a:cs typeface="UKIJ Inchike"/>
              </a:rPr>
              <a:t> access</a:t>
            </a:r>
            <a:endParaRPr lang="en-US" sz="2100" dirty="0">
              <a:solidFill>
                <a:schemeClr val="tx1"/>
              </a:solidFill>
              <a:latin typeface="UKIJ Inchike"/>
              <a:cs typeface="UKIJ Inchike"/>
            </a:endParaRP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Elements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are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accessed directly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by their</a:t>
            </a:r>
            <a:r>
              <a:rPr lang="en-US" sz="1900" spc="17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position</a:t>
            </a: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Time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to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access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each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element is</a:t>
            </a:r>
            <a:r>
              <a:rPr lang="en-US" sz="1900" spc="14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same</a:t>
            </a: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Different 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to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sequential access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where an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element is only accessed after  the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preceding</a:t>
            </a:r>
            <a:r>
              <a:rPr lang="en-US" sz="1900" spc="6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elements</a:t>
            </a: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0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1C56-4D89-4F99-8886-6FC2A7E0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Declaring </a:t>
            </a:r>
            <a:r>
              <a:rPr lang="en-US" spc="-5" dirty="0"/>
              <a:t>Arrays in</a:t>
            </a:r>
            <a:r>
              <a:rPr lang="en-US" spc="70" dirty="0"/>
              <a:t> </a:t>
            </a:r>
            <a:r>
              <a:rPr lang="en-US" spc="-10" dirty="0"/>
              <a:t>C/C++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DD1E-D67C-401F-9D45-C03B76804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  <a:tabLst>
                <a:tab pos="1549400" algn="l"/>
              </a:tabLst>
            </a:pPr>
            <a:r>
              <a:rPr lang="en-US" sz="1800" b="1" spc="55" dirty="0">
                <a:solidFill>
                  <a:schemeClr val="tx1"/>
                </a:solidFill>
                <a:latin typeface="Arial"/>
                <a:cs typeface="Arial"/>
              </a:rPr>
              <a:t>datatype</a:t>
            </a:r>
            <a:r>
              <a:rPr lang="en-US" b="1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b="1" spc="150" dirty="0" err="1">
                <a:solidFill>
                  <a:schemeClr val="tx1"/>
                </a:solidFill>
                <a:latin typeface="Arial"/>
                <a:cs typeface="Arial"/>
              </a:rPr>
              <a:t>arrayName</a:t>
            </a:r>
            <a:r>
              <a:rPr lang="en-US" sz="1800" b="1" spc="150" dirty="0">
                <a:solidFill>
                  <a:schemeClr val="tx1"/>
                </a:solidFill>
                <a:latin typeface="Arial"/>
                <a:cs typeface="Arial"/>
              </a:rPr>
              <a:t>[</a:t>
            </a:r>
            <a:r>
              <a:rPr lang="en-US" sz="1800" b="1" spc="150" dirty="0" err="1">
                <a:solidFill>
                  <a:schemeClr val="tx1"/>
                </a:solidFill>
                <a:latin typeface="Arial"/>
                <a:cs typeface="Arial"/>
              </a:rPr>
              <a:t>intExp</a:t>
            </a:r>
            <a:r>
              <a:rPr lang="en-US" sz="1800" b="1" spc="150" dirty="0">
                <a:solidFill>
                  <a:schemeClr val="tx1"/>
                </a:solidFill>
                <a:latin typeface="Arial"/>
                <a:cs typeface="Arial"/>
              </a:rPr>
              <a:t>];</a:t>
            </a:r>
            <a:endParaRPr lang="en-US" sz="2000" dirty="0">
              <a:latin typeface="Arial"/>
              <a:cs typeface="Arial"/>
            </a:endParaRPr>
          </a:p>
          <a:p>
            <a:pPr marL="297815" indent="-285750">
              <a:tabLst>
                <a:tab pos="356235" algn="l"/>
                <a:tab pos="356870" algn="l"/>
              </a:tabLst>
            </a:pPr>
            <a:r>
              <a:rPr lang="en-US" sz="1800" spc="140" dirty="0">
                <a:solidFill>
                  <a:schemeClr val="tx1"/>
                </a:solidFill>
                <a:latin typeface="Arial"/>
                <a:cs typeface="Arial"/>
              </a:rPr>
              <a:t>datatype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– Any data type,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e.g., integer, character,</a:t>
            </a:r>
            <a:r>
              <a:rPr lang="en-US" sz="1800" spc="-6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etc.</a:t>
            </a:r>
          </a:p>
          <a:p>
            <a:pPr marL="297815" indent="-285750">
              <a:spcBef>
                <a:spcPts val="505"/>
              </a:spcBef>
              <a:tabLst>
                <a:tab pos="356235" algn="l"/>
                <a:tab pos="356870" algn="l"/>
              </a:tabLst>
            </a:pPr>
            <a:r>
              <a:rPr lang="en-US" sz="1800" spc="-5" dirty="0" err="1">
                <a:solidFill>
                  <a:schemeClr val="tx1"/>
                </a:solidFill>
                <a:latin typeface="Arial"/>
                <a:cs typeface="Arial"/>
              </a:rPr>
              <a:t>arrayName</a:t>
            </a:r>
            <a:r>
              <a:rPr lang="en-US" sz="18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– Name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of array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using any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valid</a:t>
            </a:r>
            <a:r>
              <a:rPr lang="en-US" sz="1800" spc="7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identifier</a:t>
            </a:r>
            <a:endParaRPr lang="en-US" sz="18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97815" indent="-285750">
              <a:spcBef>
                <a:spcPts val="505"/>
              </a:spcBef>
              <a:tabLst>
                <a:tab pos="356235" algn="l"/>
                <a:tab pos="356870" algn="l"/>
              </a:tabLst>
            </a:pPr>
            <a:r>
              <a:rPr lang="en-US" sz="1800" spc="175" dirty="0" err="1">
                <a:solidFill>
                  <a:schemeClr val="tx1"/>
                </a:solidFill>
                <a:latin typeface="Arial"/>
                <a:cs typeface="Arial"/>
              </a:rPr>
              <a:t>intExp</a:t>
            </a:r>
            <a:r>
              <a:rPr lang="en-US" sz="1800" spc="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– </a:t>
            </a:r>
            <a:r>
              <a:rPr lang="en-US" sz="1800" spc="-5" dirty="0">
                <a:solidFill>
                  <a:srgbClr val="FF0000"/>
                </a:solidFill>
                <a:latin typeface="Tahoma"/>
                <a:cs typeface="Tahoma"/>
              </a:rPr>
              <a:t>Constant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 expression </a:t>
            </a:r>
            <a:r>
              <a:rPr lang="en-US" sz="1800" spc="5" dirty="0">
                <a:solidFill>
                  <a:schemeClr val="tx1"/>
                </a:solidFill>
                <a:latin typeface="Tahoma"/>
                <a:cs typeface="Tahoma"/>
              </a:rPr>
              <a:t>that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evaluates to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a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positive</a:t>
            </a:r>
            <a:r>
              <a:rPr lang="en-US" sz="1800" spc="-7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integer</a:t>
            </a:r>
          </a:p>
          <a:p>
            <a:pPr marL="411480" indent="0" algn="ctr">
              <a:spcBef>
                <a:spcPts val="555"/>
              </a:spcBef>
              <a:buNone/>
              <a:tabLst>
                <a:tab pos="756285" algn="l"/>
                <a:tab pos="756920" algn="l"/>
                <a:tab pos="1555750" algn="l"/>
                <a:tab pos="2087880" algn="l"/>
                <a:tab pos="2754630" algn="l"/>
                <a:tab pos="3019425" algn="l"/>
              </a:tabLst>
            </a:pPr>
            <a:r>
              <a:rPr lang="en-US" b="1" spc="135" dirty="0">
                <a:solidFill>
                  <a:schemeClr val="tx1"/>
                </a:solidFill>
                <a:latin typeface="+mj-lt"/>
                <a:cs typeface="Arial"/>
              </a:rPr>
              <a:t>const </a:t>
            </a:r>
            <a:r>
              <a:rPr lang="en-US" b="1" spc="370" dirty="0">
                <a:solidFill>
                  <a:schemeClr val="tx1"/>
                </a:solidFill>
                <a:latin typeface="+mj-lt"/>
                <a:cs typeface="Arial"/>
              </a:rPr>
              <a:t>int	</a:t>
            </a:r>
            <a:r>
              <a:rPr lang="en-US" b="1" spc="-10" dirty="0">
                <a:solidFill>
                  <a:schemeClr val="tx1"/>
                </a:solidFill>
                <a:latin typeface="+mj-lt"/>
                <a:cs typeface="Arial"/>
              </a:rPr>
              <a:t>SIZE	</a:t>
            </a:r>
            <a:r>
              <a:rPr lang="en-US" b="1" spc="-70" dirty="0">
                <a:solidFill>
                  <a:schemeClr val="tx1"/>
                </a:solidFill>
                <a:latin typeface="+mj-lt"/>
                <a:cs typeface="Arial"/>
              </a:rPr>
              <a:t>=</a:t>
            </a:r>
            <a:r>
              <a:rPr lang="en-US" b="1" spc="165" dirty="0">
                <a:solidFill>
                  <a:schemeClr val="tx1"/>
                </a:solidFill>
                <a:latin typeface="+mj-lt"/>
                <a:cs typeface="Arial"/>
              </a:rPr>
              <a:t>10;</a:t>
            </a:r>
            <a:endParaRPr lang="en-US" b="1" dirty="0">
              <a:solidFill>
                <a:schemeClr val="tx1"/>
              </a:solidFill>
              <a:latin typeface="+mj-lt"/>
              <a:cs typeface="Arial"/>
            </a:endParaRPr>
          </a:p>
          <a:p>
            <a:pPr marL="411480" indent="0" algn="ctr">
              <a:spcBef>
                <a:spcPts val="455"/>
              </a:spcBef>
              <a:buNone/>
              <a:tabLst>
                <a:tab pos="756285" algn="l"/>
                <a:tab pos="756920" algn="l"/>
                <a:tab pos="1288415" algn="l"/>
              </a:tabLst>
            </a:pPr>
            <a:r>
              <a:rPr lang="en-US" b="1" spc="370" dirty="0">
                <a:solidFill>
                  <a:schemeClr val="tx1"/>
                </a:solidFill>
                <a:latin typeface="+mj-lt"/>
                <a:cs typeface="Arial"/>
              </a:rPr>
              <a:t>int </a:t>
            </a:r>
            <a:r>
              <a:rPr lang="en-US" b="1" spc="305" dirty="0">
                <a:solidFill>
                  <a:schemeClr val="tx1"/>
                </a:solidFill>
                <a:latin typeface="+mj-lt"/>
                <a:cs typeface="Arial"/>
              </a:rPr>
              <a:t>list[SIZE];</a:t>
            </a:r>
            <a:endParaRPr lang="en-US" sz="2800" dirty="0">
              <a:latin typeface="Arial"/>
              <a:cs typeface="Arial"/>
            </a:endParaRPr>
          </a:p>
          <a:p>
            <a:pPr marL="297815" marR="5080" indent="-285750">
              <a:lnSpc>
                <a:spcPts val="2440"/>
              </a:lnSpc>
              <a:tabLst>
                <a:tab pos="356235" algn="l"/>
                <a:tab pos="35687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Compiler reserves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a </a:t>
            </a: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block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of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consecutive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memory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locations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enough  </a:t>
            </a:r>
            <a:r>
              <a:rPr lang="en-US" sz="1800" spc="5" dirty="0">
                <a:solidFill>
                  <a:schemeClr val="tx1"/>
                </a:solidFill>
                <a:latin typeface="Tahoma"/>
                <a:cs typeface="Tahoma"/>
              </a:rPr>
              <a:t>to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hold </a:t>
            </a:r>
            <a:r>
              <a:rPr lang="en-US" sz="1800" spc="-15" dirty="0">
                <a:solidFill>
                  <a:schemeClr val="tx1"/>
                </a:solidFill>
                <a:latin typeface="Arial"/>
                <a:cs typeface="Arial"/>
              </a:rPr>
              <a:t>SIZE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values of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type</a:t>
            </a:r>
            <a:r>
              <a:rPr lang="en-US" sz="1800" spc="5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415" dirty="0">
                <a:solidFill>
                  <a:schemeClr val="tx1"/>
                </a:solidFill>
                <a:latin typeface="Arial"/>
                <a:cs typeface="Arial"/>
              </a:rPr>
              <a:t>int</a:t>
            </a:r>
            <a:endParaRPr lang="en-US"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065" indent="0">
              <a:spcBef>
                <a:spcPts val="505"/>
              </a:spcBef>
              <a:buNone/>
              <a:tabLst>
                <a:tab pos="356235" algn="l"/>
                <a:tab pos="356870" algn="l"/>
              </a:tabLst>
            </a:pPr>
            <a:endParaRPr lang="en-US" sz="1800" dirty="0">
              <a:solidFill>
                <a:schemeClr val="tx1"/>
              </a:solidFill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07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02A7-E238-4D49-93CC-F909267C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Accessing Arrays in</a:t>
            </a:r>
            <a:r>
              <a:rPr lang="en-US" dirty="0"/>
              <a:t> </a:t>
            </a:r>
            <a:r>
              <a:rPr lang="en-US" spc="-5" dirty="0"/>
              <a:t>C/C++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514F-BB76-45BC-9A14-B9337BA31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800" b="1" spc="110" dirty="0" err="1">
                <a:solidFill>
                  <a:schemeClr val="tx1"/>
                </a:solidFill>
                <a:latin typeface="Arial"/>
                <a:cs typeface="Arial"/>
              </a:rPr>
              <a:t>arrayName</a:t>
            </a:r>
            <a:r>
              <a:rPr lang="en-US" sz="1800" b="1" spc="110" dirty="0">
                <a:solidFill>
                  <a:schemeClr val="tx1"/>
                </a:solidFill>
                <a:latin typeface="Arial"/>
                <a:cs typeface="Arial"/>
              </a:rPr>
              <a:t>[</a:t>
            </a:r>
            <a:r>
              <a:rPr lang="en-US" sz="1800" b="1" spc="110" dirty="0" err="1">
                <a:solidFill>
                  <a:schemeClr val="tx1"/>
                </a:solidFill>
                <a:latin typeface="Arial"/>
                <a:cs typeface="Arial"/>
              </a:rPr>
              <a:t>indexExp</a:t>
            </a:r>
            <a:r>
              <a:rPr lang="en-US" sz="1800" b="1" spc="110" dirty="0">
                <a:solidFill>
                  <a:schemeClr val="tx1"/>
                </a:solidFill>
                <a:latin typeface="Arial"/>
                <a:cs typeface="Arial"/>
              </a:rPr>
              <a:t>];</a:t>
            </a:r>
            <a:endParaRPr lang="en-US" sz="18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R="5080">
              <a:lnSpc>
                <a:spcPct val="123400"/>
              </a:lnSpc>
              <a:spcBef>
                <a:spcPts val="1390"/>
              </a:spcBef>
              <a:tabLst>
                <a:tab pos="356235" algn="l"/>
                <a:tab pos="356870" algn="l"/>
              </a:tabLst>
            </a:pPr>
            <a:r>
              <a:rPr lang="en-US" sz="1800" spc="70" dirty="0" err="1">
                <a:solidFill>
                  <a:schemeClr val="tx1"/>
                </a:solidFill>
                <a:latin typeface="Arial"/>
                <a:cs typeface="Arial"/>
              </a:rPr>
              <a:t>indexExp</a:t>
            </a:r>
            <a:r>
              <a:rPr lang="en-US" sz="1800" spc="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–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called </a:t>
            </a:r>
            <a:r>
              <a:rPr lang="en-US" sz="1800" spc="-5" dirty="0">
                <a:solidFill>
                  <a:srgbClr val="FF0000"/>
                </a:solidFill>
                <a:latin typeface="Tahoma"/>
                <a:cs typeface="Tahoma"/>
              </a:rPr>
              <a:t>index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,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is any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expression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that evaluates </a:t>
            </a:r>
            <a:r>
              <a:rPr lang="en-US" sz="1800" spc="5" dirty="0">
                <a:solidFill>
                  <a:schemeClr val="tx1"/>
                </a:solidFill>
                <a:latin typeface="Tahoma"/>
                <a:cs typeface="Tahoma"/>
              </a:rPr>
              <a:t>to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a 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positive integer</a:t>
            </a:r>
          </a:p>
          <a:p>
            <a:pPr marL="354965">
              <a:spcBef>
                <a:spcPts val="615"/>
              </a:spcBef>
              <a:tabLst>
                <a:tab pos="356235" algn="l"/>
                <a:tab pos="356870" algn="l"/>
              </a:tabLst>
            </a:pPr>
            <a:r>
              <a:rPr lang="en-US" sz="2100" spc="-10" dirty="0">
                <a:solidFill>
                  <a:schemeClr val="tx1"/>
                </a:solidFill>
                <a:latin typeface="Tahoma"/>
                <a:cs typeface="Tahoma"/>
              </a:rPr>
              <a:t>In</a:t>
            </a:r>
            <a:r>
              <a:rPr lang="en-US" sz="2100" spc="1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2100" spc="-5" dirty="0">
                <a:solidFill>
                  <a:schemeClr val="tx1"/>
                </a:solidFill>
                <a:latin typeface="Tahoma"/>
                <a:cs typeface="Tahoma"/>
              </a:rPr>
              <a:t>C/C++</a:t>
            </a:r>
            <a:endParaRPr lang="en-US" sz="2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Array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index 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starts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at</a:t>
            </a:r>
            <a:r>
              <a:rPr lang="en-US" sz="1900" spc="8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0</a:t>
            </a: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11530" lvl="1" indent="-342900">
              <a:spcBef>
                <a:spcPts val="370"/>
              </a:spcBef>
              <a:tabLst>
                <a:tab pos="756285" algn="l"/>
                <a:tab pos="756920" algn="l"/>
                <a:tab pos="4436745" algn="l"/>
                <a:tab pos="4836795" algn="l"/>
                <a:tab pos="5238750" algn="l"/>
                <a:tab pos="5638165" algn="l"/>
              </a:tabLst>
            </a:pP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l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m</a:t>
            </a:r>
            <a:r>
              <a:rPr lang="en-US" sz="1900" spc="-20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lang="en-US" sz="1900" spc="5" dirty="0">
                <a:solidFill>
                  <a:schemeClr val="tx1"/>
                </a:solidFill>
                <a:latin typeface="Tahoma"/>
                <a:cs typeface="Tahoma"/>
              </a:rPr>
              <a:t>t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s</a:t>
            </a:r>
            <a:r>
              <a:rPr lang="en-US" sz="1900" spc="2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15" dirty="0">
                <a:solidFill>
                  <a:schemeClr val="tx1"/>
                </a:solidFill>
                <a:latin typeface="Tahoma"/>
                <a:cs typeface="Tahoma"/>
              </a:rPr>
              <a:t>o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f</a:t>
            </a:r>
            <a:r>
              <a:rPr lang="en-US" sz="1900" spc="1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rr</a:t>
            </a:r>
            <a:r>
              <a:rPr lang="en-US" sz="1900" spc="-15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y</a:t>
            </a:r>
            <a:r>
              <a:rPr lang="en-US" sz="1900" spc="3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15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lang="en-US" sz="1900" spc="2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in</a:t>
            </a:r>
            <a:r>
              <a:rPr lang="en-US" sz="1900" spc="-15" dirty="0">
                <a:solidFill>
                  <a:schemeClr val="tx1"/>
                </a:solidFill>
                <a:latin typeface="Tahoma"/>
                <a:cs typeface="Tahoma"/>
              </a:rPr>
              <a:t>d</a:t>
            </a:r>
            <a:r>
              <a:rPr lang="en-US" sz="1900" spc="-20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lang="en-US" sz="1900" spc="-15" dirty="0">
                <a:solidFill>
                  <a:schemeClr val="tx1"/>
                </a:solidFill>
                <a:latin typeface="Tahoma"/>
                <a:cs typeface="Tahoma"/>
              </a:rPr>
              <a:t>x</a:t>
            </a: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d</a:t>
            </a:r>
            <a:r>
              <a:rPr lang="en-US" sz="1900" spc="3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15" dirty="0">
                <a:solidFill>
                  <a:schemeClr val="tx1"/>
                </a:solidFill>
                <a:latin typeface="Arial"/>
                <a:cs typeface="Arial"/>
              </a:rPr>
              <a:t>0</a:t>
            </a:r>
            <a:r>
              <a:rPr lang="en-US" sz="1900" spc="509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n-US" sz="1900" dirty="0">
                <a:solidFill>
                  <a:schemeClr val="tx1"/>
                </a:solidFill>
                <a:latin typeface="Arial"/>
                <a:cs typeface="Arial"/>
              </a:rPr>
              <a:t>	1</a:t>
            </a:r>
            <a:r>
              <a:rPr lang="en-US" sz="1900" spc="509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n-US" sz="19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en-US" sz="1900" spc="-15" dirty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en-US" sz="1900" spc="509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n-US" sz="19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en-US" sz="1900" spc="-860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r>
              <a:rPr lang="en-US" sz="1900" spc="509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lang="en-US" sz="1900" dirty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en-US" sz="1900" spc="-225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lang="en-US" sz="1900" spc="509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900" spc="-120" dirty="0">
                <a:solidFill>
                  <a:schemeClr val="tx1"/>
                </a:solidFill>
                <a:latin typeface="Arial"/>
                <a:cs typeface="Arial"/>
              </a:rPr>
              <a:t>Z</a:t>
            </a:r>
            <a:r>
              <a:rPr lang="en-US" sz="1900" spc="-22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lang="en-US" sz="1900" spc="405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lang="en-US" sz="1900" spc="-15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  <a:endParaRPr lang="en-US" sz="19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  <a:tab pos="1023619" algn="l"/>
                <a:tab pos="1289050" algn="l"/>
              </a:tabLst>
            </a:pPr>
            <a:r>
              <a:rPr lang="en-US" sz="1900" spc="509" dirty="0">
                <a:solidFill>
                  <a:schemeClr val="tx1"/>
                </a:solidFill>
                <a:latin typeface="Arial"/>
                <a:cs typeface="Arial"/>
              </a:rPr>
              <a:t>[	]	</a:t>
            </a:r>
            <a:r>
              <a:rPr lang="en-US" sz="1900" spc="-5" dirty="0">
                <a:solidFill>
                  <a:schemeClr val="tx1"/>
                </a:solidFill>
                <a:latin typeface="Tahoma"/>
                <a:cs typeface="Tahoma"/>
              </a:rPr>
              <a:t>is called array subscripting</a:t>
            </a:r>
            <a:r>
              <a:rPr lang="en-US" sz="1900" spc="11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900" spc="-10" dirty="0">
                <a:solidFill>
                  <a:schemeClr val="tx1"/>
                </a:solidFill>
                <a:latin typeface="Tahoma"/>
                <a:cs typeface="Tahoma"/>
              </a:rPr>
              <a:t>operator</a:t>
            </a:r>
          </a:p>
          <a:p>
            <a:pPr marL="468630" lvl="1" indent="0" algn="ctr">
              <a:spcBef>
                <a:spcPts val="455"/>
              </a:spcBef>
              <a:buNone/>
              <a:tabLst>
                <a:tab pos="756285" algn="l"/>
                <a:tab pos="756920" algn="l"/>
                <a:tab pos="1023619" algn="l"/>
                <a:tab pos="1289050" algn="l"/>
              </a:tabLst>
            </a:pP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int value =list[2]</a:t>
            </a:r>
          </a:p>
          <a:p>
            <a:pPr marL="468630" lvl="1" indent="0" algn="ctr">
              <a:spcBef>
                <a:spcPts val="455"/>
              </a:spcBef>
              <a:buNone/>
              <a:tabLst>
                <a:tab pos="756285" algn="l"/>
                <a:tab pos="756920" algn="l"/>
                <a:tab pos="1023619" algn="l"/>
                <a:tab pos="1289050" algn="l"/>
              </a:tabLst>
            </a:pPr>
            <a:r>
              <a:rPr lang="en-US" sz="1900" dirty="0">
                <a:solidFill>
                  <a:schemeClr val="tx1"/>
                </a:solidFill>
                <a:latin typeface="Tahoma"/>
                <a:cs typeface="Tahoma"/>
              </a:rPr>
              <a:t>list[0]=value*2;</a:t>
            </a:r>
          </a:p>
          <a:p>
            <a:pPr marL="356235" marR="5080" indent="-356235">
              <a:lnSpc>
                <a:spcPct val="123400"/>
              </a:lnSpc>
              <a:spcBef>
                <a:spcPts val="1390"/>
              </a:spcBef>
              <a:buChar char="•"/>
              <a:tabLst>
                <a:tab pos="356235" algn="l"/>
                <a:tab pos="356870" algn="l"/>
              </a:tabLst>
            </a:pPr>
            <a:endParaRPr lang="en-US" sz="18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50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6F46-9C4D-4532-B9E9-EA62B044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C/C++ </a:t>
            </a:r>
            <a:r>
              <a:rPr lang="en-US" spc="-5" dirty="0"/>
              <a:t>Implementation </a:t>
            </a:r>
            <a:r>
              <a:rPr lang="en-US" spc="-10" dirty="0"/>
              <a:t>of </a:t>
            </a:r>
            <a:r>
              <a:rPr lang="en-US" dirty="0"/>
              <a:t>an </a:t>
            </a:r>
            <a:r>
              <a:rPr lang="en-US" spc="-5" dirty="0"/>
              <a:t>Array</a:t>
            </a:r>
            <a:r>
              <a:rPr lang="en-US" spc="85" dirty="0"/>
              <a:t> </a:t>
            </a:r>
            <a:r>
              <a:rPr lang="en-US" spc="-5" dirty="0"/>
              <a:t>ADT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B0439A8-D3A2-4929-B01C-0FF2EA9D4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172753"/>
              </p:ext>
            </p:extLst>
          </p:nvPr>
        </p:nvGraphicFramePr>
        <p:xfrm>
          <a:off x="1847850" y="2119376"/>
          <a:ext cx="8496300" cy="1854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7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UKIJ Inchike"/>
                          <a:cs typeface="UKIJ Inchike"/>
                        </a:rPr>
                        <a:t>As an</a:t>
                      </a:r>
                      <a:r>
                        <a:rPr sz="1800" b="1" spc="-35" dirty="0">
                          <a:solidFill>
                            <a:srgbClr val="FF0000"/>
                          </a:solidFill>
                          <a:latin typeface="UKIJ Inchike"/>
                          <a:cs typeface="UKIJ Inchike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UKIJ Inchike"/>
                          <a:cs typeface="UKIJ Inchike"/>
                        </a:rPr>
                        <a:t>ADT</a:t>
                      </a:r>
                      <a:endParaRPr sz="1800">
                        <a:solidFill>
                          <a:srgbClr val="FF0000"/>
                        </a:solidFill>
                        <a:latin typeface="UKIJ Inchike"/>
                        <a:cs typeface="UKIJ Inchike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5" dirty="0">
                          <a:solidFill>
                            <a:srgbClr val="FF0000"/>
                          </a:solidFill>
                          <a:latin typeface="UKIJ Inchike"/>
                          <a:cs typeface="UKIJ Inchike"/>
                        </a:rPr>
                        <a:t>In</a:t>
                      </a:r>
                      <a:r>
                        <a:rPr sz="1800" b="1" spc="-30" dirty="0">
                          <a:solidFill>
                            <a:srgbClr val="FF0000"/>
                          </a:solidFill>
                          <a:latin typeface="UKIJ Inchike"/>
                          <a:cs typeface="UKIJ Inchike"/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UKIJ Inchike"/>
                          <a:cs typeface="UKIJ Inchike"/>
                        </a:rPr>
                        <a:t>C/C++</a:t>
                      </a:r>
                      <a:endParaRPr sz="1800" dirty="0">
                        <a:solidFill>
                          <a:srgbClr val="FF0000"/>
                        </a:solidFill>
                        <a:latin typeface="UKIJ Inchike"/>
                        <a:cs typeface="UKIJ Inchike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Ordered</a:t>
                      </a:r>
                      <a:endParaRPr sz="180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1692910" algn="l"/>
                        </a:tabLst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Index:</a:t>
                      </a:r>
                      <a:r>
                        <a:rPr sz="1800" spc="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229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0,1,2,	</a:t>
                      </a:r>
                      <a:r>
                        <a:rPr sz="1800" spc="-81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…</a:t>
                      </a:r>
                      <a:r>
                        <a:rPr sz="1800" spc="484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4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SIZE-1</a:t>
                      </a:r>
                      <a:endParaRPr sz="18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1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Fixed</a:t>
                      </a:r>
                      <a:r>
                        <a:rPr sz="1800" spc="2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Size</a:t>
                      </a:r>
                      <a:endParaRPr sz="180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979805" algn="l"/>
                        </a:tabLst>
                      </a:pPr>
                      <a:r>
                        <a:rPr sz="1800" spc="14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intExp	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 constant</a:t>
                      </a:r>
                      <a:endParaRPr sz="180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Homogeneous</a:t>
                      </a:r>
                      <a:endParaRPr sz="180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4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dataType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is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the type of all</a:t>
                      </a:r>
                      <a:r>
                        <a:rPr sz="1800" spc="3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elements</a:t>
                      </a:r>
                      <a:endParaRPr sz="180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Direct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endParaRPr sz="180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Array 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subscripting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ahoma"/>
                          <a:cs typeface="Tahoma"/>
                        </a:rPr>
                        <a:t>operator </a:t>
                      </a:r>
                      <a:r>
                        <a:rPr sz="1800" spc="484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[</a:t>
                      </a:r>
                      <a:r>
                        <a:rPr sz="1800" spc="51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484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]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747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C043-183C-45F4-B891-B6CC30AC4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Array </a:t>
            </a:r>
            <a:r>
              <a:rPr lang="en-US" spc="-10" dirty="0"/>
              <a:t>Initialization </a:t>
            </a:r>
            <a:r>
              <a:rPr lang="en-US" spc="-5" dirty="0"/>
              <a:t>in </a:t>
            </a:r>
            <a:r>
              <a:rPr lang="en-US" spc="-10" dirty="0"/>
              <a:t>C/C++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4AF33-9062-432D-A058-4E5256522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err="1"/>
              <a:t>dataType</a:t>
            </a:r>
            <a:r>
              <a:rPr lang="en-US" b="1" dirty="0"/>
              <a:t>	</a:t>
            </a:r>
            <a:r>
              <a:rPr lang="en-US" b="1" dirty="0" err="1"/>
              <a:t>arrayName</a:t>
            </a:r>
            <a:r>
              <a:rPr lang="en-US" b="1" dirty="0"/>
              <a:t>[</a:t>
            </a:r>
            <a:r>
              <a:rPr lang="en-US" b="1" dirty="0" err="1"/>
              <a:t>intExp</a:t>
            </a:r>
            <a:r>
              <a:rPr lang="en-US" b="1" dirty="0"/>
              <a:t>]={list	</a:t>
            </a:r>
            <a:r>
              <a:rPr lang="en-US" b="1" dirty="0" err="1"/>
              <a:t>ofvalues</a:t>
            </a:r>
            <a:r>
              <a:rPr lang="en-US" b="1" dirty="0"/>
              <a:t>}</a:t>
            </a:r>
          </a:p>
          <a:p>
            <a:pPr marL="297815" indent="-285750">
              <a:spcBef>
                <a:spcPts val="1885"/>
              </a:spcBef>
              <a:tabLst>
                <a:tab pos="356235" algn="l"/>
                <a:tab pos="356870" algn="l"/>
              </a:tabLst>
            </a:pPr>
            <a:r>
              <a:rPr lang="en-US" spc="-10" dirty="0">
                <a:solidFill>
                  <a:schemeClr val="tx1"/>
                </a:solidFill>
                <a:latin typeface="+mj-lt"/>
                <a:cs typeface="Tahoma"/>
              </a:rPr>
              <a:t>In C/C++,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arrays </a:t>
            </a:r>
            <a:r>
              <a:rPr lang="en-US" dirty="0">
                <a:solidFill>
                  <a:schemeClr val="tx1"/>
                </a:solidFill>
                <a:latin typeface="+mj-lt"/>
                <a:cs typeface="Tahoma"/>
              </a:rPr>
              <a:t>can </a:t>
            </a:r>
            <a:r>
              <a:rPr lang="en-US" spc="5" dirty="0">
                <a:solidFill>
                  <a:schemeClr val="tx1"/>
                </a:solidFill>
                <a:latin typeface="+mj-lt"/>
                <a:cs typeface="Tahoma"/>
              </a:rPr>
              <a:t>be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initialized </a:t>
            </a:r>
            <a:r>
              <a:rPr lang="en-US" spc="-10" dirty="0">
                <a:solidFill>
                  <a:schemeClr val="tx1"/>
                </a:solidFill>
                <a:latin typeface="+mj-lt"/>
                <a:cs typeface="Tahoma"/>
              </a:rPr>
              <a:t>at</a:t>
            </a:r>
            <a:r>
              <a:rPr lang="en-US" spc="40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+mj-lt"/>
                <a:cs typeface="Tahoma"/>
              </a:rPr>
              <a:t>declaration</a:t>
            </a:r>
            <a:endParaRPr lang="en-US" dirty="0">
              <a:solidFill>
                <a:srgbClr val="FF0000"/>
              </a:solidFill>
              <a:latin typeface="+mj-lt"/>
              <a:cs typeface="Tahoma"/>
            </a:endParaRPr>
          </a:p>
          <a:p>
            <a:pPr marL="412115" indent="-285750">
              <a:spcBef>
                <a:spcPts val="375"/>
              </a:spcBef>
              <a:tabLst>
                <a:tab pos="756285" algn="l"/>
              </a:tabLst>
            </a:pPr>
            <a:r>
              <a:rPr lang="en-US" spc="160" dirty="0" err="1">
                <a:solidFill>
                  <a:schemeClr val="tx1"/>
                </a:solidFill>
                <a:latin typeface="+mj-lt"/>
                <a:cs typeface="Arial"/>
              </a:rPr>
              <a:t>intExp</a:t>
            </a:r>
            <a:r>
              <a:rPr lang="en-US" spc="160" dirty="0">
                <a:solidFill>
                  <a:schemeClr val="tx1"/>
                </a:solidFill>
                <a:latin typeface="+mj-lt"/>
                <a:cs typeface="Arial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is </a:t>
            </a:r>
            <a:r>
              <a:rPr lang="en-US" spc="-5" dirty="0">
                <a:solidFill>
                  <a:srgbClr val="FF0000"/>
                </a:solidFill>
                <a:latin typeface="+mj-lt"/>
                <a:cs typeface="Tahoma"/>
              </a:rPr>
              <a:t>optional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: </a:t>
            </a:r>
            <a:r>
              <a:rPr lang="en-US" spc="-10" dirty="0">
                <a:solidFill>
                  <a:schemeClr val="tx1"/>
                </a:solidFill>
                <a:latin typeface="+mj-lt"/>
                <a:cs typeface="Tahoma"/>
              </a:rPr>
              <a:t>Not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necessary </a:t>
            </a:r>
            <a:r>
              <a:rPr lang="en-US" dirty="0">
                <a:solidFill>
                  <a:schemeClr val="tx1"/>
                </a:solidFill>
                <a:latin typeface="+mj-lt"/>
                <a:cs typeface="Tahoma"/>
              </a:rPr>
              <a:t>to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specify the</a:t>
            </a:r>
            <a:r>
              <a:rPr lang="en-US" spc="130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size</a:t>
            </a:r>
          </a:p>
          <a:p>
            <a:pPr marL="126365" indent="0">
              <a:spcBef>
                <a:spcPts val="375"/>
              </a:spcBef>
              <a:buNone/>
              <a:tabLst>
                <a:tab pos="756285" algn="l"/>
              </a:tabLst>
            </a:pPr>
            <a:endParaRPr lang="en-US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297815" indent="-285750">
              <a:tabLst>
                <a:tab pos="356235" algn="l"/>
                <a:tab pos="356870" algn="l"/>
              </a:tabLst>
            </a:pP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Example: </a:t>
            </a:r>
            <a:r>
              <a:rPr lang="en-US" dirty="0">
                <a:solidFill>
                  <a:schemeClr val="tx1"/>
                </a:solidFill>
                <a:latin typeface="+mj-lt"/>
                <a:cs typeface="Tahoma"/>
              </a:rPr>
              <a:t>Numeric</a:t>
            </a:r>
            <a:r>
              <a:rPr lang="en-US" spc="-45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arrays</a:t>
            </a:r>
            <a:endParaRPr lang="en-US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412115" indent="-285750">
              <a:spcBef>
                <a:spcPts val="355"/>
              </a:spcBef>
              <a:tabLst>
                <a:tab pos="756285" algn="l"/>
                <a:tab pos="1687830" algn="l"/>
                <a:tab pos="2621915" algn="l"/>
                <a:tab pos="2887345" algn="l"/>
                <a:tab pos="3154045" algn="l"/>
                <a:tab pos="4088765" algn="l"/>
                <a:tab pos="4888230" algn="l"/>
                <a:tab pos="5685155" algn="l"/>
                <a:tab pos="6487160" algn="l"/>
              </a:tabLst>
            </a:pPr>
            <a:r>
              <a:rPr lang="en-US" spc="95" dirty="0">
                <a:solidFill>
                  <a:schemeClr val="tx1"/>
                </a:solidFill>
                <a:latin typeface="+mj-lt"/>
                <a:cs typeface="Arial"/>
              </a:rPr>
              <a:t>double </a:t>
            </a:r>
            <a:r>
              <a:rPr lang="en-US" spc="185" dirty="0">
                <a:solidFill>
                  <a:schemeClr val="tx1"/>
                </a:solidFill>
                <a:latin typeface="+mj-lt"/>
                <a:cs typeface="Arial"/>
              </a:rPr>
              <a:t>score[</a:t>
            </a:r>
            <a:r>
              <a:rPr lang="en-US" spc="509" dirty="0">
                <a:solidFill>
                  <a:schemeClr val="tx1"/>
                </a:solidFill>
                <a:latin typeface="+mj-lt"/>
                <a:cs typeface="Arial"/>
              </a:rPr>
              <a:t>]</a:t>
            </a:r>
            <a:r>
              <a:rPr lang="en-US" spc="-70" dirty="0">
                <a:solidFill>
                  <a:schemeClr val="tx1"/>
                </a:solidFill>
                <a:latin typeface="+mj-lt"/>
                <a:cs typeface="Arial"/>
              </a:rPr>
              <a:t>=</a:t>
            </a:r>
            <a:r>
              <a:rPr lang="en-US" spc="235" dirty="0">
                <a:solidFill>
                  <a:schemeClr val="tx1"/>
                </a:solidFill>
                <a:latin typeface="+mj-lt"/>
                <a:cs typeface="Arial"/>
              </a:rPr>
              <a:t>{0.11,	</a:t>
            </a:r>
            <a:r>
              <a:rPr lang="en-US" spc="200" dirty="0">
                <a:solidFill>
                  <a:schemeClr val="tx1"/>
                </a:solidFill>
                <a:latin typeface="+mj-lt"/>
                <a:cs typeface="Arial"/>
              </a:rPr>
              <a:t>0.13,0.16,	0.18,</a:t>
            </a:r>
            <a:r>
              <a:rPr lang="en-US" spc="175" dirty="0">
                <a:solidFill>
                  <a:schemeClr val="tx1"/>
                </a:solidFill>
                <a:latin typeface="+mj-lt"/>
                <a:cs typeface="Arial"/>
              </a:rPr>
              <a:t>0.21}</a:t>
            </a:r>
          </a:p>
          <a:p>
            <a:pPr marL="126365" indent="0">
              <a:spcBef>
                <a:spcPts val="355"/>
              </a:spcBef>
              <a:buNone/>
              <a:tabLst>
                <a:tab pos="756285" algn="l"/>
                <a:tab pos="1687830" algn="l"/>
                <a:tab pos="2621915" algn="l"/>
                <a:tab pos="2887345" algn="l"/>
                <a:tab pos="3154045" algn="l"/>
                <a:tab pos="4088765" algn="l"/>
                <a:tab pos="4888230" algn="l"/>
                <a:tab pos="5685155" algn="l"/>
                <a:tab pos="6487160" algn="l"/>
              </a:tabLst>
            </a:pPr>
            <a:endParaRPr lang="en-US" dirty="0">
              <a:solidFill>
                <a:schemeClr val="tx1"/>
              </a:solidFill>
              <a:latin typeface="+mj-lt"/>
              <a:cs typeface="Arial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52195A-09CC-4713-8A8B-E899FF4D9DE6}"/>
              </a:ext>
            </a:extLst>
          </p:cNvPr>
          <p:cNvGrpSpPr/>
          <p:nvPr/>
        </p:nvGrpSpPr>
        <p:grpSpPr>
          <a:xfrm>
            <a:off x="4031995" y="4700929"/>
            <a:ext cx="4110991" cy="750672"/>
            <a:chOff x="4031995" y="4700929"/>
            <a:chExt cx="4110991" cy="750672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C919F2B1-6D7F-4797-925C-FBFA3E2BCC28}"/>
                </a:ext>
              </a:extLst>
            </p:cNvPr>
            <p:cNvSpPr/>
            <p:nvPr/>
          </p:nvSpPr>
          <p:spPr>
            <a:xfrm>
              <a:off x="4768596" y="5056631"/>
              <a:ext cx="3374390" cy="394970"/>
            </a:xfrm>
            <a:custGeom>
              <a:avLst/>
              <a:gdLst/>
              <a:ahLst/>
              <a:cxnLst/>
              <a:rect l="l" t="t" r="r" b="b"/>
              <a:pathLst>
                <a:path w="3374390" h="394970">
                  <a:moveTo>
                    <a:pt x="3374136" y="6096"/>
                  </a:moveTo>
                  <a:lnTo>
                    <a:pt x="3368040" y="0"/>
                  </a:lnTo>
                  <a:lnTo>
                    <a:pt x="3348228" y="0"/>
                  </a:lnTo>
                  <a:lnTo>
                    <a:pt x="3348228" y="25920"/>
                  </a:lnTo>
                  <a:lnTo>
                    <a:pt x="3348228" y="368820"/>
                  </a:lnTo>
                  <a:lnTo>
                    <a:pt x="2653284" y="368820"/>
                  </a:lnTo>
                  <a:lnTo>
                    <a:pt x="2653284" y="25920"/>
                  </a:lnTo>
                  <a:lnTo>
                    <a:pt x="3348228" y="25920"/>
                  </a:lnTo>
                  <a:lnTo>
                    <a:pt x="3348228" y="0"/>
                  </a:lnTo>
                  <a:lnTo>
                    <a:pt x="2628900" y="0"/>
                  </a:lnTo>
                  <a:lnTo>
                    <a:pt x="2628900" y="25920"/>
                  </a:lnTo>
                  <a:lnTo>
                    <a:pt x="2628900" y="368820"/>
                  </a:lnTo>
                  <a:lnTo>
                    <a:pt x="1990344" y="368820"/>
                  </a:lnTo>
                  <a:lnTo>
                    <a:pt x="1990344" y="25920"/>
                  </a:lnTo>
                  <a:lnTo>
                    <a:pt x="2628900" y="25920"/>
                  </a:lnTo>
                  <a:lnTo>
                    <a:pt x="2628900" y="0"/>
                  </a:lnTo>
                  <a:lnTo>
                    <a:pt x="1965960" y="0"/>
                  </a:lnTo>
                  <a:lnTo>
                    <a:pt x="1965960" y="25920"/>
                  </a:lnTo>
                  <a:lnTo>
                    <a:pt x="1965960" y="368820"/>
                  </a:lnTo>
                  <a:lnTo>
                    <a:pt x="1331976" y="368820"/>
                  </a:lnTo>
                  <a:lnTo>
                    <a:pt x="1331976" y="25920"/>
                  </a:lnTo>
                  <a:lnTo>
                    <a:pt x="1965960" y="25920"/>
                  </a:lnTo>
                  <a:lnTo>
                    <a:pt x="1965960" y="0"/>
                  </a:lnTo>
                  <a:lnTo>
                    <a:pt x="1306068" y="0"/>
                  </a:lnTo>
                  <a:lnTo>
                    <a:pt x="1306068" y="25920"/>
                  </a:lnTo>
                  <a:lnTo>
                    <a:pt x="1306068" y="368820"/>
                  </a:lnTo>
                  <a:lnTo>
                    <a:pt x="675132" y="368820"/>
                  </a:lnTo>
                  <a:lnTo>
                    <a:pt x="675132" y="25920"/>
                  </a:lnTo>
                  <a:lnTo>
                    <a:pt x="1306068" y="25920"/>
                  </a:lnTo>
                  <a:lnTo>
                    <a:pt x="1306068" y="0"/>
                  </a:lnTo>
                  <a:lnTo>
                    <a:pt x="649224" y="0"/>
                  </a:lnTo>
                  <a:lnTo>
                    <a:pt x="649224" y="25920"/>
                  </a:lnTo>
                  <a:lnTo>
                    <a:pt x="649224" y="368820"/>
                  </a:lnTo>
                  <a:lnTo>
                    <a:pt x="25908" y="368820"/>
                  </a:lnTo>
                  <a:lnTo>
                    <a:pt x="25908" y="25920"/>
                  </a:lnTo>
                  <a:lnTo>
                    <a:pt x="649224" y="25920"/>
                  </a:lnTo>
                  <a:lnTo>
                    <a:pt x="649224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388632"/>
                  </a:lnTo>
                  <a:lnTo>
                    <a:pt x="6096" y="394728"/>
                  </a:lnTo>
                  <a:lnTo>
                    <a:pt x="3368040" y="394728"/>
                  </a:lnTo>
                  <a:lnTo>
                    <a:pt x="3374136" y="388632"/>
                  </a:lnTo>
                  <a:lnTo>
                    <a:pt x="3374136" y="382536"/>
                  </a:lnTo>
                  <a:lnTo>
                    <a:pt x="3374136" y="368820"/>
                  </a:lnTo>
                  <a:lnTo>
                    <a:pt x="3374136" y="25920"/>
                  </a:lnTo>
                  <a:lnTo>
                    <a:pt x="3374136" y="12192"/>
                  </a:lnTo>
                  <a:lnTo>
                    <a:pt x="3374136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E04D9D42-CA46-42CA-8C7C-608160AFA477}"/>
                </a:ext>
              </a:extLst>
            </p:cNvPr>
            <p:cNvSpPr txBox="1"/>
            <p:nvPr/>
          </p:nvSpPr>
          <p:spPr>
            <a:xfrm>
              <a:off x="4859551" y="4700929"/>
              <a:ext cx="3110865" cy="699770"/>
            </a:xfrm>
            <a:prstGeom prst="rect">
              <a:avLst/>
            </a:prstGeom>
          </p:spPr>
          <p:txBody>
            <a:bodyPr vert="horz" wrap="square" lIns="0" tIns="74930" rIns="0" bIns="0" rtlCol="0">
              <a:spAutoFit/>
            </a:bodyPr>
            <a:lstStyle/>
            <a:p>
              <a:pPr marL="42545" algn="ctr">
                <a:lnSpc>
                  <a:spcPct val="100000"/>
                </a:lnSpc>
                <a:spcBef>
                  <a:spcPts val="590"/>
                </a:spcBef>
                <a:tabLst>
                  <a:tab pos="712470" algn="l"/>
                  <a:tab pos="1357630" algn="l"/>
                  <a:tab pos="2020570" algn="l"/>
                  <a:tab pos="2703830" algn="l"/>
                </a:tabLst>
              </a:pPr>
              <a:r>
                <a:rPr sz="2700" baseline="4629" dirty="0">
                  <a:latin typeface="Tahoma"/>
                  <a:cs typeface="Tahoma"/>
                </a:rPr>
                <a:t>0	</a:t>
              </a:r>
              <a:r>
                <a:rPr sz="1800" dirty="0">
                  <a:latin typeface="Tahoma"/>
                  <a:cs typeface="Tahoma"/>
                </a:rPr>
                <a:t>1	</a:t>
              </a:r>
              <a:r>
                <a:rPr sz="2700" baseline="3086" dirty="0">
                  <a:latin typeface="Tahoma"/>
                  <a:cs typeface="Tahoma"/>
                </a:rPr>
                <a:t>2	3	4</a:t>
              </a:r>
            </a:p>
            <a:p>
              <a:pPr algn="ctr">
                <a:lnSpc>
                  <a:spcPct val="100000"/>
                </a:lnSpc>
                <a:spcBef>
                  <a:spcPts val="495"/>
                </a:spcBef>
                <a:tabLst>
                  <a:tab pos="660400" algn="l"/>
                  <a:tab pos="1320800" algn="l"/>
                  <a:tab pos="1981835" algn="l"/>
                  <a:tab pos="2639695" algn="l"/>
                </a:tabLst>
              </a:pPr>
              <a:r>
                <a:rPr sz="1800" spc="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-15" dirty="0">
                  <a:latin typeface="Tahoma"/>
                  <a:cs typeface="Tahoma"/>
                </a:rPr>
                <a:t>1</a:t>
              </a:r>
              <a:r>
                <a:rPr sz="1800" dirty="0">
                  <a:latin typeface="Tahoma"/>
                  <a:cs typeface="Tahoma"/>
                </a:rPr>
                <a:t>1	</a:t>
              </a:r>
              <a:r>
                <a:rPr sz="1800" spc="-1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5" dirty="0">
                  <a:latin typeface="Tahoma"/>
                  <a:cs typeface="Tahoma"/>
                </a:rPr>
                <a:t>1</a:t>
              </a:r>
              <a:r>
                <a:rPr sz="1800" dirty="0">
                  <a:latin typeface="Tahoma"/>
                  <a:cs typeface="Tahoma"/>
                </a:rPr>
                <a:t>3	</a:t>
              </a:r>
              <a:r>
                <a:rPr sz="1800" spc="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-15" dirty="0">
                  <a:latin typeface="Tahoma"/>
                  <a:cs typeface="Tahoma"/>
                </a:rPr>
                <a:t>1</a:t>
              </a:r>
              <a:r>
                <a:rPr sz="1800" dirty="0">
                  <a:latin typeface="Tahoma"/>
                  <a:cs typeface="Tahoma"/>
                </a:rPr>
                <a:t>6	</a:t>
              </a:r>
              <a:r>
                <a:rPr sz="1800" spc="-1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5" dirty="0">
                  <a:latin typeface="Tahoma"/>
                  <a:cs typeface="Tahoma"/>
                </a:rPr>
                <a:t>1</a:t>
              </a:r>
              <a:r>
                <a:rPr sz="1800" dirty="0">
                  <a:latin typeface="Tahoma"/>
                  <a:cs typeface="Tahoma"/>
                </a:rPr>
                <a:t>8	</a:t>
              </a:r>
              <a:r>
                <a:rPr sz="1800" spc="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5" dirty="0">
                  <a:latin typeface="Tahoma"/>
                  <a:cs typeface="Tahoma"/>
                </a:rPr>
                <a:t>2</a:t>
              </a:r>
              <a:r>
                <a:rPr sz="1800" dirty="0">
                  <a:latin typeface="Tahoma"/>
                  <a:cs typeface="Tahoma"/>
                </a:rPr>
                <a:t>1</a:t>
              </a: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3B62CB12-562C-4EAE-B1BF-40BE3B2EDACB}"/>
                </a:ext>
              </a:extLst>
            </p:cNvPr>
            <p:cNvSpPr txBox="1"/>
            <p:nvPr/>
          </p:nvSpPr>
          <p:spPr>
            <a:xfrm>
              <a:off x="4031995" y="5103366"/>
              <a:ext cx="55753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5" dirty="0">
                  <a:latin typeface="Tahoma"/>
                  <a:cs typeface="Tahoma"/>
                </a:rPr>
                <a:t>s</a:t>
              </a:r>
              <a:r>
                <a:rPr sz="1800" spc="-5" dirty="0">
                  <a:latin typeface="Tahoma"/>
                  <a:cs typeface="Tahoma"/>
                </a:rPr>
                <a:t>c</a:t>
              </a:r>
              <a:r>
                <a:rPr sz="1800" spc="-10" dirty="0">
                  <a:latin typeface="Tahoma"/>
                  <a:cs typeface="Tahoma"/>
                </a:rPr>
                <a:t>o</a:t>
              </a:r>
              <a:r>
                <a:rPr sz="1800" spc="-20" dirty="0">
                  <a:latin typeface="Tahoma"/>
                  <a:cs typeface="Tahoma"/>
                </a:rPr>
                <a:t>r</a:t>
              </a:r>
              <a:r>
                <a:rPr sz="1800" dirty="0">
                  <a:latin typeface="Tahoma"/>
                  <a:cs typeface="Tahoma"/>
                </a:rPr>
                <a:t>e</a:t>
              </a:r>
              <a:endParaRPr sz="1800">
                <a:latin typeface="Tahoma"/>
                <a:cs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172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1D89-BB1C-4FE2-AF8A-A643F27E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Array </a:t>
            </a:r>
            <a:r>
              <a:rPr lang="en-US" spc="-1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Initialization</a:t>
            </a:r>
            <a:r>
              <a:rPr lang="en-US" spc="-10" dirty="0"/>
              <a:t> </a:t>
            </a:r>
            <a:r>
              <a:rPr lang="en-US" spc="-5" dirty="0"/>
              <a:t>in </a:t>
            </a:r>
            <a:r>
              <a:rPr lang="en-US" spc="-10" dirty="0"/>
              <a:t>C/C++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24D89-094E-4596-BD58-253021DC0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91920"/>
            <a:ext cx="8915400" cy="3777622"/>
          </a:xfrm>
        </p:spPr>
        <p:txBody>
          <a:bodyPr/>
          <a:lstStyle/>
          <a:p>
            <a:pPr marL="354965" algn="just">
              <a:spcBef>
                <a:spcPts val="615"/>
              </a:spcBef>
              <a:tabLst>
                <a:tab pos="354965" algn="l"/>
                <a:tab pos="355600" algn="l"/>
              </a:tabLst>
            </a:pPr>
            <a:r>
              <a:rPr lang="en-US" sz="21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Fewer </a:t>
            </a:r>
            <a:r>
              <a:rPr 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values </a:t>
            </a:r>
            <a:r>
              <a:rPr 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sz="21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specified </a:t>
            </a:r>
            <a:r>
              <a:rPr lang="en-US" sz="2100" spc="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1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1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declared size </a:t>
            </a:r>
            <a:r>
              <a:rPr lang="en-US" sz="21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2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sz="2100" spc="1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</a:t>
            </a:r>
            <a:endParaRPr lang="en-US" sz="2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11530" lvl="1" indent="-342900" algn="just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Numeric arrays</a:t>
            </a:r>
            <a:r>
              <a:rPr lang="en-US" sz="19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Remaining elements </a:t>
            </a:r>
            <a:r>
              <a:rPr lang="en-US" sz="1900" spc="-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sz="19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assigned</a:t>
            </a:r>
            <a:r>
              <a:rPr lang="en-US" sz="1900" spc="18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zero</a:t>
            </a:r>
            <a:endParaRPr lang="en-US" sz="19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11530" lvl="1" indent="-342900" algn="just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Character arrays</a:t>
            </a:r>
            <a:r>
              <a:rPr lang="en-US" sz="19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900" spc="-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Remaining </a:t>
            </a:r>
            <a:r>
              <a:rPr lang="en-US" sz="19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elements contains </a:t>
            </a:r>
            <a:r>
              <a:rPr lang="en-US" sz="1900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 </a:t>
            </a:r>
            <a:r>
              <a:rPr lang="en-US" sz="19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character</a:t>
            </a:r>
            <a:r>
              <a:rPr lang="en-US" sz="1900" spc="29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spc="-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‘\0</a:t>
            </a:r>
            <a:r>
              <a:rPr lang="en-US" sz="1800" spc="-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1800" spc="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‘\0’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z="1800" spc="-4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zero</a:t>
            </a:r>
          </a:p>
          <a:p>
            <a:pPr marL="68580" indent="0" algn="ctr">
              <a:spcBef>
                <a:spcPts val="455"/>
              </a:spcBef>
              <a:buNone/>
              <a:tabLst>
                <a:tab pos="756285" algn="l"/>
                <a:tab pos="756920" algn="l"/>
              </a:tabLst>
            </a:pPr>
            <a:r>
              <a:rPr lang="fr-F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double	score[5]	=	{0.11,	0.13,	0.16}</a:t>
            </a:r>
          </a:p>
          <a:p>
            <a:pPr marL="68580" indent="0">
              <a:spcBef>
                <a:spcPts val="455"/>
              </a:spcBef>
              <a:buNone/>
              <a:tabLst>
                <a:tab pos="756285" algn="l"/>
                <a:tab pos="756920" algn="l"/>
              </a:tabLst>
            </a:pPr>
            <a:endParaRPr lang="fr-FR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" indent="0">
              <a:spcBef>
                <a:spcPts val="455"/>
              </a:spcBef>
              <a:buNone/>
              <a:tabLst>
                <a:tab pos="756285" algn="l"/>
                <a:tab pos="756920" algn="l"/>
              </a:tabLst>
            </a:pPr>
            <a:endParaRPr lang="fr-FR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" indent="0">
              <a:spcBef>
                <a:spcPts val="455"/>
              </a:spcBef>
              <a:buNone/>
              <a:tabLst>
                <a:tab pos="756285" algn="l"/>
                <a:tab pos="756920" algn="l"/>
              </a:tabLst>
            </a:pPr>
            <a:endParaRPr lang="fr-FR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" indent="0" algn="ctr">
              <a:spcBef>
                <a:spcPts val="455"/>
              </a:spcBef>
              <a:buNone/>
              <a:tabLst>
                <a:tab pos="756285" algn="l"/>
                <a:tab pos="756920" algn="l"/>
              </a:tabLst>
            </a:pPr>
            <a:r>
              <a:rPr lang="fr-F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	</a:t>
            </a:r>
            <a:r>
              <a:rPr lang="fr-FR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fr-FR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[6]	=	{‘J’,	‘O’,	‘H’,	‘N’}</a:t>
            </a:r>
          </a:p>
          <a:p>
            <a:pPr marL="68580" indent="0" algn="ctr">
              <a:spcBef>
                <a:spcPts val="455"/>
              </a:spcBef>
              <a:buNone/>
              <a:tabLst>
                <a:tab pos="756285" algn="l"/>
                <a:tab pos="756920" algn="l"/>
              </a:tabLst>
            </a:pPr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8D9E33-98A4-4436-893F-134B177EFEF2}"/>
              </a:ext>
            </a:extLst>
          </p:cNvPr>
          <p:cNvGrpSpPr/>
          <p:nvPr/>
        </p:nvGrpSpPr>
        <p:grpSpPr>
          <a:xfrm>
            <a:off x="4990647" y="3209864"/>
            <a:ext cx="4112529" cy="771972"/>
            <a:chOff x="2875265" y="3556441"/>
            <a:chExt cx="4112529" cy="771972"/>
          </a:xfrm>
        </p:grpSpPr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9D2AADD5-A462-4C4A-AA5D-390E6B4A0C9C}"/>
                </a:ext>
              </a:extLst>
            </p:cNvPr>
            <p:cNvSpPr/>
            <p:nvPr/>
          </p:nvSpPr>
          <p:spPr>
            <a:xfrm>
              <a:off x="3613404" y="3933443"/>
              <a:ext cx="3374390" cy="394970"/>
            </a:xfrm>
            <a:custGeom>
              <a:avLst/>
              <a:gdLst/>
              <a:ahLst/>
              <a:cxnLst/>
              <a:rect l="l" t="t" r="r" b="b"/>
              <a:pathLst>
                <a:path w="3374390" h="394970">
                  <a:moveTo>
                    <a:pt x="3374136" y="6096"/>
                  </a:moveTo>
                  <a:lnTo>
                    <a:pt x="3368040" y="0"/>
                  </a:lnTo>
                  <a:lnTo>
                    <a:pt x="3348228" y="0"/>
                  </a:lnTo>
                  <a:lnTo>
                    <a:pt x="3348228" y="25920"/>
                  </a:lnTo>
                  <a:lnTo>
                    <a:pt x="3348228" y="368820"/>
                  </a:lnTo>
                  <a:lnTo>
                    <a:pt x="2653284" y="368820"/>
                  </a:lnTo>
                  <a:lnTo>
                    <a:pt x="2653284" y="25920"/>
                  </a:lnTo>
                  <a:lnTo>
                    <a:pt x="3348228" y="25920"/>
                  </a:lnTo>
                  <a:lnTo>
                    <a:pt x="3348228" y="0"/>
                  </a:lnTo>
                  <a:lnTo>
                    <a:pt x="2627376" y="0"/>
                  </a:lnTo>
                  <a:lnTo>
                    <a:pt x="2627376" y="25920"/>
                  </a:lnTo>
                  <a:lnTo>
                    <a:pt x="2627376" y="368820"/>
                  </a:lnTo>
                  <a:lnTo>
                    <a:pt x="1990344" y="368820"/>
                  </a:lnTo>
                  <a:lnTo>
                    <a:pt x="1990344" y="25920"/>
                  </a:lnTo>
                  <a:lnTo>
                    <a:pt x="2627376" y="25920"/>
                  </a:lnTo>
                  <a:lnTo>
                    <a:pt x="2627376" y="0"/>
                  </a:lnTo>
                  <a:lnTo>
                    <a:pt x="1964436" y="0"/>
                  </a:lnTo>
                  <a:lnTo>
                    <a:pt x="1964436" y="25920"/>
                  </a:lnTo>
                  <a:lnTo>
                    <a:pt x="1964436" y="368820"/>
                  </a:lnTo>
                  <a:lnTo>
                    <a:pt x="1330452" y="368820"/>
                  </a:lnTo>
                  <a:lnTo>
                    <a:pt x="1330452" y="25920"/>
                  </a:lnTo>
                  <a:lnTo>
                    <a:pt x="1964436" y="25920"/>
                  </a:lnTo>
                  <a:lnTo>
                    <a:pt x="1964436" y="0"/>
                  </a:lnTo>
                  <a:lnTo>
                    <a:pt x="1306068" y="0"/>
                  </a:lnTo>
                  <a:lnTo>
                    <a:pt x="1306068" y="25920"/>
                  </a:lnTo>
                  <a:lnTo>
                    <a:pt x="1306068" y="368820"/>
                  </a:lnTo>
                  <a:lnTo>
                    <a:pt x="675132" y="368820"/>
                  </a:lnTo>
                  <a:lnTo>
                    <a:pt x="675132" y="25920"/>
                  </a:lnTo>
                  <a:lnTo>
                    <a:pt x="1306068" y="25920"/>
                  </a:lnTo>
                  <a:lnTo>
                    <a:pt x="1306068" y="0"/>
                  </a:lnTo>
                  <a:lnTo>
                    <a:pt x="649224" y="0"/>
                  </a:lnTo>
                  <a:lnTo>
                    <a:pt x="649224" y="25920"/>
                  </a:lnTo>
                  <a:lnTo>
                    <a:pt x="649224" y="368820"/>
                  </a:lnTo>
                  <a:lnTo>
                    <a:pt x="24384" y="368820"/>
                  </a:lnTo>
                  <a:lnTo>
                    <a:pt x="24384" y="25920"/>
                  </a:lnTo>
                  <a:lnTo>
                    <a:pt x="649224" y="25920"/>
                  </a:lnTo>
                  <a:lnTo>
                    <a:pt x="649224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388632"/>
                  </a:lnTo>
                  <a:lnTo>
                    <a:pt x="6096" y="394728"/>
                  </a:lnTo>
                  <a:lnTo>
                    <a:pt x="3368040" y="394728"/>
                  </a:lnTo>
                  <a:lnTo>
                    <a:pt x="3374136" y="388632"/>
                  </a:lnTo>
                  <a:lnTo>
                    <a:pt x="3374136" y="382536"/>
                  </a:lnTo>
                  <a:lnTo>
                    <a:pt x="3374136" y="368820"/>
                  </a:lnTo>
                  <a:lnTo>
                    <a:pt x="3374136" y="25920"/>
                  </a:lnTo>
                  <a:lnTo>
                    <a:pt x="3374136" y="12192"/>
                  </a:lnTo>
                  <a:lnTo>
                    <a:pt x="3374136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9D02838A-E214-4788-9779-0B1480CEAC56}"/>
                </a:ext>
              </a:extLst>
            </p:cNvPr>
            <p:cNvSpPr txBox="1"/>
            <p:nvPr/>
          </p:nvSpPr>
          <p:spPr>
            <a:xfrm>
              <a:off x="3704272" y="3580998"/>
              <a:ext cx="2299335" cy="695960"/>
            </a:xfrm>
            <a:prstGeom prst="rect">
              <a:avLst/>
            </a:prstGeom>
          </p:spPr>
          <p:txBody>
            <a:bodyPr vert="horz" wrap="square" lIns="0" tIns="73660" rIns="0" bIns="0" rtlCol="0">
              <a:spAutoFit/>
            </a:bodyPr>
            <a:lstStyle/>
            <a:p>
              <a:pPr marR="5080" algn="r">
                <a:lnSpc>
                  <a:spcPct val="100000"/>
                </a:lnSpc>
                <a:spcBef>
                  <a:spcPts val="580"/>
                </a:spcBef>
                <a:tabLst>
                  <a:tab pos="669925" algn="l"/>
                  <a:tab pos="1314450" algn="l"/>
                  <a:tab pos="1977389" algn="l"/>
                </a:tabLst>
              </a:pPr>
              <a:r>
                <a:rPr sz="2700" baseline="4629" dirty="0">
                  <a:latin typeface="Tahoma"/>
                  <a:cs typeface="Tahoma"/>
                </a:rPr>
                <a:t>0	</a:t>
              </a:r>
              <a:r>
                <a:rPr sz="1800" dirty="0">
                  <a:latin typeface="Tahoma"/>
                  <a:cs typeface="Tahoma"/>
                </a:rPr>
                <a:t>1	</a:t>
              </a:r>
              <a:r>
                <a:rPr sz="2700" baseline="3086" dirty="0">
                  <a:latin typeface="Tahoma"/>
                  <a:cs typeface="Tahoma"/>
                </a:rPr>
                <a:t>2	3</a:t>
              </a:r>
            </a:p>
            <a:p>
              <a:pPr marR="29845" algn="r">
                <a:lnSpc>
                  <a:spcPct val="100000"/>
                </a:lnSpc>
                <a:spcBef>
                  <a:spcPts val="475"/>
                </a:spcBef>
                <a:tabLst>
                  <a:tab pos="660400" algn="l"/>
                  <a:tab pos="1320800" algn="l"/>
                  <a:tab pos="2123440" algn="l"/>
                </a:tabLst>
              </a:pPr>
              <a:r>
                <a:rPr sz="1800" spc="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-15" dirty="0">
                  <a:latin typeface="Tahoma"/>
                  <a:cs typeface="Tahoma"/>
                </a:rPr>
                <a:t>1</a:t>
              </a:r>
              <a:r>
                <a:rPr sz="1800" dirty="0">
                  <a:latin typeface="Tahoma"/>
                  <a:cs typeface="Tahoma"/>
                </a:rPr>
                <a:t>1	</a:t>
              </a:r>
              <a:r>
                <a:rPr sz="1800" spc="-1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5" dirty="0">
                  <a:latin typeface="Tahoma"/>
                  <a:cs typeface="Tahoma"/>
                </a:rPr>
                <a:t>1</a:t>
              </a:r>
              <a:r>
                <a:rPr sz="1800" dirty="0">
                  <a:latin typeface="Tahoma"/>
                  <a:cs typeface="Tahoma"/>
                </a:rPr>
                <a:t>3	</a:t>
              </a:r>
              <a:r>
                <a:rPr sz="1800" spc="5" dirty="0">
                  <a:latin typeface="Tahoma"/>
                  <a:cs typeface="Tahoma"/>
                </a:rPr>
                <a:t>0</a:t>
              </a:r>
              <a:r>
                <a:rPr sz="1800" spc="-10" dirty="0">
                  <a:latin typeface="Tahoma"/>
                  <a:cs typeface="Tahoma"/>
                </a:rPr>
                <a:t>.</a:t>
              </a:r>
              <a:r>
                <a:rPr sz="1800" spc="-15" dirty="0">
                  <a:latin typeface="Tahoma"/>
                  <a:cs typeface="Tahoma"/>
                </a:rPr>
                <a:t>1</a:t>
              </a:r>
              <a:r>
                <a:rPr sz="1800" dirty="0">
                  <a:latin typeface="Tahoma"/>
                  <a:cs typeface="Tahoma"/>
                </a:rPr>
                <a:t>6	0</a:t>
              </a:r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D166086C-ADBA-41A8-BB1C-C405FED37D9A}"/>
                </a:ext>
              </a:extLst>
            </p:cNvPr>
            <p:cNvSpPr txBox="1"/>
            <p:nvPr/>
          </p:nvSpPr>
          <p:spPr>
            <a:xfrm>
              <a:off x="6525190" y="3556441"/>
              <a:ext cx="159385" cy="720725"/>
            </a:xfrm>
            <a:prstGeom prst="rect">
              <a:avLst/>
            </a:prstGeom>
          </p:spPr>
          <p:txBody>
            <a:bodyPr vert="horz" wrap="square" lIns="0" tIns="85725" rIns="0" bIns="0" rtlCol="0">
              <a:spAutoFit/>
            </a:bodyPr>
            <a:lstStyle/>
            <a:p>
              <a:pPr marL="21590">
                <a:lnSpc>
                  <a:spcPct val="100000"/>
                </a:lnSpc>
                <a:spcBef>
                  <a:spcPts val="675"/>
                </a:spcBef>
              </a:pPr>
              <a:r>
                <a:rPr sz="1800" dirty="0">
                  <a:latin typeface="Tahoma"/>
                  <a:cs typeface="Tahoma"/>
                </a:rPr>
                <a:t>4</a:t>
              </a:r>
            </a:p>
            <a:p>
              <a:pPr marL="12700">
                <a:lnSpc>
                  <a:spcPct val="100000"/>
                </a:lnSpc>
                <a:spcBef>
                  <a:spcPts val="575"/>
                </a:spcBef>
              </a:pPr>
              <a:r>
                <a:rPr sz="1800" dirty="0">
                  <a:latin typeface="Tahoma"/>
                  <a:cs typeface="Tahoma"/>
                </a:rPr>
                <a:t>0</a:t>
              </a:r>
            </a:p>
          </p:txBody>
        </p:sp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664ECE98-00A6-4F69-B72C-A04229254CAD}"/>
                </a:ext>
              </a:extLst>
            </p:cNvPr>
            <p:cNvSpPr txBox="1"/>
            <p:nvPr/>
          </p:nvSpPr>
          <p:spPr>
            <a:xfrm>
              <a:off x="2875265" y="3980199"/>
              <a:ext cx="55753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5" dirty="0">
                  <a:latin typeface="Tahoma"/>
                  <a:cs typeface="Tahoma"/>
                </a:rPr>
                <a:t>s</a:t>
              </a:r>
              <a:r>
                <a:rPr sz="1800" spc="-5" dirty="0">
                  <a:latin typeface="Tahoma"/>
                  <a:cs typeface="Tahoma"/>
                </a:rPr>
                <a:t>c</a:t>
              </a:r>
              <a:r>
                <a:rPr sz="1800" spc="-10" dirty="0">
                  <a:latin typeface="Tahoma"/>
                  <a:cs typeface="Tahoma"/>
                </a:rPr>
                <a:t>o</a:t>
              </a:r>
              <a:r>
                <a:rPr sz="1800" spc="-20" dirty="0">
                  <a:latin typeface="Tahoma"/>
                  <a:cs typeface="Tahoma"/>
                </a:rPr>
                <a:t>r</a:t>
              </a:r>
              <a:r>
                <a:rPr sz="1800" dirty="0">
                  <a:latin typeface="Tahoma"/>
                  <a:cs typeface="Tahoma"/>
                </a:rPr>
                <a:t>e</a:t>
              </a:r>
              <a:endParaRPr sz="1800">
                <a:latin typeface="Tahoma"/>
                <a:cs typeface="Tahoma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4411D7-B2AB-44AF-84AB-7BFB4240796F}"/>
              </a:ext>
            </a:extLst>
          </p:cNvPr>
          <p:cNvGrpSpPr/>
          <p:nvPr/>
        </p:nvGrpSpPr>
        <p:grpSpPr>
          <a:xfrm>
            <a:off x="4726320" y="4822030"/>
            <a:ext cx="4641184" cy="793206"/>
            <a:chOff x="4726320" y="5563710"/>
            <a:chExt cx="4641184" cy="79320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BF1FB8C-EF20-4545-943A-27F601535AFB}"/>
                </a:ext>
              </a:extLst>
            </p:cNvPr>
            <p:cNvGrpSpPr/>
            <p:nvPr/>
          </p:nvGrpSpPr>
          <p:grpSpPr>
            <a:xfrm>
              <a:off x="4726320" y="5563710"/>
              <a:ext cx="4641184" cy="793206"/>
              <a:chOff x="2732055" y="4615723"/>
              <a:chExt cx="4641184" cy="793206"/>
            </a:xfrm>
          </p:grpSpPr>
          <p:sp>
            <p:nvSpPr>
              <p:cNvPr id="9" name="object 11">
                <a:extLst>
                  <a:ext uri="{FF2B5EF4-FFF2-40B4-BE49-F238E27FC236}">
                    <a16:creationId xmlns:a16="http://schemas.microsoft.com/office/drawing/2014/main" id="{036BCB3F-B7E4-44B3-8E97-1732A803BE0D}"/>
                  </a:ext>
                </a:extLst>
              </p:cNvPr>
              <p:cNvSpPr/>
              <p:nvPr/>
            </p:nvSpPr>
            <p:spPr>
              <a:xfrm>
                <a:off x="3468624" y="5013959"/>
                <a:ext cx="3904615" cy="394970"/>
              </a:xfrm>
              <a:custGeom>
                <a:avLst/>
                <a:gdLst/>
                <a:ahLst/>
                <a:cxnLst/>
                <a:rect l="l" t="t" r="r" b="b"/>
                <a:pathLst>
                  <a:path w="3904615" h="394970">
                    <a:moveTo>
                      <a:pt x="3904488" y="6096"/>
                    </a:moveTo>
                    <a:lnTo>
                      <a:pt x="3898392" y="0"/>
                    </a:lnTo>
                    <a:lnTo>
                      <a:pt x="3878580" y="0"/>
                    </a:lnTo>
                    <a:lnTo>
                      <a:pt x="3878580" y="24396"/>
                    </a:lnTo>
                    <a:lnTo>
                      <a:pt x="3878580" y="368820"/>
                    </a:lnTo>
                    <a:lnTo>
                      <a:pt x="2654808" y="368820"/>
                    </a:lnTo>
                    <a:lnTo>
                      <a:pt x="2654808" y="24396"/>
                    </a:lnTo>
                    <a:lnTo>
                      <a:pt x="3878580" y="24396"/>
                    </a:lnTo>
                    <a:lnTo>
                      <a:pt x="3878580" y="0"/>
                    </a:lnTo>
                    <a:lnTo>
                      <a:pt x="2628900" y="0"/>
                    </a:lnTo>
                    <a:lnTo>
                      <a:pt x="2628900" y="24396"/>
                    </a:lnTo>
                    <a:lnTo>
                      <a:pt x="2628900" y="368820"/>
                    </a:lnTo>
                    <a:lnTo>
                      <a:pt x="1991868" y="368820"/>
                    </a:lnTo>
                    <a:lnTo>
                      <a:pt x="1991868" y="24396"/>
                    </a:lnTo>
                    <a:lnTo>
                      <a:pt x="2628900" y="24396"/>
                    </a:lnTo>
                    <a:lnTo>
                      <a:pt x="2628900" y="0"/>
                    </a:lnTo>
                    <a:lnTo>
                      <a:pt x="1965960" y="0"/>
                    </a:lnTo>
                    <a:lnTo>
                      <a:pt x="1965960" y="24396"/>
                    </a:lnTo>
                    <a:lnTo>
                      <a:pt x="1965960" y="368820"/>
                    </a:lnTo>
                    <a:lnTo>
                      <a:pt x="1331976" y="368820"/>
                    </a:lnTo>
                    <a:lnTo>
                      <a:pt x="1331976" y="24396"/>
                    </a:lnTo>
                    <a:lnTo>
                      <a:pt x="1965960" y="24396"/>
                    </a:lnTo>
                    <a:lnTo>
                      <a:pt x="1965960" y="0"/>
                    </a:lnTo>
                    <a:lnTo>
                      <a:pt x="1306068" y="0"/>
                    </a:lnTo>
                    <a:lnTo>
                      <a:pt x="1306068" y="24396"/>
                    </a:lnTo>
                    <a:lnTo>
                      <a:pt x="1306068" y="368820"/>
                    </a:lnTo>
                    <a:lnTo>
                      <a:pt x="675132" y="368820"/>
                    </a:lnTo>
                    <a:lnTo>
                      <a:pt x="675132" y="24396"/>
                    </a:lnTo>
                    <a:lnTo>
                      <a:pt x="1306068" y="24396"/>
                    </a:lnTo>
                    <a:lnTo>
                      <a:pt x="1306068" y="0"/>
                    </a:lnTo>
                    <a:lnTo>
                      <a:pt x="650748" y="0"/>
                    </a:lnTo>
                    <a:lnTo>
                      <a:pt x="650748" y="24396"/>
                    </a:lnTo>
                    <a:lnTo>
                      <a:pt x="650748" y="368820"/>
                    </a:lnTo>
                    <a:lnTo>
                      <a:pt x="25908" y="368820"/>
                    </a:lnTo>
                    <a:lnTo>
                      <a:pt x="25908" y="24396"/>
                    </a:lnTo>
                    <a:lnTo>
                      <a:pt x="650748" y="24396"/>
                    </a:lnTo>
                    <a:lnTo>
                      <a:pt x="650748" y="0"/>
                    </a:lnTo>
                    <a:lnTo>
                      <a:pt x="6096" y="0"/>
                    </a:lnTo>
                    <a:lnTo>
                      <a:pt x="0" y="6096"/>
                    </a:lnTo>
                    <a:lnTo>
                      <a:pt x="0" y="388632"/>
                    </a:lnTo>
                    <a:lnTo>
                      <a:pt x="6096" y="394728"/>
                    </a:lnTo>
                    <a:lnTo>
                      <a:pt x="3898392" y="394728"/>
                    </a:lnTo>
                    <a:lnTo>
                      <a:pt x="3904488" y="388632"/>
                    </a:lnTo>
                    <a:lnTo>
                      <a:pt x="3904488" y="381012"/>
                    </a:lnTo>
                    <a:lnTo>
                      <a:pt x="3904488" y="368820"/>
                    </a:lnTo>
                    <a:lnTo>
                      <a:pt x="3904488" y="24396"/>
                    </a:lnTo>
                    <a:lnTo>
                      <a:pt x="3904488" y="12192"/>
                    </a:lnTo>
                    <a:lnTo>
                      <a:pt x="3904488" y="60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6B8E3F39-0EC6-4041-B903-3595A3A207DD}"/>
                  </a:ext>
                </a:extLst>
              </p:cNvPr>
              <p:cNvSpPr txBox="1"/>
              <p:nvPr/>
            </p:nvSpPr>
            <p:spPr>
              <a:xfrm>
                <a:off x="2732055" y="4615723"/>
                <a:ext cx="1163320" cy="744855"/>
              </a:xfrm>
              <a:prstGeom prst="rect">
                <a:avLst/>
              </a:prstGeom>
            </p:spPr>
            <p:txBody>
              <a:bodyPr vert="horz" wrap="square" lIns="0" tIns="97790" rIns="0" bIns="0" rtlCol="0">
                <a:spAutoFit/>
              </a:bodyPr>
              <a:lstStyle/>
              <a:p>
                <a:pPr marR="19685" algn="r">
                  <a:lnSpc>
                    <a:spcPct val="100000"/>
                  </a:lnSpc>
                  <a:spcBef>
                    <a:spcPts val="770"/>
                  </a:spcBef>
                </a:pPr>
                <a:r>
                  <a:rPr sz="1800" dirty="0">
                    <a:latin typeface="Tahoma"/>
                    <a:cs typeface="Tahoma"/>
                  </a:rPr>
                  <a:t>0</a:t>
                </a:r>
              </a:p>
              <a:p>
                <a:pPr marR="5080" algn="r">
                  <a:lnSpc>
                    <a:spcPct val="100000"/>
                  </a:lnSpc>
                  <a:spcBef>
                    <a:spcPts val="670"/>
                  </a:spcBef>
                  <a:tabLst>
                    <a:tab pos="1042035" algn="l"/>
                  </a:tabLst>
                </a:pPr>
                <a:r>
                  <a:rPr sz="1800" spc="-5" dirty="0">
                    <a:latin typeface="Tahoma"/>
                    <a:cs typeface="Tahoma"/>
                  </a:rPr>
                  <a:t>n</a:t>
                </a:r>
                <a:r>
                  <a:rPr sz="1800" spc="5" dirty="0">
                    <a:latin typeface="Tahoma"/>
                    <a:cs typeface="Tahoma"/>
                  </a:rPr>
                  <a:t>a</a:t>
                </a:r>
                <a:r>
                  <a:rPr sz="1800" dirty="0">
                    <a:latin typeface="Tahoma"/>
                    <a:cs typeface="Tahoma"/>
                  </a:rPr>
                  <a:t>me	</a:t>
                </a:r>
                <a:r>
                  <a:rPr sz="1800" spc="-5" dirty="0">
                    <a:latin typeface="Tahoma"/>
                    <a:cs typeface="Tahoma"/>
                  </a:rPr>
                  <a:t>J</a:t>
                </a:r>
                <a:endParaRPr sz="1800" dirty="0">
                  <a:latin typeface="Tahoma"/>
                  <a:cs typeface="Tahoma"/>
                </a:endParaRPr>
              </a:p>
            </p:txBody>
          </p:sp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2D2168AF-9DAC-4750-A5EC-461712035EA2}"/>
                  </a:ext>
                </a:extLst>
              </p:cNvPr>
              <p:cNvSpPr txBox="1"/>
              <p:nvPr/>
            </p:nvSpPr>
            <p:spPr>
              <a:xfrm>
                <a:off x="4368841" y="4658250"/>
                <a:ext cx="187325" cy="699770"/>
              </a:xfrm>
              <a:prstGeom prst="rect">
                <a:avLst/>
              </a:prstGeom>
            </p:spPr>
            <p:txBody>
              <a:bodyPr vert="horz" wrap="square" lIns="0" tIns="74930" rIns="0" bIns="0" rtlCol="0">
                <a:spAutoFit/>
              </a:bodyPr>
              <a:lstStyle/>
              <a:p>
                <a:pPr marL="44450">
                  <a:lnSpc>
                    <a:spcPct val="100000"/>
                  </a:lnSpc>
                  <a:spcBef>
                    <a:spcPts val="590"/>
                  </a:spcBef>
                </a:pPr>
                <a:r>
                  <a:rPr sz="1800" dirty="0">
                    <a:latin typeface="Tahoma"/>
                    <a:cs typeface="Tahoma"/>
                  </a:rPr>
                  <a:t>1</a:t>
                </a:r>
                <a:endParaRPr sz="1800">
                  <a:latin typeface="Tahoma"/>
                  <a:cs typeface="Tahom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495"/>
                  </a:spcBef>
                </a:pPr>
                <a:r>
                  <a:rPr sz="1800" spc="-5" dirty="0">
                    <a:latin typeface="Tahoma"/>
                    <a:cs typeface="Tahoma"/>
                  </a:rPr>
                  <a:t>O</a:t>
                </a:r>
                <a:endParaRPr sz="1800">
                  <a:latin typeface="Tahoma"/>
                  <a:cs typeface="Tahoma"/>
                </a:endParaRPr>
              </a:p>
            </p:txBody>
          </p:sp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31A17660-E326-4B9E-898C-C5A5452839CE}"/>
                  </a:ext>
                </a:extLst>
              </p:cNvPr>
              <p:cNvSpPr txBox="1"/>
              <p:nvPr/>
            </p:nvSpPr>
            <p:spPr>
              <a:xfrm>
                <a:off x="5031779" y="4637043"/>
                <a:ext cx="180340" cy="720725"/>
              </a:xfrm>
              <a:prstGeom prst="rect">
                <a:avLst/>
              </a:prstGeom>
            </p:spPr>
            <p:txBody>
              <a:bodyPr vert="horz" wrap="square" lIns="0" tIns="85725" rIns="0" bIns="0" rtlCol="0">
                <a:spAutoFit/>
              </a:bodyPr>
              <a:lstStyle/>
              <a:p>
                <a:pPr marL="26034">
                  <a:lnSpc>
                    <a:spcPct val="100000"/>
                  </a:lnSpc>
                  <a:spcBef>
                    <a:spcPts val="675"/>
                  </a:spcBef>
                </a:pPr>
                <a:r>
                  <a:rPr sz="1800" dirty="0">
                    <a:latin typeface="Tahoma"/>
                    <a:cs typeface="Tahoma"/>
                  </a:rPr>
                  <a:t>2</a:t>
                </a:r>
                <a:endParaRPr sz="1800">
                  <a:latin typeface="Tahoma"/>
                  <a:cs typeface="Tahom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75"/>
                  </a:spcBef>
                </a:pPr>
                <a:r>
                  <a:rPr sz="1800" dirty="0">
                    <a:latin typeface="Tahoma"/>
                    <a:cs typeface="Tahoma"/>
                  </a:rPr>
                  <a:t>H</a:t>
                </a:r>
                <a:endParaRPr sz="1800">
                  <a:latin typeface="Tahoma"/>
                  <a:cs typeface="Tahoma"/>
                </a:endParaRPr>
              </a:p>
            </p:txBody>
          </p:sp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A6B89171-327D-41CA-A63F-C99539F28B9F}"/>
                  </a:ext>
                </a:extLst>
              </p:cNvPr>
              <p:cNvSpPr txBox="1"/>
              <p:nvPr/>
            </p:nvSpPr>
            <p:spPr>
              <a:xfrm>
                <a:off x="5685573" y="4637043"/>
                <a:ext cx="178435" cy="720725"/>
              </a:xfrm>
              <a:prstGeom prst="rect">
                <a:avLst/>
              </a:prstGeom>
            </p:spPr>
            <p:txBody>
              <a:bodyPr vert="horz" wrap="square" lIns="0" tIns="85725" rIns="0" bIns="0" rtlCol="0">
                <a:spAutoFit/>
              </a:bodyPr>
              <a:lstStyle/>
              <a:p>
                <a:pPr marL="34925">
                  <a:lnSpc>
                    <a:spcPct val="100000"/>
                  </a:lnSpc>
                  <a:spcBef>
                    <a:spcPts val="675"/>
                  </a:spcBef>
                </a:pPr>
                <a:r>
                  <a:rPr sz="1800" dirty="0">
                    <a:latin typeface="Tahoma"/>
                    <a:cs typeface="Tahoma"/>
                  </a:rPr>
                  <a:t>3</a:t>
                </a:r>
                <a:endParaRPr sz="1800">
                  <a:latin typeface="Tahoma"/>
                  <a:cs typeface="Tahom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75"/>
                  </a:spcBef>
                </a:pPr>
                <a:r>
                  <a:rPr sz="1800" dirty="0">
                    <a:latin typeface="Tahoma"/>
                    <a:cs typeface="Tahoma"/>
                  </a:rPr>
                  <a:t>N</a:t>
                </a:r>
                <a:endParaRPr sz="1800">
                  <a:latin typeface="Tahoma"/>
                  <a:cs typeface="Tahoma"/>
                </a:endParaRPr>
              </a:p>
            </p:txBody>
          </p:sp>
          <p:sp>
            <p:nvSpPr>
              <p:cNvPr id="14" name="object 17">
                <a:extLst>
                  <a:ext uri="{FF2B5EF4-FFF2-40B4-BE49-F238E27FC236}">
                    <a16:creationId xmlns:a16="http://schemas.microsoft.com/office/drawing/2014/main" id="{602D709B-7CEE-425D-ADD6-3F99D8D6C41D}"/>
                  </a:ext>
                </a:extLst>
              </p:cNvPr>
              <p:cNvSpPr txBox="1"/>
              <p:nvPr/>
            </p:nvSpPr>
            <p:spPr>
              <a:xfrm>
                <a:off x="6337081" y="4637043"/>
                <a:ext cx="808990" cy="720725"/>
              </a:xfrm>
              <a:prstGeom prst="rect">
                <a:avLst/>
              </a:prstGeom>
            </p:spPr>
            <p:txBody>
              <a:bodyPr vert="horz" wrap="square" lIns="0" tIns="85725" rIns="0" bIns="0" rtlCol="0">
                <a:spAutoFit/>
              </a:bodyPr>
              <a:lstStyle/>
              <a:p>
                <a:pPr marL="67310">
                  <a:lnSpc>
                    <a:spcPct val="100000"/>
                  </a:lnSpc>
                  <a:spcBef>
                    <a:spcPts val="675"/>
                  </a:spcBef>
                  <a:tabLst>
                    <a:tab pos="633095" algn="l"/>
                  </a:tabLst>
                </a:pPr>
                <a:r>
                  <a:rPr sz="1800" dirty="0">
                    <a:latin typeface="Tahoma"/>
                    <a:cs typeface="Tahoma"/>
                  </a:rPr>
                  <a:t>4	</a:t>
                </a:r>
                <a:r>
                  <a:rPr sz="2700" baseline="1543" dirty="0">
                    <a:latin typeface="Tahoma"/>
                    <a:cs typeface="Tahoma"/>
                  </a:rPr>
                  <a:t>5</a:t>
                </a:r>
                <a:endParaRPr sz="2700" baseline="1543">
                  <a:latin typeface="Tahoma"/>
                  <a:cs typeface="Tahoma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75"/>
                  </a:spcBef>
                  <a:tabLst>
                    <a:tab pos="583565" algn="l"/>
                  </a:tabLst>
                </a:pPr>
                <a:r>
                  <a:rPr sz="1800" spc="-5" dirty="0">
                    <a:latin typeface="Tahoma"/>
                    <a:cs typeface="Tahoma"/>
                  </a:rPr>
                  <a:t>\</a:t>
                </a:r>
                <a:r>
                  <a:rPr sz="1800" dirty="0">
                    <a:latin typeface="Tahoma"/>
                    <a:cs typeface="Tahoma"/>
                  </a:rPr>
                  <a:t>0	</a:t>
                </a:r>
                <a:r>
                  <a:rPr sz="1800" spc="-5" dirty="0">
                    <a:latin typeface="Tahoma"/>
                    <a:cs typeface="Tahoma"/>
                  </a:rPr>
                  <a:t>\</a:t>
                </a:r>
                <a:r>
                  <a:rPr sz="1800" dirty="0">
                    <a:latin typeface="Tahoma"/>
                    <a:cs typeface="Tahoma"/>
                  </a:rPr>
                  <a:t>0</a:t>
                </a:r>
                <a:endParaRPr sz="1800">
                  <a:latin typeface="Tahoma"/>
                  <a:cs typeface="Tahoma"/>
                </a:endParaRPr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6A220C5-9138-419B-8615-D9C68A15F04A}"/>
                </a:ext>
              </a:extLst>
            </p:cNvPr>
            <p:cNvCxnSpPr/>
            <p:nvPr/>
          </p:nvCxnSpPr>
          <p:spPr>
            <a:xfrm>
              <a:off x="8735841" y="5986602"/>
              <a:ext cx="0" cy="3496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581F7F9-E89B-4F94-A131-757DEF5FBFE1}"/>
              </a:ext>
            </a:extLst>
          </p:cNvPr>
          <p:cNvSpPr txBox="1"/>
          <p:nvPr/>
        </p:nvSpPr>
        <p:spPr>
          <a:xfrm>
            <a:off x="3007176" y="5667797"/>
            <a:ext cx="8250104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7815" indent="-342900" algn="just">
              <a:lnSpc>
                <a:spcPct val="100000"/>
              </a:lnSpc>
              <a:spcBef>
                <a:spcPts val="615"/>
              </a:spcBef>
              <a:buClr>
                <a:schemeClr val="accent1"/>
              </a:buClr>
              <a:buFont typeface="Wingdings 3" charset="2"/>
              <a:buChar char=""/>
              <a:tabLst>
                <a:tab pos="356235" algn="l"/>
                <a:tab pos="356870" algn="l"/>
              </a:tabLst>
            </a:pPr>
            <a:r>
              <a:rPr lang="en-US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21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values</a:t>
            </a:r>
            <a:r>
              <a:rPr lang="en-US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 are specified than declared size of an array</a:t>
            </a:r>
          </a:p>
          <a:p>
            <a:pPr marL="755015" indent="-342900" algn="just">
              <a:lnSpc>
                <a:spcPct val="100000"/>
              </a:lnSpc>
              <a:spcBef>
                <a:spcPts val="465"/>
              </a:spcBef>
              <a:buClr>
                <a:schemeClr val="accent1"/>
              </a:buClr>
              <a:buFont typeface="Wingdings 3" charset="2"/>
              <a:buChar char=""/>
              <a:tabLst>
                <a:tab pos="756285" algn="l"/>
              </a:tabLst>
            </a:pPr>
            <a:r>
              <a:rPr lang="en-US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10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en-US" sz="2100" spc="-5" dirty="0">
                <a:latin typeface="Calibri" panose="020F0502020204030204" pitchFamily="34" charset="0"/>
                <a:cs typeface="Calibri" panose="020F0502020204030204" pitchFamily="34" charset="0"/>
              </a:rPr>
              <a:t> is occurred: Handling depends on compiler</a:t>
            </a:r>
          </a:p>
        </p:txBody>
      </p:sp>
    </p:spTree>
    <p:extLst>
      <p:ext uri="{BB962C8B-B14F-4D97-AF65-F5344CB8AC3E}">
        <p14:creationId xmlns:p14="http://schemas.microsoft.com/office/powerpoint/2010/main" val="240414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8019-FF9F-4254-9B13-C20B0F65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Array Addressing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166EB-6179-4E74-9C7D-D2A06A4C4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532" y="2050882"/>
            <a:ext cx="8915400" cy="3777622"/>
          </a:xfrm>
        </p:spPr>
        <p:txBody>
          <a:bodyPr/>
          <a:lstStyle/>
          <a:p>
            <a:pPr marL="354965">
              <a:spcBef>
                <a:spcPts val="670"/>
              </a:spcBef>
              <a:tabLst>
                <a:tab pos="355600" algn="l"/>
                <a:tab pos="356870" algn="l"/>
                <a:tab pos="4376420" algn="l"/>
                <a:tab pos="5073650" algn="l"/>
                <a:tab pos="5633720" algn="l"/>
                <a:tab pos="5910580" algn="l"/>
                <a:tab pos="6190615" algn="l"/>
                <a:tab pos="6610984" algn="l"/>
                <a:tab pos="7028180" algn="l"/>
                <a:tab pos="7447915" algn="l"/>
              </a:tabLst>
            </a:pPr>
            <a:r>
              <a:rPr lang="en-US" sz="20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 </a:t>
            </a:r>
            <a:r>
              <a:rPr lang="en-US" sz="2000" spc="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</a:t>
            </a:r>
            <a:r>
              <a:rPr lang="en-US" sz="2000" spc="14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declaration:</a:t>
            </a:r>
            <a:r>
              <a:rPr lang="en-US" sz="2000" spc="6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39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</a:t>
            </a:r>
            <a:r>
              <a:rPr lang="en-US" sz="2000" spc="49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sz="2000" spc="36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[4]	</a:t>
            </a:r>
            <a:r>
              <a:rPr lang="en-US" sz="2000" spc="-7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000" spc="43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n-US" sz="2000" spc="26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1,	2,	4,	</a:t>
            </a:r>
            <a:r>
              <a:rPr lang="en-US" sz="2000" spc="2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5}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4380" lvl="1">
              <a:spcBef>
                <a:spcPts val="515"/>
              </a:spcBef>
              <a:tabLst>
                <a:tab pos="755015" algn="l"/>
                <a:tab pos="75565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Compiler allocates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 of four memory</a:t>
            </a:r>
            <a:r>
              <a:rPr lang="en-US" sz="1800" spc="7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spaces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4380" lvl="1">
              <a:spcBef>
                <a:spcPts val="359"/>
              </a:spcBef>
              <a:tabLst>
                <a:tab pos="755015" algn="l"/>
                <a:tab pos="75565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memory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 is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 enough to store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1800" spc="34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sz="1800" spc="10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4380" lvl="1">
              <a:spcBef>
                <a:spcPts val="505"/>
              </a:spcBef>
              <a:tabLst>
                <a:tab pos="755015" algn="l"/>
                <a:tab pos="75565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 memory spaces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1800" spc="2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contiguous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>
              <a:spcBef>
                <a:spcPts val="480"/>
              </a:spcBef>
              <a:tabLst>
                <a:tab pos="354965" algn="l"/>
                <a:tab pos="355600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en-US" sz="2000" spc="-2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4380" lvl="1">
              <a:spcBef>
                <a:spcPts val="430"/>
              </a:spcBef>
              <a:tabLst>
                <a:tab pos="755015" algn="l"/>
                <a:tab pos="75565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 of the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 byte </a:t>
            </a:r>
            <a:r>
              <a:rPr lang="en-US" sz="1800" spc="-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(or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word) in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contiguous block of</a:t>
            </a:r>
            <a:r>
              <a:rPr lang="en-US" sz="1800" spc="3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4380" lvl="1">
              <a:spcBef>
                <a:spcPts val="430"/>
              </a:spcBef>
              <a:tabLst>
                <a:tab pos="755015" algn="l"/>
                <a:tab pos="75565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 of the memory </a:t>
            </a:r>
            <a:r>
              <a:rPr lang="en-US" sz="1800" spc="-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location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 array</a:t>
            </a:r>
            <a:r>
              <a:rPr lang="en-US" sz="1800" spc="4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69315" indent="-285750">
              <a:spcBef>
                <a:spcPts val="320"/>
              </a:spcBef>
            </a:pPr>
            <a:r>
              <a:rPr lang="en-US" spc="-5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 of element list[0]</a:t>
            </a:r>
          </a:p>
          <a:p>
            <a:pPr>
              <a:spcBef>
                <a:spcPts val="320"/>
              </a:spcBef>
            </a:pP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Memory address associated</a:t>
            </a:r>
            <a:r>
              <a:rPr lang="en-US" sz="1800" spc="-175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with </a:t>
            </a:r>
            <a:r>
              <a:rPr lang="en-US" sz="1800" dirty="0" err="1">
                <a:solidFill>
                  <a:schemeClr val="tx1"/>
                </a:solidFill>
                <a:latin typeface="+mj-lt"/>
                <a:cs typeface="Tahoma"/>
              </a:rPr>
              <a:t>array_Name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 stores the base address</a:t>
            </a:r>
          </a:p>
          <a:p>
            <a:pPr marL="0" indent="0" algn="ctr">
              <a:spcBef>
                <a:spcPts val="320"/>
              </a:spcBef>
              <a:buNone/>
            </a:pPr>
            <a:r>
              <a:rPr lang="fr-FR" b="1" spc="-5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cout &lt;&lt; </a:t>
            </a:r>
            <a:r>
              <a:rPr lang="fr-FR" b="1" spc="-5" dirty="0" err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list</a:t>
            </a:r>
            <a:r>
              <a:rPr lang="fr-FR" b="1" spc="-5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 &lt;&lt; </a:t>
            </a:r>
            <a:r>
              <a:rPr lang="fr-FR" b="1" spc="-5" dirty="0" err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endl</a:t>
            </a:r>
            <a:r>
              <a:rPr lang="fr-FR" b="1" spc="-5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; </a:t>
            </a:r>
          </a:p>
          <a:p>
            <a:pPr marL="0" indent="0" algn="ctr">
              <a:spcBef>
                <a:spcPts val="320"/>
              </a:spcBef>
              <a:buNone/>
            </a:pPr>
            <a:r>
              <a:rPr lang="fr-FR" b="1" spc="-5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cout &lt;&lt;  *</a:t>
            </a:r>
            <a:r>
              <a:rPr lang="fr-FR" b="1" spc="-5" dirty="0" err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list</a:t>
            </a:r>
            <a:r>
              <a:rPr lang="fr-FR" b="1" spc="-5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	&lt;&lt;  </a:t>
            </a:r>
            <a:r>
              <a:rPr lang="fr-FR" b="1" spc="-5" dirty="0" err="1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endl</a:t>
            </a:r>
            <a:r>
              <a:rPr lang="fr-FR" b="1" spc="-5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;</a:t>
            </a:r>
            <a:endParaRPr lang="en-US" spc="-5" dirty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9766566-6D82-4117-A28C-BE78F408B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505714"/>
              </p:ext>
            </p:extLst>
          </p:nvPr>
        </p:nvGraphicFramePr>
        <p:xfrm>
          <a:off x="10059912" y="1727774"/>
          <a:ext cx="1444700" cy="32815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6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3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37FFDF97-241F-499F-B1CA-6E2C76B6DC31}"/>
              </a:ext>
            </a:extLst>
          </p:cNvPr>
          <p:cNvGrpSpPr/>
          <p:nvPr/>
        </p:nvGrpSpPr>
        <p:grpSpPr>
          <a:xfrm>
            <a:off x="11545620" y="1950936"/>
            <a:ext cx="422855" cy="2811827"/>
            <a:chOff x="11545620" y="1950936"/>
            <a:chExt cx="422855" cy="2811827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B6AF5F2-458C-4731-8621-BD3F754BA1E5}"/>
                </a:ext>
              </a:extLst>
            </p:cNvPr>
            <p:cNvSpPr txBox="1"/>
            <p:nvPr/>
          </p:nvSpPr>
          <p:spPr>
            <a:xfrm>
              <a:off x="11565162" y="1950936"/>
              <a:ext cx="386656" cy="37125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138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0</a:t>
              </a:r>
              <a:endParaRPr sz="1300">
                <a:latin typeface="Tahoma"/>
                <a:cs typeface="Tahoma"/>
              </a:endParaRPr>
            </a:p>
            <a:p>
              <a:pPr marL="12700">
                <a:lnSpc>
                  <a:spcPts val="138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1</a:t>
              </a:r>
              <a:endParaRPr sz="1300">
                <a:latin typeface="Tahoma"/>
                <a:cs typeface="Tahoma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1D633F7-E0A2-416C-814C-1FC2FD0BB97D}"/>
                </a:ext>
              </a:extLst>
            </p:cNvPr>
            <p:cNvSpPr txBox="1"/>
            <p:nvPr/>
          </p:nvSpPr>
          <p:spPr>
            <a:xfrm>
              <a:off x="11565162" y="2272852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2</a:t>
              </a:r>
              <a:endParaRPr sz="1300">
                <a:latin typeface="Tahoma"/>
                <a:cs typeface="Tahoma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7C8EE6D-B9AC-4AA3-801D-8EA31165CE5E}"/>
                </a:ext>
              </a:extLst>
            </p:cNvPr>
            <p:cNvSpPr txBox="1"/>
            <p:nvPr/>
          </p:nvSpPr>
          <p:spPr>
            <a:xfrm>
              <a:off x="11571230" y="2509833"/>
              <a:ext cx="393026" cy="34560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1340"/>
                </a:lnSpc>
                <a:spcBef>
                  <a:spcPts val="95"/>
                </a:spcBef>
              </a:pPr>
              <a:r>
                <a:rPr sz="1300" spc="-5" dirty="0">
                  <a:latin typeface="Tahoma"/>
                  <a:cs typeface="Tahoma"/>
                </a:rPr>
                <a:t>1003</a:t>
              </a:r>
              <a:endParaRPr sz="1300" dirty="0">
                <a:latin typeface="Tahoma"/>
                <a:cs typeface="Tahoma"/>
              </a:endParaRPr>
            </a:p>
            <a:p>
              <a:pPr marL="18415">
                <a:lnSpc>
                  <a:spcPts val="134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4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8844051-DC9A-48EB-A078-145FFEB14B87}"/>
                </a:ext>
              </a:extLst>
            </p:cNvPr>
            <p:cNvSpPr txBox="1"/>
            <p:nvPr/>
          </p:nvSpPr>
          <p:spPr>
            <a:xfrm>
              <a:off x="11574415" y="2798541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5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9212498-1D24-4222-B6C8-5927183FE637}"/>
                </a:ext>
              </a:extLst>
            </p:cNvPr>
            <p:cNvSpPr txBox="1"/>
            <p:nvPr/>
          </p:nvSpPr>
          <p:spPr>
            <a:xfrm>
              <a:off x="11577361" y="3044585"/>
              <a:ext cx="391114" cy="82009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1380"/>
                </a:lnSpc>
                <a:spcBef>
                  <a:spcPts val="95"/>
                </a:spcBef>
              </a:pPr>
              <a:r>
                <a:rPr sz="1300" spc="-5" dirty="0">
                  <a:latin typeface="Tahoma"/>
                  <a:cs typeface="Tahoma"/>
                </a:rPr>
                <a:t>1006</a:t>
              </a:r>
              <a:endParaRPr sz="1300" dirty="0">
                <a:latin typeface="Tahoma"/>
                <a:cs typeface="Tahoma"/>
              </a:endParaRPr>
            </a:p>
            <a:p>
              <a:pPr marL="12700">
                <a:lnSpc>
                  <a:spcPts val="1200"/>
                </a:lnSpc>
              </a:pPr>
              <a:r>
                <a:rPr sz="1300" spc="-5" dirty="0">
                  <a:latin typeface="Tahoma"/>
                  <a:cs typeface="Tahoma"/>
                </a:rPr>
                <a:t>1007</a:t>
              </a:r>
              <a:endParaRPr sz="1300" dirty="0">
                <a:latin typeface="Tahoma"/>
                <a:cs typeface="Tahoma"/>
              </a:endParaRPr>
            </a:p>
            <a:p>
              <a:pPr marL="12700">
                <a:lnSpc>
                  <a:spcPts val="1200"/>
                </a:lnSpc>
              </a:pPr>
              <a:r>
                <a:rPr sz="1300" spc="-5" dirty="0">
                  <a:latin typeface="Tahoma"/>
                  <a:cs typeface="Tahoma"/>
                </a:rPr>
                <a:t>1008</a:t>
              </a:r>
              <a:endParaRPr sz="1300" dirty="0">
                <a:latin typeface="Tahoma"/>
                <a:cs typeface="Tahoma"/>
              </a:endParaRPr>
            </a:p>
            <a:p>
              <a:pPr marL="17145">
                <a:lnSpc>
                  <a:spcPts val="116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9</a:t>
              </a:r>
              <a:endParaRPr sz="1300" dirty="0">
                <a:latin typeface="Tahoma"/>
                <a:cs typeface="Tahoma"/>
              </a:endParaRPr>
            </a:p>
            <a:p>
              <a:pPr marL="17145">
                <a:lnSpc>
                  <a:spcPts val="134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0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1D2A230-6182-4362-9314-1FE48B98E36D}"/>
                </a:ext>
              </a:extLst>
            </p:cNvPr>
            <p:cNvSpPr txBox="1"/>
            <p:nvPr/>
          </p:nvSpPr>
          <p:spPr>
            <a:xfrm>
              <a:off x="11550711" y="3884584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1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AD925CB-03D6-475B-BD5E-3047922C7070}"/>
                </a:ext>
              </a:extLst>
            </p:cNvPr>
            <p:cNvSpPr txBox="1"/>
            <p:nvPr/>
          </p:nvSpPr>
          <p:spPr>
            <a:xfrm>
              <a:off x="11550711" y="4089501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2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B73AD9C-E46D-4320-9C28-77D4A1034D54}"/>
                </a:ext>
              </a:extLst>
            </p:cNvPr>
            <p:cNvSpPr txBox="1"/>
            <p:nvPr/>
          </p:nvSpPr>
          <p:spPr>
            <a:xfrm>
              <a:off x="11545620" y="4301739"/>
              <a:ext cx="391114" cy="46102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7145">
                <a:lnSpc>
                  <a:spcPts val="134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3</a:t>
              </a:r>
              <a:endParaRPr sz="1300" dirty="0">
                <a:latin typeface="Tahoma"/>
                <a:cs typeface="Tahoma"/>
              </a:endParaRPr>
            </a:p>
            <a:p>
              <a:pPr marL="12700">
                <a:lnSpc>
                  <a:spcPts val="1110"/>
                </a:lnSpc>
              </a:pPr>
              <a:r>
                <a:rPr sz="1300" spc="-5" dirty="0">
                  <a:latin typeface="Tahoma"/>
                  <a:cs typeface="Tahoma"/>
                </a:rPr>
                <a:t>1014</a:t>
              </a:r>
              <a:endParaRPr lang="en-US" sz="1300" spc="-5" dirty="0">
                <a:latin typeface="Tahoma"/>
                <a:cs typeface="Tahoma"/>
              </a:endParaRPr>
            </a:p>
            <a:p>
              <a:pPr marL="12700">
                <a:lnSpc>
                  <a:spcPts val="1110"/>
                </a:lnSpc>
              </a:pPr>
              <a:r>
                <a:rPr lang="en-US" sz="1300" spc="-5" dirty="0">
                  <a:latin typeface="Tahoma"/>
                  <a:cs typeface="Tahoma"/>
                </a:rPr>
                <a:t>1015</a:t>
              </a:r>
              <a:endParaRPr sz="1300" dirty="0">
                <a:latin typeface="Tahoma"/>
                <a:cs typeface="Tahoma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DE6183C-E66C-4DD1-AA25-9419E48967AD}"/>
              </a:ext>
            </a:extLst>
          </p:cNvPr>
          <p:cNvGrpSpPr/>
          <p:nvPr/>
        </p:nvGrpSpPr>
        <p:grpSpPr>
          <a:xfrm>
            <a:off x="8201881" y="1868930"/>
            <a:ext cx="1868988" cy="2341177"/>
            <a:chOff x="8201881" y="1868930"/>
            <a:chExt cx="1868988" cy="2341177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7CCEA8C-E267-4D14-9144-03F285623571}"/>
                </a:ext>
              </a:extLst>
            </p:cNvPr>
            <p:cNvSpPr txBox="1"/>
            <p:nvPr/>
          </p:nvSpPr>
          <p:spPr>
            <a:xfrm>
              <a:off x="9029053" y="1868930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spc="-15" dirty="0">
                  <a:latin typeface="Tahoma"/>
                  <a:cs typeface="Tahoma"/>
                </a:rPr>
                <a:t>s</a:t>
              </a:r>
              <a:r>
                <a:rPr sz="1600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0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 dirty="0">
                <a:latin typeface="Tahoma"/>
                <a:cs typeface="Tahoma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C51ACAD-5F53-4077-AD47-1E7BB364C9D9}"/>
                </a:ext>
              </a:extLst>
            </p:cNvPr>
            <p:cNvSpPr/>
            <p:nvPr/>
          </p:nvSpPr>
          <p:spPr>
            <a:xfrm>
              <a:off x="9625611" y="1928892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9100" y="25908"/>
                  </a:lnTo>
                  <a:lnTo>
                    <a:pt x="379476" y="25908"/>
                  </a:lnTo>
                  <a:lnTo>
                    <a:pt x="379476" y="51816"/>
                  </a:lnTo>
                  <a:lnTo>
                    <a:pt x="416052" y="51816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1816"/>
                  </a:moveTo>
                  <a:lnTo>
                    <a:pt x="0" y="51816"/>
                  </a:lnTo>
                  <a:lnTo>
                    <a:pt x="0" y="25908"/>
                  </a:lnTo>
                  <a:lnTo>
                    <a:pt x="367284" y="25908"/>
                  </a:lnTo>
                  <a:lnTo>
                    <a:pt x="367284" y="51816"/>
                  </a:lnTo>
                  <a:close/>
                </a:path>
                <a:path w="443865" h="76200">
                  <a:moveTo>
                    <a:pt x="416052" y="51816"/>
                  </a:moveTo>
                  <a:lnTo>
                    <a:pt x="379476" y="51816"/>
                  </a:lnTo>
                  <a:lnTo>
                    <a:pt x="379476" y="25908"/>
                  </a:lnTo>
                  <a:lnTo>
                    <a:pt x="419100" y="25908"/>
                  </a:lnTo>
                  <a:lnTo>
                    <a:pt x="443484" y="38100"/>
                  </a:lnTo>
                  <a:lnTo>
                    <a:pt x="416052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473F694A-87F5-4832-83E4-62D797BF2773}"/>
                </a:ext>
              </a:extLst>
            </p:cNvPr>
            <p:cNvSpPr txBox="1"/>
            <p:nvPr/>
          </p:nvSpPr>
          <p:spPr>
            <a:xfrm>
              <a:off x="9024500" y="2534891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spc="-15" dirty="0">
                  <a:latin typeface="Tahoma"/>
                  <a:cs typeface="Tahoma"/>
                </a:rPr>
                <a:t>s</a:t>
              </a:r>
              <a:r>
                <a:rPr sz="1600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1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9BC5EE6-207C-465D-A454-ADAB8375BF4C}"/>
                </a:ext>
              </a:extLst>
            </p:cNvPr>
            <p:cNvSpPr/>
            <p:nvPr/>
          </p:nvSpPr>
          <p:spPr>
            <a:xfrm>
              <a:off x="9621039" y="2645680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9100" y="25908"/>
                  </a:lnTo>
                  <a:lnTo>
                    <a:pt x="381000" y="25908"/>
                  </a:lnTo>
                  <a:lnTo>
                    <a:pt x="381000" y="51816"/>
                  </a:lnTo>
                  <a:lnTo>
                    <a:pt x="416052" y="51816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1816"/>
                  </a:moveTo>
                  <a:lnTo>
                    <a:pt x="0" y="51816"/>
                  </a:lnTo>
                  <a:lnTo>
                    <a:pt x="0" y="25908"/>
                  </a:lnTo>
                  <a:lnTo>
                    <a:pt x="367284" y="25908"/>
                  </a:lnTo>
                  <a:lnTo>
                    <a:pt x="367284" y="51816"/>
                  </a:lnTo>
                  <a:close/>
                </a:path>
                <a:path w="443865" h="76200">
                  <a:moveTo>
                    <a:pt x="416052" y="51816"/>
                  </a:moveTo>
                  <a:lnTo>
                    <a:pt x="381000" y="51816"/>
                  </a:lnTo>
                  <a:lnTo>
                    <a:pt x="381000" y="25908"/>
                  </a:lnTo>
                  <a:lnTo>
                    <a:pt x="419100" y="25908"/>
                  </a:lnTo>
                  <a:lnTo>
                    <a:pt x="443484" y="38100"/>
                  </a:lnTo>
                  <a:lnTo>
                    <a:pt x="416052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638E0A0-27B8-4948-93DF-92E651492F25}"/>
                </a:ext>
              </a:extLst>
            </p:cNvPr>
            <p:cNvSpPr txBox="1"/>
            <p:nvPr/>
          </p:nvSpPr>
          <p:spPr>
            <a:xfrm>
              <a:off x="9019849" y="3232916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dirty="0">
                  <a:latin typeface="Tahoma"/>
                  <a:cs typeface="Tahoma"/>
                </a:rPr>
                <a:t>s</a:t>
              </a:r>
              <a:r>
                <a:rPr sz="1600" spc="-15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2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7229207-789E-45A1-9670-0438E49FCF18}"/>
                </a:ext>
              </a:extLst>
            </p:cNvPr>
            <p:cNvSpPr/>
            <p:nvPr/>
          </p:nvSpPr>
          <p:spPr>
            <a:xfrm>
              <a:off x="9616468" y="3343673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9100" y="25908"/>
                  </a:lnTo>
                  <a:lnTo>
                    <a:pt x="379476" y="25908"/>
                  </a:lnTo>
                  <a:lnTo>
                    <a:pt x="379476" y="51816"/>
                  </a:lnTo>
                  <a:lnTo>
                    <a:pt x="416052" y="51816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1816"/>
                  </a:moveTo>
                  <a:lnTo>
                    <a:pt x="0" y="51816"/>
                  </a:lnTo>
                  <a:lnTo>
                    <a:pt x="0" y="25908"/>
                  </a:lnTo>
                  <a:lnTo>
                    <a:pt x="367284" y="25908"/>
                  </a:lnTo>
                  <a:lnTo>
                    <a:pt x="367284" y="51816"/>
                  </a:lnTo>
                  <a:close/>
                </a:path>
                <a:path w="443865" h="76200">
                  <a:moveTo>
                    <a:pt x="416052" y="51816"/>
                  </a:moveTo>
                  <a:lnTo>
                    <a:pt x="379476" y="51816"/>
                  </a:lnTo>
                  <a:lnTo>
                    <a:pt x="379476" y="25908"/>
                  </a:lnTo>
                  <a:lnTo>
                    <a:pt x="419100" y="25908"/>
                  </a:lnTo>
                  <a:lnTo>
                    <a:pt x="443484" y="38100"/>
                  </a:lnTo>
                  <a:lnTo>
                    <a:pt x="416052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0805D31-F6C4-4992-B37C-7C4C3C242B9E}"/>
                </a:ext>
              </a:extLst>
            </p:cNvPr>
            <p:cNvSpPr txBox="1"/>
            <p:nvPr/>
          </p:nvSpPr>
          <p:spPr>
            <a:xfrm>
              <a:off x="9019849" y="3951703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dirty="0">
                  <a:latin typeface="Tahoma"/>
                  <a:cs typeface="Tahoma"/>
                </a:rPr>
                <a:t>s</a:t>
              </a:r>
              <a:r>
                <a:rPr sz="1600" spc="-15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3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 dirty="0">
                <a:latin typeface="Tahoma"/>
                <a:cs typeface="Tahoma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EE4C823-9844-4148-A40E-231AA5432308}"/>
                </a:ext>
              </a:extLst>
            </p:cNvPr>
            <p:cNvSpPr/>
            <p:nvPr/>
          </p:nvSpPr>
          <p:spPr>
            <a:xfrm>
              <a:off x="9616468" y="4023377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6052" y="24384"/>
                  </a:lnTo>
                  <a:lnTo>
                    <a:pt x="379476" y="24384"/>
                  </a:lnTo>
                  <a:lnTo>
                    <a:pt x="379476" y="50292"/>
                  </a:lnTo>
                  <a:lnTo>
                    <a:pt x="419100" y="50292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0292"/>
                  </a:moveTo>
                  <a:lnTo>
                    <a:pt x="0" y="50292"/>
                  </a:lnTo>
                  <a:lnTo>
                    <a:pt x="0" y="24384"/>
                  </a:lnTo>
                  <a:lnTo>
                    <a:pt x="367284" y="24384"/>
                  </a:lnTo>
                  <a:lnTo>
                    <a:pt x="367284" y="50292"/>
                  </a:lnTo>
                  <a:close/>
                </a:path>
                <a:path w="443865" h="76200">
                  <a:moveTo>
                    <a:pt x="419100" y="50292"/>
                  </a:moveTo>
                  <a:lnTo>
                    <a:pt x="379476" y="50292"/>
                  </a:lnTo>
                  <a:lnTo>
                    <a:pt x="379476" y="24384"/>
                  </a:lnTo>
                  <a:lnTo>
                    <a:pt x="416052" y="24384"/>
                  </a:lnTo>
                  <a:lnTo>
                    <a:pt x="443484" y="38100"/>
                  </a:lnTo>
                  <a:lnTo>
                    <a:pt x="419100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5">
              <a:extLst>
                <a:ext uri="{FF2B5EF4-FFF2-40B4-BE49-F238E27FC236}">
                  <a16:creationId xmlns:a16="http://schemas.microsoft.com/office/drawing/2014/main" id="{812E3C18-3127-4410-A51F-2999683BFBF9}"/>
                </a:ext>
              </a:extLst>
            </p:cNvPr>
            <p:cNvSpPr txBox="1"/>
            <p:nvPr/>
          </p:nvSpPr>
          <p:spPr>
            <a:xfrm>
              <a:off x="8201881" y="1901421"/>
              <a:ext cx="277092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dirty="0">
                  <a:latin typeface="Tahoma"/>
                  <a:cs typeface="Tahoma"/>
                </a:rPr>
                <a:t>s</a:t>
              </a:r>
              <a:r>
                <a:rPr sz="1600" spc="-5" dirty="0">
                  <a:latin typeface="Tahoma"/>
                  <a:cs typeface="Tahoma"/>
                </a:rPr>
                <a:t>t</a:t>
              </a:r>
              <a:endParaRPr sz="1600" dirty="0">
                <a:latin typeface="Tahoma"/>
                <a:cs typeface="Tahoma"/>
              </a:endParaRPr>
            </a:p>
          </p:txBody>
        </p:sp>
        <p:sp>
          <p:nvSpPr>
            <p:cNvPr id="22" name="object 26">
              <a:extLst>
                <a:ext uri="{FF2B5EF4-FFF2-40B4-BE49-F238E27FC236}">
                  <a16:creationId xmlns:a16="http://schemas.microsoft.com/office/drawing/2014/main" id="{6B342D16-28D5-4B2E-AF24-3BFB4440CEDC}"/>
                </a:ext>
              </a:extLst>
            </p:cNvPr>
            <p:cNvSpPr/>
            <p:nvPr/>
          </p:nvSpPr>
          <p:spPr>
            <a:xfrm>
              <a:off x="8520712" y="1977153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4" h="76200">
                  <a:moveTo>
                    <a:pt x="367284" y="76200"/>
                  </a:moveTo>
                  <a:lnTo>
                    <a:pt x="367284" y="0"/>
                  </a:lnTo>
                  <a:lnTo>
                    <a:pt x="416052" y="24384"/>
                  </a:lnTo>
                  <a:lnTo>
                    <a:pt x="379476" y="24384"/>
                  </a:lnTo>
                  <a:lnTo>
                    <a:pt x="379476" y="50292"/>
                  </a:lnTo>
                  <a:lnTo>
                    <a:pt x="419100" y="50292"/>
                  </a:lnTo>
                  <a:lnTo>
                    <a:pt x="367284" y="76200"/>
                  </a:lnTo>
                  <a:close/>
                </a:path>
                <a:path w="443864" h="76200">
                  <a:moveTo>
                    <a:pt x="367284" y="50292"/>
                  </a:moveTo>
                  <a:lnTo>
                    <a:pt x="0" y="50292"/>
                  </a:lnTo>
                  <a:lnTo>
                    <a:pt x="0" y="24384"/>
                  </a:lnTo>
                  <a:lnTo>
                    <a:pt x="367284" y="24384"/>
                  </a:lnTo>
                  <a:lnTo>
                    <a:pt x="367284" y="50292"/>
                  </a:lnTo>
                  <a:close/>
                </a:path>
                <a:path w="443864" h="76200">
                  <a:moveTo>
                    <a:pt x="419100" y="50292"/>
                  </a:moveTo>
                  <a:lnTo>
                    <a:pt x="379476" y="50292"/>
                  </a:lnTo>
                  <a:lnTo>
                    <a:pt x="379476" y="24384"/>
                  </a:lnTo>
                  <a:lnTo>
                    <a:pt x="416052" y="24384"/>
                  </a:lnTo>
                  <a:lnTo>
                    <a:pt x="443484" y="38100"/>
                  </a:lnTo>
                  <a:lnTo>
                    <a:pt x="419100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4AE6251-BBAA-4E3D-97A0-3F6B11A26C63}"/>
              </a:ext>
            </a:extLst>
          </p:cNvPr>
          <p:cNvSpPr txBox="1"/>
          <p:nvPr/>
        </p:nvSpPr>
        <p:spPr>
          <a:xfrm>
            <a:off x="1329371" y="5779934"/>
            <a:ext cx="8223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Font typeface="Wingdings 3" charset="2"/>
              <a:buChar char=""/>
              <a:tabLst>
                <a:tab pos="356870" algn="l"/>
              </a:tabLst>
            </a:pPr>
            <a:r>
              <a:rPr lang="en-US" dirty="0">
                <a:latin typeface="+mj-lt"/>
                <a:cs typeface="Tahoma"/>
              </a:rPr>
              <a:t>* is </a:t>
            </a:r>
            <a:r>
              <a:rPr lang="en-US" dirty="0">
                <a:solidFill>
                  <a:srgbClr val="FF0000"/>
                </a:solidFill>
                <a:latin typeface="+mj-lt"/>
                <a:cs typeface="Tahoma"/>
              </a:rPr>
              <a:t>dereferencing operator </a:t>
            </a:r>
            <a:r>
              <a:rPr lang="en-US" dirty="0">
                <a:latin typeface="+mj-lt"/>
                <a:cs typeface="Tahoma"/>
              </a:rPr>
              <a:t>Returns content of a memory location</a:t>
            </a:r>
          </a:p>
        </p:txBody>
      </p:sp>
    </p:spTree>
    <p:extLst>
      <p:ext uri="{BB962C8B-B14F-4D97-AF65-F5344CB8AC3E}">
        <p14:creationId xmlns:p14="http://schemas.microsoft.com/office/powerpoint/2010/main" val="297484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7294-37E0-40D0-8718-57CCA0A2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/>
              <a:t>Array Addressing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A2B1-0A94-495E-9A73-EE6447C41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452" y="1564573"/>
            <a:ext cx="8915400" cy="3777622"/>
          </a:xfrm>
        </p:spPr>
        <p:txBody>
          <a:bodyPr/>
          <a:lstStyle/>
          <a:p>
            <a:pPr marL="354965" algn="just">
              <a:spcBef>
                <a:spcPts val="525"/>
              </a:spcBef>
              <a:tabLst>
                <a:tab pos="356235" algn="l"/>
                <a:tab pos="356870" algn="l"/>
                <a:tab pos="3766820" algn="l"/>
                <a:tab pos="4203700" algn="l"/>
              </a:tabLst>
            </a:pPr>
            <a:r>
              <a:rPr lang="en-US" sz="2000" spc="-5" dirty="0">
                <a:solidFill>
                  <a:schemeClr val="tx1"/>
                </a:solidFill>
                <a:cs typeface="Tahoma"/>
              </a:rPr>
              <a:t>Consider </a:t>
            </a:r>
            <a:r>
              <a:rPr lang="en-US" sz="2000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2000" spc="13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Tahoma"/>
              </a:rPr>
              <a:t>statement:</a:t>
            </a:r>
            <a:r>
              <a:rPr lang="en-US" sz="2000" spc="2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2000" spc="20" dirty="0" err="1">
                <a:solidFill>
                  <a:schemeClr val="tx1"/>
                </a:solidFill>
                <a:cs typeface="Tahoma"/>
              </a:rPr>
              <a:t>cout</a:t>
            </a:r>
            <a:r>
              <a:rPr lang="en-US" sz="2000" spc="20" dirty="0">
                <a:solidFill>
                  <a:schemeClr val="tx1"/>
                </a:solidFill>
                <a:cs typeface="Tahoma"/>
              </a:rPr>
              <a:t>&lt;&lt;list[3];</a:t>
            </a:r>
          </a:p>
          <a:p>
            <a:pPr marL="354965" algn="just">
              <a:spcBef>
                <a:spcPts val="525"/>
              </a:spcBef>
              <a:tabLst>
                <a:tab pos="356235" algn="l"/>
                <a:tab pos="356870" algn="l"/>
                <a:tab pos="3766820" algn="l"/>
                <a:tab pos="4203700" algn="l"/>
              </a:tabLst>
            </a:pPr>
            <a:r>
              <a:rPr lang="en-US" sz="1800" spc="-5" dirty="0">
                <a:solidFill>
                  <a:schemeClr val="tx1"/>
                </a:solidFill>
                <a:cs typeface="Tahoma"/>
              </a:rPr>
              <a:t>Requires array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reference </a:t>
            </a:r>
            <a:r>
              <a:rPr lang="en-US" sz="1800" spc="-10" dirty="0">
                <a:solidFill>
                  <a:schemeClr val="tx1"/>
                </a:solidFill>
                <a:cs typeface="Courier New"/>
              </a:rPr>
              <a:t>list[3]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be </a:t>
            </a:r>
            <a:r>
              <a:rPr lang="en-US" sz="1800" spc="-5" dirty="0">
                <a:solidFill>
                  <a:srgbClr val="FF0000"/>
                </a:solidFill>
                <a:cs typeface="Tahoma"/>
              </a:rPr>
              <a:t>translated into memory</a:t>
            </a:r>
            <a:r>
              <a:rPr lang="en-US" sz="1800" spc="260" dirty="0">
                <a:solidFill>
                  <a:srgbClr val="FF0000"/>
                </a:solidFill>
                <a:cs typeface="Tahoma"/>
              </a:rPr>
              <a:t> </a:t>
            </a:r>
            <a:r>
              <a:rPr lang="en-US" sz="1800" spc="-5" dirty="0">
                <a:solidFill>
                  <a:srgbClr val="FF0000"/>
                </a:solidFill>
                <a:cs typeface="Tahoma"/>
              </a:rPr>
              <a:t>address</a:t>
            </a:r>
            <a:endParaRPr lang="en-US" sz="1800" dirty="0">
              <a:solidFill>
                <a:srgbClr val="FF0000"/>
              </a:solidFill>
              <a:cs typeface="Tahoma"/>
            </a:endParaRPr>
          </a:p>
          <a:p>
            <a:pPr marL="812165" marR="401955" lvl="1" indent="-342900" algn="just">
              <a:spcBef>
                <a:spcPts val="625"/>
              </a:spcBef>
              <a:tabLst>
                <a:tab pos="756285" algn="l"/>
                <a:tab pos="756920" algn="l"/>
              </a:tabLst>
            </a:pPr>
            <a:r>
              <a:rPr lang="en-US" sz="1800" spc="-5" dirty="0">
                <a:solidFill>
                  <a:srgbClr val="FF0000"/>
                </a:solidFill>
                <a:cs typeface="Tahoma"/>
              </a:rPr>
              <a:t>Offset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: Determines the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address </a:t>
            </a:r>
            <a:r>
              <a:rPr lang="en-US" sz="1800" dirty="0">
                <a:solidFill>
                  <a:schemeClr val="tx1"/>
                </a:solidFill>
                <a:cs typeface="Tahoma"/>
              </a:rPr>
              <a:t>of 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a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particular element </a:t>
            </a:r>
            <a:r>
              <a:rPr lang="en-US" sz="1800" spc="-5" dirty="0" err="1">
                <a:solidFill>
                  <a:schemeClr val="tx1"/>
                </a:solidFill>
                <a:cs typeface="Tahoma"/>
              </a:rPr>
              <a:t>w.r.t.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 base 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address</a:t>
            </a:r>
          </a:p>
          <a:p>
            <a:pPr marL="356235">
              <a:spcBef>
                <a:spcPts val="525"/>
              </a:spcBef>
              <a:tabLst>
                <a:tab pos="358140" algn="l"/>
                <a:tab pos="358775" algn="l"/>
              </a:tabLst>
            </a:pPr>
            <a:r>
              <a:rPr lang="en-US" spc="-5" dirty="0">
                <a:solidFill>
                  <a:schemeClr val="tx1"/>
                </a:solidFill>
                <a:cs typeface="Tahoma"/>
              </a:rPr>
              <a:t>Translation</a:t>
            </a:r>
            <a:endParaRPr lang="en-US" dirty="0">
              <a:solidFill>
                <a:schemeClr val="tx1"/>
              </a:solidFill>
              <a:cs typeface="Tahoma"/>
            </a:endParaRPr>
          </a:p>
          <a:p>
            <a:pPr marL="813435" lvl="1" indent="-342900">
              <a:spcBef>
                <a:spcPts val="380"/>
              </a:spcBef>
              <a:tabLst>
                <a:tab pos="757555" algn="l"/>
                <a:tab pos="758190" algn="l"/>
              </a:tabLst>
            </a:pPr>
            <a:r>
              <a:rPr lang="en-US" sz="1800" spc="-5" dirty="0">
                <a:solidFill>
                  <a:schemeClr val="tx1"/>
                </a:solidFill>
                <a:cs typeface="Tahoma"/>
              </a:rPr>
              <a:t>Base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address 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+ offset = 1000 + 3 x </a:t>
            </a:r>
            <a:r>
              <a:rPr lang="en-US" sz="1800" spc="-5" dirty="0" err="1">
                <a:solidFill>
                  <a:schemeClr val="tx1"/>
                </a:solidFill>
                <a:cs typeface="Tahoma"/>
              </a:rPr>
              <a:t>sizeof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(int)=1012</a:t>
            </a:r>
          </a:p>
          <a:p>
            <a:pPr marL="813435" lvl="1" indent="-342900">
              <a:spcBef>
                <a:spcPts val="380"/>
              </a:spcBef>
              <a:tabLst>
                <a:tab pos="757555" algn="l"/>
                <a:tab pos="758190" algn="l"/>
              </a:tabLst>
            </a:pPr>
            <a:r>
              <a:rPr lang="en-US" sz="1800" spc="-5" dirty="0">
                <a:solidFill>
                  <a:schemeClr val="tx1"/>
                </a:solidFill>
                <a:cs typeface="Tahoma"/>
              </a:rPr>
              <a:t>Content </a:t>
            </a:r>
            <a:r>
              <a:rPr lang="en-US" sz="1800" dirty="0">
                <a:solidFill>
                  <a:schemeClr val="tx1"/>
                </a:solidFill>
                <a:cs typeface="Tahoma"/>
              </a:rPr>
              <a:t>of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address 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1012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are 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retrieved &amp;</a:t>
            </a:r>
            <a:r>
              <a:rPr lang="en-US" sz="1800" spc="17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1800" spc="-10" dirty="0">
                <a:solidFill>
                  <a:schemeClr val="tx1"/>
                </a:solidFill>
                <a:cs typeface="Tahoma"/>
              </a:rPr>
              <a:t>displayed</a:t>
            </a:r>
          </a:p>
          <a:p>
            <a:pPr marL="285750" lvl="1">
              <a:spcBef>
                <a:spcPts val="380"/>
              </a:spcBef>
              <a:tabLst>
                <a:tab pos="757555" algn="l"/>
                <a:tab pos="758190" algn="l"/>
              </a:tabLst>
            </a:pPr>
            <a:r>
              <a:rPr lang="en-US" sz="1800" spc="-5" dirty="0">
                <a:solidFill>
                  <a:schemeClr val="tx1"/>
                </a:solidFill>
                <a:cs typeface="Tahoma"/>
              </a:rPr>
              <a:t>An </a:t>
            </a:r>
            <a:r>
              <a:rPr lang="en-US" sz="1800" spc="-5" dirty="0">
                <a:solidFill>
                  <a:srgbClr val="FF0000"/>
                </a:solidFill>
                <a:cs typeface="Tahoma"/>
              </a:rPr>
              <a:t>address translation </a:t>
            </a:r>
            <a:r>
              <a:rPr lang="en-US" sz="1800" dirty="0">
                <a:solidFill>
                  <a:schemeClr val="tx1"/>
                </a:solidFill>
                <a:cs typeface="Tahoma"/>
              </a:rPr>
              <a:t>is 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carried</a:t>
            </a:r>
            <a:r>
              <a:rPr lang="en-US" sz="180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cs typeface="Tahoma"/>
              </a:rPr>
              <a:t>out each time </a:t>
            </a:r>
          </a:p>
          <a:p>
            <a:pPr marL="0" lvl="1" indent="0">
              <a:spcBef>
                <a:spcPts val="380"/>
              </a:spcBef>
              <a:buNone/>
              <a:tabLst>
                <a:tab pos="757555" algn="l"/>
                <a:tab pos="758190" algn="l"/>
              </a:tabLst>
            </a:pPr>
            <a:r>
              <a:rPr lang="en-US" sz="1800" spc="-5" dirty="0">
                <a:solidFill>
                  <a:schemeClr val="tx1"/>
                </a:solidFill>
                <a:cs typeface="Tahoma"/>
              </a:rPr>
              <a:t>    an array element is accessed</a:t>
            </a:r>
          </a:p>
          <a:p>
            <a:pPr marL="285750" lvl="1">
              <a:spcBef>
                <a:spcPts val="380"/>
              </a:spcBef>
              <a:tabLst>
                <a:tab pos="757555" algn="l"/>
                <a:tab pos="758190" algn="l"/>
              </a:tabLst>
            </a:pP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What will be printed and why?</a:t>
            </a:r>
          </a:p>
          <a:p>
            <a:pPr marL="457200" lvl="2" indent="0" algn="ctr">
              <a:spcBef>
                <a:spcPts val="380"/>
              </a:spcBef>
              <a:buNone/>
              <a:tabLst>
                <a:tab pos="757555" algn="l"/>
                <a:tab pos="75819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+mj-lt"/>
                <a:cs typeface="Tahoma"/>
              </a:rPr>
              <a:t>cout</a:t>
            </a:r>
            <a:r>
              <a:rPr lang="en-US" sz="1800" b="1" dirty="0">
                <a:solidFill>
                  <a:schemeClr val="tx1"/>
                </a:solidFill>
                <a:latin typeface="+mj-lt"/>
                <a:cs typeface="Tahoma"/>
              </a:rPr>
              <a:t>&lt;&lt;*(list+3)&lt;&lt;</a:t>
            </a:r>
            <a:r>
              <a:rPr lang="en-US" sz="1800" b="1" dirty="0" err="1">
                <a:solidFill>
                  <a:schemeClr val="tx1"/>
                </a:solidFill>
                <a:latin typeface="+mj-lt"/>
                <a:cs typeface="Tahoma"/>
              </a:rPr>
              <a:t>endl</a:t>
            </a:r>
            <a:r>
              <a:rPr lang="en-US" sz="1800" b="1" dirty="0">
                <a:solidFill>
                  <a:schemeClr val="tx1"/>
                </a:solidFill>
                <a:latin typeface="+mj-lt"/>
                <a:cs typeface="Tahoma"/>
              </a:rPr>
              <a:t>;</a:t>
            </a:r>
          </a:p>
          <a:p>
            <a:pPr marL="0" lvl="1" indent="0">
              <a:spcBef>
                <a:spcPts val="380"/>
              </a:spcBef>
              <a:buNone/>
              <a:tabLst>
                <a:tab pos="757555" algn="l"/>
                <a:tab pos="758190" algn="l"/>
              </a:tabLst>
            </a:pPr>
            <a:endParaRPr lang="en-US" sz="1800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0" marR="401955" lvl="1" indent="0" algn="just">
              <a:spcBef>
                <a:spcPts val="625"/>
              </a:spcBef>
              <a:buNone/>
              <a:tabLst>
                <a:tab pos="756285" algn="l"/>
                <a:tab pos="756920" algn="l"/>
              </a:tabLst>
            </a:pP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6E41578-EE52-41BB-8B08-A406CD0B4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348772"/>
              </p:ext>
            </p:extLst>
          </p:nvPr>
        </p:nvGraphicFramePr>
        <p:xfrm>
          <a:off x="10151352" y="3312228"/>
          <a:ext cx="1444700" cy="32815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6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3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D94EEDDC-42BD-4531-AB2E-89652B8EF920}"/>
              </a:ext>
            </a:extLst>
          </p:cNvPr>
          <p:cNvGrpSpPr/>
          <p:nvPr/>
        </p:nvGrpSpPr>
        <p:grpSpPr>
          <a:xfrm>
            <a:off x="11637060" y="3535390"/>
            <a:ext cx="422855" cy="2811827"/>
            <a:chOff x="11545620" y="1950936"/>
            <a:chExt cx="422855" cy="2811827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D3F6E614-FECA-4D0D-B530-CF881ACBBB6C}"/>
                </a:ext>
              </a:extLst>
            </p:cNvPr>
            <p:cNvSpPr txBox="1"/>
            <p:nvPr/>
          </p:nvSpPr>
          <p:spPr>
            <a:xfrm>
              <a:off x="11565162" y="1950936"/>
              <a:ext cx="386656" cy="37125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138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0</a:t>
              </a:r>
              <a:endParaRPr sz="1300">
                <a:latin typeface="Tahoma"/>
                <a:cs typeface="Tahoma"/>
              </a:endParaRPr>
            </a:p>
            <a:p>
              <a:pPr marL="12700">
                <a:lnSpc>
                  <a:spcPts val="138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1</a:t>
              </a:r>
              <a:endParaRPr sz="1300">
                <a:latin typeface="Tahoma"/>
                <a:cs typeface="Tahoma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E0F010D-CE6C-4218-80F1-BC193DE82C6E}"/>
                </a:ext>
              </a:extLst>
            </p:cNvPr>
            <p:cNvSpPr txBox="1"/>
            <p:nvPr/>
          </p:nvSpPr>
          <p:spPr>
            <a:xfrm>
              <a:off x="11565162" y="2272852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2</a:t>
              </a:r>
              <a:endParaRPr sz="1300">
                <a:latin typeface="Tahoma"/>
                <a:cs typeface="Tahoma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1E948B8-BA45-4E7B-A43E-8F42A89C6809}"/>
                </a:ext>
              </a:extLst>
            </p:cNvPr>
            <p:cNvSpPr txBox="1"/>
            <p:nvPr/>
          </p:nvSpPr>
          <p:spPr>
            <a:xfrm>
              <a:off x="11571230" y="2509833"/>
              <a:ext cx="393026" cy="34560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1340"/>
                </a:lnSpc>
                <a:spcBef>
                  <a:spcPts val="95"/>
                </a:spcBef>
              </a:pPr>
              <a:r>
                <a:rPr sz="1300" spc="-5" dirty="0">
                  <a:latin typeface="Tahoma"/>
                  <a:cs typeface="Tahoma"/>
                </a:rPr>
                <a:t>1003</a:t>
              </a:r>
              <a:endParaRPr sz="1300" dirty="0">
                <a:latin typeface="Tahoma"/>
                <a:cs typeface="Tahoma"/>
              </a:endParaRPr>
            </a:p>
            <a:p>
              <a:pPr marL="18415">
                <a:lnSpc>
                  <a:spcPts val="134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4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DE549E4F-F4C9-4566-8679-A12DF767CFC0}"/>
                </a:ext>
              </a:extLst>
            </p:cNvPr>
            <p:cNvSpPr txBox="1"/>
            <p:nvPr/>
          </p:nvSpPr>
          <p:spPr>
            <a:xfrm>
              <a:off x="11574415" y="2798541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5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04024A40-76DC-46B6-8E07-1DE092CE3B74}"/>
                </a:ext>
              </a:extLst>
            </p:cNvPr>
            <p:cNvSpPr txBox="1"/>
            <p:nvPr/>
          </p:nvSpPr>
          <p:spPr>
            <a:xfrm>
              <a:off x="11577361" y="3044585"/>
              <a:ext cx="391114" cy="82009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1380"/>
                </a:lnSpc>
                <a:spcBef>
                  <a:spcPts val="95"/>
                </a:spcBef>
              </a:pPr>
              <a:r>
                <a:rPr sz="1300" spc="-5" dirty="0">
                  <a:latin typeface="Tahoma"/>
                  <a:cs typeface="Tahoma"/>
                </a:rPr>
                <a:t>1006</a:t>
              </a:r>
              <a:endParaRPr sz="1300" dirty="0">
                <a:latin typeface="Tahoma"/>
                <a:cs typeface="Tahoma"/>
              </a:endParaRPr>
            </a:p>
            <a:p>
              <a:pPr marL="12700">
                <a:lnSpc>
                  <a:spcPts val="1200"/>
                </a:lnSpc>
              </a:pPr>
              <a:r>
                <a:rPr sz="1300" spc="-5" dirty="0">
                  <a:latin typeface="Tahoma"/>
                  <a:cs typeface="Tahoma"/>
                </a:rPr>
                <a:t>1007</a:t>
              </a:r>
              <a:endParaRPr sz="1300" dirty="0">
                <a:latin typeface="Tahoma"/>
                <a:cs typeface="Tahoma"/>
              </a:endParaRPr>
            </a:p>
            <a:p>
              <a:pPr marL="12700">
                <a:lnSpc>
                  <a:spcPts val="1200"/>
                </a:lnSpc>
              </a:pPr>
              <a:r>
                <a:rPr sz="1300" spc="-5" dirty="0">
                  <a:latin typeface="Tahoma"/>
                  <a:cs typeface="Tahoma"/>
                </a:rPr>
                <a:t>1008</a:t>
              </a:r>
              <a:endParaRPr sz="1300" dirty="0">
                <a:latin typeface="Tahoma"/>
                <a:cs typeface="Tahoma"/>
              </a:endParaRPr>
            </a:p>
            <a:p>
              <a:pPr marL="17145">
                <a:lnSpc>
                  <a:spcPts val="116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0</a:t>
              </a:r>
              <a:r>
                <a:rPr sz="1300" spc="-5" dirty="0">
                  <a:latin typeface="Tahoma"/>
                  <a:cs typeface="Tahoma"/>
                </a:rPr>
                <a:t>9</a:t>
              </a:r>
              <a:endParaRPr sz="1300" dirty="0">
                <a:latin typeface="Tahoma"/>
                <a:cs typeface="Tahoma"/>
              </a:endParaRPr>
            </a:p>
            <a:p>
              <a:pPr marL="17145">
                <a:lnSpc>
                  <a:spcPts val="1340"/>
                </a:lnSpc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0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5F519F59-32EA-47FF-BC11-8415B68C0D33}"/>
                </a:ext>
              </a:extLst>
            </p:cNvPr>
            <p:cNvSpPr txBox="1"/>
            <p:nvPr/>
          </p:nvSpPr>
          <p:spPr>
            <a:xfrm>
              <a:off x="11550711" y="3884584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1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EE488BE-B1B0-4E4F-B2E3-139CE81ED04B}"/>
                </a:ext>
              </a:extLst>
            </p:cNvPr>
            <p:cNvSpPr txBox="1"/>
            <p:nvPr/>
          </p:nvSpPr>
          <p:spPr>
            <a:xfrm>
              <a:off x="11550711" y="4089501"/>
              <a:ext cx="386656" cy="21223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2</a:t>
              </a:r>
              <a:endParaRPr sz="1300" dirty="0">
                <a:latin typeface="Tahoma"/>
                <a:cs typeface="Tahoma"/>
              </a:endParaRPr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F947AFFE-5C5C-4F94-9565-8F413022E973}"/>
                </a:ext>
              </a:extLst>
            </p:cNvPr>
            <p:cNvSpPr txBox="1"/>
            <p:nvPr/>
          </p:nvSpPr>
          <p:spPr>
            <a:xfrm>
              <a:off x="11545620" y="4301739"/>
              <a:ext cx="391114" cy="46102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7145">
                <a:lnSpc>
                  <a:spcPts val="1340"/>
                </a:lnSpc>
                <a:spcBef>
                  <a:spcPts val="95"/>
                </a:spcBef>
              </a:pP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15" dirty="0">
                  <a:latin typeface="Tahoma"/>
                  <a:cs typeface="Tahoma"/>
                </a:rPr>
                <a:t>0</a:t>
              </a:r>
              <a:r>
                <a:rPr sz="1300" dirty="0">
                  <a:latin typeface="Tahoma"/>
                  <a:cs typeface="Tahoma"/>
                </a:rPr>
                <a:t>1</a:t>
              </a:r>
              <a:r>
                <a:rPr sz="1300" spc="-5" dirty="0">
                  <a:latin typeface="Tahoma"/>
                  <a:cs typeface="Tahoma"/>
                </a:rPr>
                <a:t>3</a:t>
              </a:r>
              <a:endParaRPr sz="1300" dirty="0">
                <a:latin typeface="Tahoma"/>
                <a:cs typeface="Tahoma"/>
              </a:endParaRPr>
            </a:p>
            <a:p>
              <a:pPr marL="12700">
                <a:lnSpc>
                  <a:spcPts val="1110"/>
                </a:lnSpc>
              </a:pPr>
              <a:r>
                <a:rPr sz="1300" spc="-5" dirty="0">
                  <a:latin typeface="Tahoma"/>
                  <a:cs typeface="Tahoma"/>
                </a:rPr>
                <a:t>1014</a:t>
              </a:r>
              <a:endParaRPr lang="en-US" sz="1300" spc="-5" dirty="0">
                <a:latin typeface="Tahoma"/>
                <a:cs typeface="Tahoma"/>
              </a:endParaRPr>
            </a:p>
            <a:p>
              <a:pPr marL="12700">
                <a:lnSpc>
                  <a:spcPts val="1110"/>
                </a:lnSpc>
              </a:pPr>
              <a:r>
                <a:rPr lang="en-US" sz="1300" spc="-5" dirty="0">
                  <a:latin typeface="Tahoma"/>
                  <a:cs typeface="Tahoma"/>
                </a:rPr>
                <a:t>1015</a:t>
              </a:r>
              <a:endParaRPr sz="1300" dirty="0">
                <a:latin typeface="Tahoma"/>
                <a:cs typeface="Tahoma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9B21B26-0999-4CA4-A81D-C4247B7C03DA}"/>
              </a:ext>
            </a:extLst>
          </p:cNvPr>
          <p:cNvGrpSpPr/>
          <p:nvPr/>
        </p:nvGrpSpPr>
        <p:grpSpPr>
          <a:xfrm>
            <a:off x="8293321" y="3453384"/>
            <a:ext cx="1868988" cy="2341177"/>
            <a:chOff x="8201881" y="1868930"/>
            <a:chExt cx="1868988" cy="2341177"/>
          </a:xfrm>
        </p:grpSpPr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9191DECB-E3B2-4D84-A8AD-8E9B845103EE}"/>
                </a:ext>
              </a:extLst>
            </p:cNvPr>
            <p:cNvSpPr txBox="1"/>
            <p:nvPr/>
          </p:nvSpPr>
          <p:spPr>
            <a:xfrm>
              <a:off x="9029053" y="1868930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spc="-15" dirty="0">
                  <a:latin typeface="Tahoma"/>
                  <a:cs typeface="Tahoma"/>
                </a:rPr>
                <a:t>s</a:t>
              </a:r>
              <a:r>
                <a:rPr sz="1600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0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 dirty="0">
                <a:latin typeface="Tahoma"/>
                <a:cs typeface="Tahoma"/>
              </a:endParaRPr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0E1D905B-FAD0-4945-B687-F7175EA7685B}"/>
                </a:ext>
              </a:extLst>
            </p:cNvPr>
            <p:cNvSpPr/>
            <p:nvPr/>
          </p:nvSpPr>
          <p:spPr>
            <a:xfrm>
              <a:off x="9625611" y="1928892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9100" y="25908"/>
                  </a:lnTo>
                  <a:lnTo>
                    <a:pt x="379476" y="25908"/>
                  </a:lnTo>
                  <a:lnTo>
                    <a:pt x="379476" y="51816"/>
                  </a:lnTo>
                  <a:lnTo>
                    <a:pt x="416052" y="51816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1816"/>
                  </a:moveTo>
                  <a:lnTo>
                    <a:pt x="0" y="51816"/>
                  </a:lnTo>
                  <a:lnTo>
                    <a:pt x="0" y="25908"/>
                  </a:lnTo>
                  <a:lnTo>
                    <a:pt x="367284" y="25908"/>
                  </a:lnTo>
                  <a:lnTo>
                    <a:pt x="367284" y="51816"/>
                  </a:lnTo>
                  <a:close/>
                </a:path>
                <a:path w="443865" h="76200">
                  <a:moveTo>
                    <a:pt x="416052" y="51816"/>
                  </a:moveTo>
                  <a:lnTo>
                    <a:pt x="379476" y="51816"/>
                  </a:lnTo>
                  <a:lnTo>
                    <a:pt x="379476" y="25908"/>
                  </a:lnTo>
                  <a:lnTo>
                    <a:pt x="419100" y="25908"/>
                  </a:lnTo>
                  <a:lnTo>
                    <a:pt x="443484" y="38100"/>
                  </a:lnTo>
                  <a:lnTo>
                    <a:pt x="416052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21C29186-8164-4ED1-856D-FA16C30B6504}"/>
                </a:ext>
              </a:extLst>
            </p:cNvPr>
            <p:cNvSpPr txBox="1"/>
            <p:nvPr/>
          </p:nvSpPr>
          <p:spPr>
            <a:xfrm>
              <a:off x="9024500" y="2534891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spc="-15" dirty="0">
                  <a:latin typeface="Tahoma"/>
                  <a:cs typeface="Tahoma"/>
                </a:rPr>
                <a:t>s</a:t>
              </a:r>
              <a:r>
                <a:rPr sz="1600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1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7F211C42-D9A5-49B4-AFD9-4509A7AD5E1E}"/>
                </a:ext>
              </a:extLst>
            </p:cNvPr>
            <p:cNvSpPr/>
            <p:nvPr/>
          </p:nvSpPr>
          <p:spPr>
            <a:xfrm>
              <a:off x="9621039" y="2645680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9100" y="25908"/>
                  </a:lnTo>
                  <a:lnTo>
                    <a:pt x="381000" y="25908"/>
                  </a:lnTo>
                  <a:lnTo>
                    <a:pt x="381000" y="51816"/>
                  </a:lnTo>
                  <a:lnTo>
                    <a:pt x="416052" y="51816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1816"/>
                  </a:moveTo>
                  <a:lnTo>
                    <a:pt x="0" y="51816"/>
                  </a:lnTo>
                  <a:lnTo>
                    <a:pt x="0" y="25908"/>
                  </a:lnTo>
                  <a:lnTo>
                    <a:pt x="367284" y="25908"/>
                  </a:lnTo>
                  <a:lnTo>
                    <a:pt x="367284" y="51816"/>
                  </a:lnTo>
                  <a:close/>
                </a:path>
                <a:path w="443865" h="76200">
                  <a:moveTo>
                    <a:pt x="416052" y="51816"/>
                  </a:moveTo>
                  <a:lnTo>
                    <a:pt x="381000" y="51816"/>
                  </a:lnTo>
                  <a:lnTo>
                    <a:pt x="381000" y="25908"/>
                  </a:lnTo>
                  <a:lnTo>
                    <a:pt x="419100" y="25908"/>
                  </a:lnTo>
                  <a:lnTo>
                    <a:pt x="443484" y="38100"/>
                  </a:lnTo>
                  <a:lnTo>
                    <a:pt x="416052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A67944B0-6D42-4932-916F-76EF85B0BA00}"/>
                </a:ext>
              </a:extLst>
            </p:cNvPr>
            <p:cNvSpPr txBox="1"/>
            <p:nvPr/>
          </p:nvSpPr>
          <p:spPr>
            <a:xfrm>
              <a:off x="9019849" y="3232916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dirty="0">
                  <a:latin typeface="Tahoma"/>
                  <a:cs typeface="Tahoma"/>
                </a:rPr>
                <a:t>s</a:t>
              </a:r>
              <a:r>
                <a:rPr sz="1600" spc="-15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2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88791D69-94E7-4A64-A7A0-DC19673494DC}"/>
                </a:ext>
              </a:extLst>
            </p:cNvPr>
            <p:cNvSpPr/>
            <p:nvPr/>
          </p:nvSpPr>
          <p:spPr>
            <a:xfrm>
              <a:off x="9616468" y="3343673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9100" y="25908"/>
                  </a:lnTo>
                  <a:lnTo>
                    <a:pt x="379476" y="25908"/>
                  </a:lnTo>
                  <a:lnTo>
                    <a:pt x="379476" y="51816"/>
                  </a:lnTo>
                  <a:lnTo>
                    <a:pt x="416052" y="51816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1816"/>
                  </a:moveTo>
                  <a:lnTo>
                    <a:pt x="0" y="51816"/>
                  </a:lnTo>
                  <a:lnTo>
                    <a:pt x="0" y="25908"/>
                  </a:lnTo>
                  <a:lnTo>
                    <a:pt x="367284" y="25908"/>
                  </a:lnTo>
                  <a:lnTo>
                    <a:pt x="367284" y="51816"/>
                  </a:lnTo>
                  <a:close/>
                </a:path>
                <a:path w="443865" h="76200">
                  <a:moveTo>
                    <a:pt x="416052" y="51816"/>
                  </a:moveTo>
                  <a:lnTo>
                    <a:pt x="379476" y="51816"/>
                  </a:lnTo>
                  <a:lnTo>
                    <a:pt x="379476" y="25908"/>
                  </a:lnTo>
                  <a:lnTo>
                    <a:pt x="419100" y="25908"/>
                  </a:lnTo>
                  <a:lnTo>
                    <a:pt x="443484" y="38100"/>
                  </a:lnTo>
                  <a:lnTo>
                    <a:pt x="416052" y="51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3CEA4D03-5175-4373-875A-1BF67400B2A6}"/>
                </a:ext>
              </a:extLst>
            </p:cNvPr>
            <p:cNvSpPr txBox="1"/>
            <p:nvPr/>
          </p:nvSpPr>
          <p:spPr>
            <a:xfrm>
              <a:off x="9019849" y="3951703"/>
              <a:ext cx="542718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dirty="0">
                  <a:latin typeface="Tahoma"/>
                  <a:cs typeface="Tahoma"/>
                </a:rPr>
                <a:t>s</a:t>
              </a:r>
              <a:r>
                <a:rPr sz="1600" spc="-15" dirty="0">
                  <a:latin typeface="Tahoma"/>
                  <a:cs typeface="Tahoma"/>
                </a:rPr>
                <a:t>t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3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 dirty="0">
                <a:latin typeface="Tahoma"/>
                <a:cs typeface="Tahoma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43D6DA26-AC87-480E-A4A1-2F27EC400DCC}"/>
                </a:ext>
              </a:extLst>
            </p:cNvPr>
            <p:cNvSpPr/>
            <p:nvPr/>
          </p:nvSpPr>
          <p:spPr>
            <a:xfrm>
              <a:off x="9616468" y="4023377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5" h="76200">
                  <a:moveTo>
                    <a:pt x="367284" y="76200"/>
                  </a:moveTo>
                  <a:lnTo>
                    <a:pt x="367284" y="0"/>
                  </a:lnTo>
                  <a:lnTo>
                    <a:pt x="416052" y="24384"/>
                  </a:lnTo>
                  <a:lnTo>
                    <a:pt x="379476" y="24384"/>
                  </a:lnTo>
                  <a:lnTo>
                    <a:pt x="379476" y="50292"/>
                  </a:lnTo>
                  <a:lnTo>
                    <a:pt x="419100" y="50292"/>
                  </a:lnTo>
                  <a:lnTo>
                    <a:pt x="367284" y="76200"/>
                  </a:lnTo>
                  <a:close/>
                </a:path>
                <a:path w="443865" h="76200">
                  <a:moveTo>
                    <a:pt x="367284" y="50292"/>
                  </a:moveTo>
                  <a:lnTo>
                    <a:pt x="0" y="50292"/>
                  </a:lnTo>
                  <a:lnTo>
                    <a:pt x="0" y="24384"/>
                  </a:lnTo>
                  <a:lnTo>
                    <a:pt x="367284" y="24384"/>
                  </a:lnTo>
                  <a:lnTo>
                    <a:pt x="367284" y="50292"/>
                  </a:lnTo>
                  <a:close/>
                </a:path>
                <a:path w="443865" h="76200">
                  <a:moveTo>
                    <a:pt x="419100" y="50292"/>
                  </a:moveTo>
                  <a:lnTo>
                    <a:pt x="379476" y="50292"/>
                  </a:lnTo>
                  <a:lnTo>
                    <a:pt x="379476" y="24384"/>
                  </a:lnTo>
                  <a:lnTo>
                    <a:pt x="416052" y="24384"/>
                  </a:lnTo>
                  <a:lnTo>
                    <a:pt x="443484" y="38100"/>
                  </a:lnTo>
                  <a:lnTo>
                    <a:pt x="419100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5">
              <a:extLst>
                <a:ext uri="{FF2B5EF4-FFF2-40B4-BE49-F238E27FC236}">
                  <a16:creationId xmlns:a16="http://schemas.microsoft.com/office/drawing/2014/main" id="{0C4BBDF1-1307-42A6-A8D5-A34A6AF3E187}"/>
                </a:ext>
              </a:extLst>
            </p:cNvPr>
            <p:cNvSpPr txBox="1"/>
            <p:nvPr/>
          </p:nvSpPr>
          <p:spPr>
            <a:xfrm>
              <a:off x="8201881" y="1901421"/>
              <a:ext cx="277092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l</a:t>
              </a:r>
              <a:r>
                <a:rPr sz="1600" spc="-20" dirty="0">
                  <a:latin typeface="Tahoma"/>
                  <a:cs typeface="Tahoma"/>
                </a:rPr>
                <a:t>i</a:t>
              </a:r>
              <a:r>
                <a:rPr sz="1600" dirty="0">
                  <a:latin typeface="Tahoma"/>
                  <a:cs typeface="Tahoma"/>
                </a:rPr>
                <a:t>s</a:t>
              </a:r>
              <a:r>
                <a:rPr sz="1600" spc="-5" dirty="0">
                  <a:latin typeface="Tahoma"/>
                  <a:cs typeface="Tahoma"/>
                </a:rPr>
                <a:t>t</a:t>
              </a:r>
              <a:endParaRPr sz="1600" dirty="0">
                <a:latin typeface="Tahoma"/>
                <a:cs typeface="Tahoma"/>
              </a:endParaRPr>
            </a:p>
          </p:txBody>
        </p:sp>
        <p:sp>
          <p:nvSpPr>
            <p:cNvPr id="24" name="object 26">
              <a:extLst>
                <a:ext uri="{FF2B5EF4-FFF2-40B4-BE49-F238E27FC236}">
                  <a16:creationId xmlns:a16="http://schemas.microsoft.com/office/drawing/2014/main" id="{89952BCE-0B3A-414C-B477-2D237D49FD0E}"/>
                </a:ext>
              </a:extLst>
            </p:cNvPr>
            <p:cNvSpPr/>
            <p:nvPr/>
          </p:nvSpPr>
          <p:spPr>
            <a:xfrm>
              <a:off x="8520712" y="1977153"/>
              <a:ext cx="445258" cy="93438"/>
            </a:xfrm>
            <a:custGeom>
              <a:avLst/>
              <a:gdLst/>
              <a:ahLst/>
              <a:cxnLst/>
              <a:rect l="l" t="t" r="r" b="b"/>
              <a:pathLst>
                <a:path w="443864" h="76200">
                  <a:moveTo>
                    <a:pt x="367284" y="76200"/>
                  </a:moveTo>
                  <a:lnTo>
                    <a:pt x="367284" y="0"/>
                  </a:lnTo>
                  <a:lnTo>
                    <a:pt x="416052" y="24384"/>
                  </a:lnTo>
                  <a:lnTo>
                    <a:pt x="379476" y="24384"/>
                  </a:lnTo>
                  <a:lnTo>
                    <a:pt x="379476" y="50292"/>
                  </a:lnTo>
                  <a:lnTo>
                    <a:pt x="419100" y="50292"/>
                  </a:lnTo>
                  <a:lnTo>
                    <a:pt x="367284" y="76200"/>
                  </a:lnTo>
                  <a:close/>
                </a:path>
                <a:path w="443864" h="76200">
                  <a:moveTo>
                    <a:pt x="367284" y="50292"/>
                  </a:moveTo>
                  <a:lnTo>
                    <a:pt x="0" y="50292"/>
                  </a:lnTo>
                  <a:lnTo>
                    <a:pt x="0" y="24384"/>
                  </a:lnTo>
                  <a:lnTo>
                    <a:pt x="367284" y="24384"/>
                  </a:lnTo>
                  <a:lnTo>
                    <a:pt x="367284" y="50292"/>
                  </a:lnTo>
                  <a:close/>
                </a:path>
                <a:path w="443864" h="76200">
                  <a:moveTo>
                    <a:pt x="419100" y="50292"/>
                  </a:moveTo>
                  <a:lnTo>
                    <a:pt x="379476" y="50292"/>
                  </a:lnTo>
                  <a:lnTo>
                    <a:pt x="379476" y="24384"/>
                  </a:lnTo>
                  <a:lnTo>
                    <a:pt x="416052" y="24384"/>
                  </a:lnTo>
                  <a:lnTo>
                    <a:pt x="443484" y="38100"/>
                  </a:lnTo>
                  <a:lnTo>
                    <a:pt x="419100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408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ACA2-B934-4FDE-9C6A-9521C861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Multidimensional</a:t>
            </a:r>
            <a:r>
              <a:rPr lang="en-US" spc="-30" dirty="0"/>
              <a:t> </a:t>
            </a:r>
            <a:r>
              <a:rPr lang="en-US" spc="-5" dirty="0"/>
              <a:t>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D34B8-8E7C-4896-909E-2748F751A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>
              <a:spcBef>
                <a:spcPts val="580"/>
              </a:spcBef>
              <a:tabLst>
                <a:tab pos="355600" algn="l"/>
                <a:tab pos="356870" algn="l"/>
              </a:tabLst>
            </a:pPr>
            <a:r>
              <a:rPr lang="en-US" sz="2000" spc="-5" dirty="0">
                <a:solidFill>
                  <a:schemeClr val="tx1"/>
                </a:solidFill>
                <a:latin typeface="Tahoma"/>
                <a:cs typeface="Tahoma"/>
              </a:rPr>
              <a:t>Most languages support </a:t>
            </a:r>
            <a:r>
              <a:rPr lang="en-US" sz="2000" dirty="0">
                <a:solidFill>
                  <a:schemeClr val="tx1"/>
                </a:solidFill>
                <a:latin typeface="Tahoma"/>
                <a:cs typeface="Tahoma"/>
              </a:rPr>
              <a:t>arrays </a:t>
            </a:r>
            <a:r>
              <a:rPr lang="en-US" sz="2000" spc="-5" dirty="0">
                <a:solidFill>
                  <a:schemeClr val="tx1"/>
                </a:solidFill>
                <a:latin typeface="Tahoma"/>
                <a:cs typeface="Tahoma"/>
              </a:rPr>
              <a:t>with more </a:t>
            </a:r>
            <a:r>
              <a:rPr lang="en-US" sz="2000" dirty="0">
                <a:solidFill>
                  <a:schemeClr val="tx1"/>
                </a:solidFill>
                <a:latin typeface="Tahoma"/>
                <a:cs typeface="Tahoma"/>
              </a:rPr>
              <a:t>than </a:t>
            </a:r>
            <a:r>
              <a:rPr lang="en-US" sz="2000" spc="-5" dirty="0">
                <a:solidFill>
                  <a:schemeClr val="tx1"/>
                </a:solidFill>
                <a:latin typeface="Tahoma"/>
                <a:cs typeface="Tahoma"/>
              </a:rPr>
              <a:t>one</a:t>
            </a:r>
            <a:r>
              <a:rPr lang="en-US" sz="2000" spc="-5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2000" spc="-5" dirty="0">
                <a:solidFill>
                  <a:schemeClr val="tx1"/>
                </a:solidFill>
                <a:latin typeface="Tahoma"/>
                <a:cs typeface="Tahoma"/>
              </a:rPr>
              <a:t>dimension</a:t>
            </a:r>
            <a:endParaRPr lang="en-US" sz="20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754380" lvl="1">
              <a:spcBef>
                <a:spcPts val="425"/>
              </a:spcBef>
              <a:tabLst>
                <a:tab pos="755015" algn="l"/>
                <a:tab pos="75565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High dimensions capture characteristics/correlations associated </a:t>
            </a: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with</a:t>
            </a:r>
            <a:r>
              <a:rPr lang="en-US" sz="1800" spc="7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data</a:t>
            </a:r>
            <a:endParaRPr lang="en-US" sz="1800" dirty="0">
              <a:solidFill>
                <a:schemeClr val="tx1"/>
              </a:solidFill>
              <a:latin typeface="Tahoma"/>
              <a:cs typeface="Tahoma"/>
            </a:endParaRPr>
          </a:p>
          <a:p>
            <a:pPr lvl="1">
              <a:spcBef>
                <a:spcPts val="45"/>
              </a:spcBef>
            </a:pPr>
            <a:endParaRPr lang="en-US" sz="275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354965">
              <a:tabLst>
                <a:tab pos="354965" algn="l"/>
                <a:tab pos="355600" algn="l"/>
              </a:tabLst>
            </a:pPr>
            <a:r>
              <a:rPr lang="en-US" sz="2000" spc="-5" dirty="0">
                <a:solidFill>
                  <a:schemeClr val="tx1"/>
                </a:solidFill>
                <a:latin typeface="Tahoma"/>
                <a:cs typeface="Tahoma"/>
              </a:rPr>
              <a:t>Example: </a:t>
            </a:r>
            <a:r>
              <a:rPr lang="en-US" sz="2000" dirty="0">
                <a:solidFill>
                  <a:schemeClr val="tx1"/>
                </a:solidFill>
                <a:latin typeface="Tahoma"/>
                <a:cs typeface="Tahoma"/>
              </a:rPr>
              <a:t>A </a:t>
            </a:r>
            <a:r>
              <a:rPr lang="en-US" sz="2000" spc="-5" dirty="0">
                <a:solidFill>
                  <a:schemeClr val="tx1"/>
                </a:solidFill>
                <a:latin typeface="Tahoma"/>
                <a:cs typeface="Tahoma"/>
              </a:rPr>
              <a:t>table </a:t>
            </a:r>
            <a:r>
              <a:rPr lang="en-US" sz="2000" spc="5" dirty="0">
                <a:solidFill>
                  <a:schemeClr val="tx1"/>
                </a:solidFill>
                <a:latin typeface="Tahoma"/>
                <a:cs typeface="Tahoma"/>
              </a:rPr>
              <a:t>of </a:t>
            </a:r>
            <a:r>
              <a:rPr lang="en-US" sz="2000" dirty="0">
                <a:solidFill>
                  <a:schemeClr val="tx1"/>
                </a:solidFill>
                <a:latin typeface="Tahoma"/>
                <a:cs typeface="Tahoma"/>
              </a:rPr>
              <a:t>test scores </a:t>
            </a:r>
            <a:r>
              <a:rPr lang="en-US" sz="2000" spc="-5" dirty="0">
                <a:solidFill>
                  <a:schemeClr val="tx1"/>
                </a:solidFill>
                <a:latin typeface="Tahoma"/>
                <a:cs typeface="Tahoma"/>
              </a:rPr>
              <a:t>for different students </a:t>
            </a:r>
            <a:r>
              <a:rPr lang="en-US" sz="2000" spc="5" dirty="0">
                <a:solidFill>
                  <a:schemeClr val="tx1"/>
                </a:solidFill>
                <a:latin typeface="Tahoma"/>
                <a:cs typeface="Tahoma"/>
              </a:rPr>
              <a:t>on </a:t>
            </a:r>
            <a:r>
              <a:rPr lang="en-US" sz="2000" dirty="0">
                <a:solidFill>
                  <a:schemeClr val="tx1"/>
                </a:solidFill>
                <a:latin typeface="Tahoma"/>
                <a:cs typeface="Tahoma"/>
              </a:rPr>
              <a:t>several</a:t>
            </a:r>
            <a:r>
              <a:rPr lang="en-US" sz="2000" spc="-5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ahoma"/>
                <a:cs typeface="Tahoma"/>
              </a:rPr>
              <a:t>tests</a:t>
            </a:r>
          </a:p>
          <a:p>
            <a:pPr marL="754380" lvl="1">
              <a:spcBef>
                <a:spcPts val="430"/>
              </a:spcBef>
              <a:tabLst>
                <a:tab pos="755015" algn="l"/>
                <a:tab pos="755650" algn="l"/>
              </a:tabLst>
            </a:pP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2D array </a:t>
            </a: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is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suitable for storage and processing of</a:t>
            </a:r>
            <a:r>
              <a:rPr lang="en-US" sz="1800" spc="7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data</a:t>
            </a:r>
            <a:endParaRPr lang="en-US" sz="1800" dirty="0">
              <a:solidFill>
                <a:schemeClr val="tx1"/>
              </a:solidFill>
              <a:latin typeface="Tahoma"/>
              <a:cs typeface="Tahoma"/>
            </a:endParaRP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4D42A6B6-20F9-4EE8-B70B-63D9B9F85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824835"/>
              </p:ext>
            </p:extLst>
          </p:nvPr>
        </p:nvGraphicFramePr>
        <p:xfrm>
          <a:off x="4703445" y="4238641"/>
          <a:ext cx="4686933" cy="1995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7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8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7160" algn="r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8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1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5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712">
                <a:tc>
                  <a:txBody>
                    <a:bodyPr/>
                    <a:lstStyle/>
                    <a:p>
                      <a:pPr marR="62230" algn="ctr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99.0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93.5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89.0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91.0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444">
                <a:tc>
                  <a:txBody>
                    <a:bodyPr/>
                    <a:lstStyle/>
                    <a:p>
                      <a:pPr marR="62230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66.0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68.0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84.5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82.0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90">
                <a:tc>
                  <a:txBody>
                    <a:bodyPr/>
                    <a:lstStyle/>
                    <a:p>
                      <a:pPr marR="62230" algn="ctr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88.5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78.5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70.0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65.0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90">
                <a:tc>
                  <a:txBody>
                    <a:bodyPr/>
                    <a:lstStyle/>
                    <a:p>
                      <a:pPr marR="49530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033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7810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0955" marR="317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93">
                <a:tc>
                  <a:txBody>
                    <a:bodyPr/>
                    <a:lstStyle/>
                    <a:p>
                      <a:pPr marR="49530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033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7810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0955" marR="317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34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3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N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3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700" spc="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00</a:t>
                      </a:r>
                      <a:r>
                        <a:rPr sz="1700" spc="-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99.5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1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700" spc="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00</a:t>
                      </a:r>
                      <a:r>
                        <a:rPr sz="1700" spc="-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99.0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693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17AF-E0E6-4D94-9FA3-F921E0B2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Two Dimensional Arrays –</a:t>
            </a:r>
            <a:r>
              <a:rPr lang="en-US" spc="10" dirty="0"/>
              <a:t> </a:t>
            </a:r>
            <a:r>
              <a:rPr lang="en-US" spc="-5" dirty="0"/>
              <a:t>Declaration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9C735-1E9E-44EF-BA4A-850E8662C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dataType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arrayName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[intExp1][intExp2];</a:t>
            </a:r>
          </a:p>
          <a:p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intExp1 – </a:t>
            </a:r>
            <a:r>
              <a:rPr lang="en-US" sz="1900" dirty="0">
                <a:solidFill>
                  <a:srgbClr val="FF0000"/>
                </a:solidFill>
              </a:rPr>
              <a:t>constant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expression specifying number of </a:t>
            </a:r>
            <a:r>
              <a:rPr lang="en-US" sz="1900" dirty="0">
                <a:solidFill>
                  <a:srgbClr val="FF0000"/>
                </a:solidFill>
              </a:rPr>
              <a:t>rows</a:t>
            </a:r>
          </a:p>
          <a:p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intExp2 – </a:t>
            </a:r>
            <a:r>
              <a:rPr lang="en-US" sz="1900" dirty="0">
                <a:solidFill>
                  <a:srgbClr val="FF0000"/>
                </a:solidFill>
              </a:rPr>
              <a:t>constant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expression specifying number of </a:t>
            </a:r>
            <a:r>
              <a:rPr lang="en-US" sz="1900" dirty="0">
                <a:solidFill>
                  <a:srgbClr val="FF0000"/>
                </a:solidFill>
              </a:rPr>
              <a:t>columns</a:t>
            </a:r>
          </a:p>
          <a:p>
            <a:r>
              <a:rPr lang="pt-BR" sz="1900" dirty="0">
                <a:solidFill>
                  <a:schemeClr val="tx1"/>
                </a:solidFill>
              </a:rPr>
              <a:t>Example:</a:t>
            </a:r>
          </a:p>
          <a:p>
            <a:pPr marL="0" indent="0" algn="ctr">
              <a:buNone/>
            </a:pPr>
            <a:r>
              <a:rPr lang="pt-BR" b="1" dirty="0">
                <a:solidFill>
                  <a:schemeClr val="tx1"/>
                </a:solidFill>
              </a:rPr>
              <a:t>const int	NUM_ROW =2, NUM_COLUMN =	4;</a:t>
            </a:r>
          </a:p>
          <a:p>
            <a:pPr marL="0" indent="0" algn="ctr">
              <a:buNone/>
            </a:pPr>
            <a:r>
              <a:rPr lang="pt-BR" b="1" dirty="0">
                <a:solidFill>
                  <a:schemeClr val="tx1"/>
                </a:solidFill>
              </a:rPr>
              <a:t>double scoreTable [NUM_ROW][NUM_COLUMN];</a:t>
            </a:r>
          </a:p>
          <a:p>
            <a:pPr marL="354965">
              <a:tabLst>
                <a:tab pos="356235" algn="l"/>
                <a:tab pos="356870" algn="l"/>
              </a:tabLst>
            </a:pPr>
            <a:r>
              <a:rPr lang="en-US" sz="2100" spc="-5" dirty="0">
                <a:solidFill>
                  <a:schemeClr val="tx1"/>
                </a:solidFill>
                <a:cs typeface="Tahoma"/>
              </a:rPr>
              <a:t>Initialization:</a:t>
            </a:r>
            <a:endParaRPr lang="en-US" sz="2100" dirty="0">
              <a:solidFill>
                <a:schemeClr val="tx1"/>
              </a:solidFill>
              <a:cs typeface="Tahoma"/>
            </a:endParaRPr>
          </a:p>
          <a:p>
            <a:pPr marL="126365" indent="0" algn="ctr">
              <a:spcBef>
                <a:spcPts val="355"/>
              </a:spcBef>
              <a:buNone/>
              <a:tabLst>
                <a:tab pos="756285" algn="l"/>
                <a:tab pos="1687830" algn="l"/>
                <a:tab pos="3154045" algn="l"/>
                <a:tab pos="3421379" algn="l"/>
                <a:tab pos="4088765" algn="l"/>
                <a:tab pos="4353560" algn="l"/>
                <a:tab pos="4620895" algn="l"/>
                <a:tab pos="5420360" algn="l"/>
                <a:tab pos="6087110" algn="l"/>
              </a:tabLst>
            </a:pPr>
            <a:r>
              <a:rPr lang="en-US" sz="1900" b="1" spc="40" dirty="0">
                <a:solidFill>
                  <a:schemeClr val="tx1"/>
                </a:solidFill>
                <a:cs typeface="Arial"/>
              </a:rPr>
              <a:t>Double </a:t>
            </a:r>
            <a:r>
              <a:rPr lang="en-US" sz="1900" b="1" spc="105" dirty="0" err="1">
                <a:solidFill>
                  <a:schemeClr val="tx1"/>
                </a:solidFill>
                <a:cs typeface="Arial"/>
              </a:rPr>
              <a:t>scoreTable</a:t>
            </a:r>
            <a:r>
              <a:rPr lang="en-US" sz="1900" b="1" spc="105" dirty="0">
                <a:solidFill>
                  <a:schemeClr val="tx1"/>
                </a:solidFill>
                <a:cs typeface="Arial"/>
              </a:rPr>
              <a:t> </a:t>
            </a:r>
            <a:r>
              <a:rPr lang="en-US" sz="1900" b="1" spc="509" dirty="0">
                <a:solidFill>
                  <a:schemeClr val="tx1"/>
                </a:solidFill>
                <a:cs typeface="Arial"/>
              </a:rPr>
              <a:t>[</a:t>
            </a:r>
            <a:r>
              <a:rPr lang="en-US" sz="1900" b="1" spc="385" dirty="0">
                <a:solidFill>
                  <a:schemeClr val="tx1"/>
                </a:solidFill>
                <a:cs typeface="Arial"/>
              </a:rPr>
              <a:t>][4]	</a:t>
            </a:r>
            <a:r>
              <a:rPr lang="en-US" sz="1900" b="1" spc="-70" dirty="0">
                <a:solidFill>
                  <a:schemeClr val="tx1"/>
                </a:solidFill>
                <a:cs typeface="Arial"/>
              </a:rPr>
              <a:t>=	</a:t>
            </a:r>
            <a:r>
              <a:rPr lang="en-US" sz="1900" b="1" spc="405" dirty="0">
                <a:solidFill>
                  <a:schemeClr val="tx1"/>
                </a:solidFill>
                <a:cs typeface="Arial"/>
              </a:rPr>
              <a:t>{</a:t>
            </a:r>
            <a:r>
              <a:rPr lang="en-US" sz="1900" b="1" spc="285" dirty="0">
                <a:solidFill>
                  <a:schemeClr val="tx1"/>
                </a:solidFill>
                <a:cs typeface="Arial"/>
              </a:rPr>
              <a:t>{0.5,	</a:t>
            </a:r>
            <a:r>
              <a:rPr lang="en-US" sz="1900" b="1" spc="250" dirty="0">
                <a:solidFill>
                  <a:schemeClr val="tx1"/>
                </a:solidFill>
                <a:cs typeface="Arial"/>
              </a:rPr>
              <a:t>0.6,</a:t>
            </a:r>
            <a:r>
              <a:rPr lang="en-US" sz="1900" b="1" spc="280" dirty="0">
                <a:solidFill>
                  <a:schemeClr val="tx1"/>
                </a:solidFill>
                <a:cs typeface="Arial"/>
              </a:rPr>
              <a:t>0.3},</a:t>
            </a:r>
          </a:p>
          <a:p>
            <a:pPr marL="126365" indent="0" algn="ctr">
              <a:spcBef>
                <a:spcPts val="355"/>
              </a:spcBef>
              <a:buNone/>
              <a:tabLst>
                <a:tab pos="756285" algn="l"/>
                <a:tab pos="1687830" algn="l"/>
                <a:tab pos="3154045" algn="l"/>
                <a:tab pos="3421379" algn="l"/>
                <a:tab pos="4088765" algn="l"/>
                <a:tab pos="4353560" algn="l"/>
                <a:tab pos="4620895" algn="l"/>
                <a:tab pos="5420360" algn="l"/>
                <a:tab pos="6087110" algn="l"/>
              </a:tabLst>
            </a:pPr>
            <a:r>
              <a:rPr lang="en-US" sz="1900" b="1" spc="285" dirty="0">
                <a:solidFill>
                  <a:schemeClr val="tx1"/>
                </a:solidFill>
                <a:cs typeface="Arial"/>
              </a:rPr>
              <a:t>                                     {0.6,</a:t>
            </a:r>
            <a:r>
              <a:rPr lang="en-US" sz="1900" b="1" spc="250" dirty="0">
                <a:solidFill>
                  <a:schemeClr val="tx1"/>
                </a:solidFill>
                <a:cs typeface="Arial"/>
              </a:rPr>
              <a:t>0.3,</a:t>
            </a:r>
            <a:r>
              <a:rPr lang="en-US" sz="1900" b="1" spc="305" dirty="0">
                <a:solidFill>
                  <a:schemeClr val="tx1"/>
                </a:solidFill>
                <a:cs typeface="Arial"/>
              </a:rPr>
              <a:t>0.8}};</a:t>
            </a:r>
            <a:endParaRPr lang="en-US" sz="1900" b="1" dirty="0">
              <a:solidFill>
                <a:schemeClr val="tx1"/>
              </a:solidFill>
              <a:cs typeface="Arial"/>
            </a:endParaRPr>
          </a:p>
          <a:p>
            <a:pPr marL="811530" lvl="1" indent="-342900">
              <a:spcBef>
                <a:spcPts val="56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cs typeface="Tahoma"/>
              </a:rPr>
              <a:t>List the </a:t>
            </a:r>
            <a:r>
              <a:rPr lang="en-US" sz="1900" spc="-10" dirty="0">
                <a:solidFill>
                  <a:schemeClr val="tx1"/>
                </a:solidFill>
                <a:cs typeface="Tahoma"/>
              </a:rPr>
              <a:t>initial </a:t>
            </a:r>
            <a:r>
              <a:rPr lang="en-US" sz="1900" spc="-5" dirty="0">
                <a:solidFill>
                  <a:schemeClr val="tx1"/>
                </a:solidFill>
                <a:cs typeface="Tahoma"/>
              </a:rPr>
              <a:t>values in braces</a:t>
            </a:r>
            <a:r>
              <a:rPr lang="en-US" sz="1900" dirty="0">
                <a:solidFill>
                  <a:srgbClr val="FF0000"/>
                </a:solidFill>
              </a:rPr>
              <a:t>, row by row</a:t>
            </a: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solidFill>
                  <a:schemeClr val="tx1"/>
                </a:solidFill>
                <a:cs typeface="Tahoma"/>
              </a:rPr>
              <a:t>May use internal </a:t>
            </a:r>
            <a:r>
              <a:rPr lang="en-US" sz="1900" spc="-10" dirty="0">
                <a:solidFill>
                  <a:schemeClr val="tx1"/>
                </a:solidFill>
                <a:cs typeface="Tahoma"/>
              </a:rPr>
              <a:t>braces </a:t>
            </a:r>
            <a:r>
              <a:rPr lang="en-US" sz="1900" spc="-5" dirty="0">
                <a:solidFill>
                  <a:schemeClr val="tx1"/>
                </a:solidFill>
                <a:cs typeface="Tahoma"/>
              </a:rPr>
              <a:t>for each row </a:t>
            </a:r>
            <a:r>
              <a:rPr lang="en-US" sz="1900" spc="-10" dirty="0">
                <a:solidFill>
                  <a:schemeClr val="tx1"/>
                </a:solidFill>
                <a:cs typeface="Tahoma"/>
              </a:rPr>
              <a:t>to </a:t>
            </a:r>
            <a:r>
              <a:rPr lang="en-US" sz="1900" spc="-5" dirty="0">
                <a:solidFill>
                  <a:schemeClr val="tx1"/>
                </a:solidFill>
                <a:cs typeface="Tahoma"/>
              </a:rPr>
              <a:t>improve</a:t>
            </a:r>
            <a:r>
              <a:rPr lang="en-US" sz="1900" spc="21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1900" spc="-5" dirty="0">
                <a:solidFill>
                  <a:schemeClr val="tx1"/>
                </a:solidFill>
                <a:cs typeface="Tahoma"/>
              </a:rPr>
              <a:t>readability</a:t>
            </a:r>
            <a:endParaRPr lang="en-US" sz="1900" dirty="0">
              <a:solidFill>
                <a:schemeClr val="tx1"/>
              </a:solidFill>
              <a:cs typeface="Tahoma"/>
            </a:endParaRPr>
          </a:p>
          <a:p>
            <a:pPr marL="0" indent="0">
              <a:buNone/>
            </a:pPr>
            <a:endParaRPr lang="pt-BR" b="1" dirty="0">
              <a:solidFill>
                <a:schemeClr val="tx1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47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451D-2985-4E9D-A303-6C25EF1B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Two Dimensional Arrays –</a:t>
            </a:r>
            <a:r>
              <a:rPr lang="en-US" spc="10" dirty="0"/>
              <a:t> </a:t>
            </a:r>
            <a:r>
              <a:rPr lang="en-US" spc="-5" dirty="0"/>
              <a:t>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DE716-7E62-4A7F-88E9-48864DDB1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err="1">
                <a:solidFill>
                  <a:schemeClr val="tx1"/>
                </a:solidFill>
              </a:rPr>
              <a:t>arrayName</a:t>
            </a:r>
            <a:r>
              <a:rPr lang="en-US" b="1" dirty="0">
                <a:solidFill>
                  <a:schemeClr val="tx1"/>
                </a:solidFill>
              </a:rPr>
              <a:t>[indexExp1][indexExp2];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indexExp1 – row index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indexExp2 – column index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Rows and columns are numbered from 0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Use nested loops to vary two indices</a:t>
            </a:r>
          </a:p>
          <a:p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Row-wise 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or </a:t>
            </a:r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column-wise</a:t>
            </a:r>
            <a:r>
              <a:rPr lang="en-US" sz="1800" spc="105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manner</a:t>
            </a:r>
            <a:endParaRPr lang="en-US" dirty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3AD5123F-613D-44FC-BD40-A1757301B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731258"/>
              </p:ext>
            </p:extLst>
          </p:nvPr>
        </p:nvGraphicFramePr>
        <p:xfrm>
          <a:off x="5739765" y="4462161"/>
          <a:ext cx="4686933" cy="1995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7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8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7160" algn="r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8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789"/>
                        </a:lnSpc>
                        <a:spcBef>
                          <a:spcPts val="25"/>
                        </a:spcBef>
                      </a:pPr>
                      <a:r>
                        <a:rPr sz="1700" spc="1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Test</a:t>
                      </a:r>
                      <a:r>
                        <a:rPr sz="1700" spc="-5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712">
                <a:tc>
                  <a:txBody>
                    <a:bodyPr/>
                    <a:lstStyle/>
                    <a:p>
                      <a:pPr marR="62230" algn="ctr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99.0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93.5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89.0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ts val="1955"/>
                        </a:lnSpc>
                        <a:spcBef>
                          <a:spcPts val="195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91.0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444">
                <a:tc>
                  <a:txBody>
                    <a:bodyPr/>
                    <a:lstStyle/>
                    <a:p>
                      <a:pPr marR="62230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66.0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68.0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84.5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82.0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90">
                <a:tc>
                  <a:txBody>
                    <a:bodyPr/>
                    <a:lstStyle/>
                    <a:p>
                      <a:pPr marR="62230" algn="ctr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88.5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78.5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70.0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ts val="195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65.0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90">
                <a:tc>
                  <a:txBody>
                    <a:bodyPr/>
                    <a:lstStyle/>
                    <a:p>
                      <a:pPr marR="49530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033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7810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20955" marR="3175" algn="ctr">
                        <a:lnSpc>
                          <a:spcPts val="196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93">
                <a:tc>
                  <a:txBody>
                    <a:bodyPr/>
                    <a:lstStyle/>
                    <a:p>
                      <a:pPr marR="49530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033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7810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0955" marR="3175" algn="ctr">
                        <a:lnSpc>
                          <a:spcPts val="196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: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34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Student</a:t>
                      </a:r>
                      <a:r>
                        <a:rPr sz="1700" spc="-7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00" spc="3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N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3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700" spc="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00</a:t>
                      </a:r>
                      <a:r>
                        <a:rPr sz="1700" spc="-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99.5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1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700" spc="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00</a:t>
                      </a:r>
                      <a:r>
                        <a:rPr sz="1700" spc="-25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.</a:t>
                      </a:r>
                      <a:r>
                        <a:rPr sz="1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7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02565" marR="31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2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ahoma"/>
                          <a:cs typeface="Tahoma"/>
                        </a:rPr>
                        <a:t>99.0</a:t>
                      </a:r>
                      <a:endParaRPr sz="1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114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A356-63D9-481F-A77A-39A9BF49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Higher Dimensional </a:t>
            </a:r>
            <a:r>
              <a:rPr lang="en-US" spc="-10" dirty="0"/>
              <a:t>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EF70D-69E1-4113-88E6-DC52E9645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5458"/>
            <a:ext cx="8915400" cy="3777622"/>
          </a:xfrm>
        </p:spPr>
        <p:txBody>
          <a:bodyPr/>
          <a:lstStyle/>
          <a:p>
            <a:pPr marL="405765">
              <a:spcBef>
                <a:spcPts val="615"/>
              </a:spcBef>
              <a:tabLst>
                <a:tab pos="405765" algn="l"/>
                <a:tab pos="406400" algn="l"/>
              </a:tabLst>
            </a:pPr>
            <a:r>
              <a:rPr lang="en-US" spc="-5" dirty="0">
                <a:solidFill>
                  <a:srgbClr val="FF0000"/>
                </a:solidFill>
                <a:latin typeface="+mj-lt"/>
                <a:cs typeface="Tahoma"/>
              </a:rPr>
              <a:t>Example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: Store </a:t>
            </a:r>
            <a:r>
              <a:rPr lang="en-US" dirty="0">
                <a:solidFill>
                  <a:schemeClr val="tx1"/>
                </a:solidFill>
                <a:latin typeface="+mj-lt"/>
                <a:cs typeface="Tahoma"/>
              </a:rPr>
              <a:t>and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process </a:t>
            </a:r>
            <a:r>
              <a:rPr lang="en-US" dirty="0">
                <a:solidFill>
                  <a:schemeClr val="tx1"/>
                </a:solidFill>
                <a:latin typeface="+mj-lt"/>
                <a:cs typeface="Tahoma"/>
              </a:rPr>
              <a:t>a table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of </a:t>
            </a:r>
            <a:r>
              <a:rPr lang="en-US" dirty="0">
                <a:solidFill>
                  <a:schemeClr val="tx1"/>
                </a:solidFill>
                <a:latin typeface="+mj-lt"/>
                <a:cs typeface="Tahoma"/>
              </a:rPr>
              <a:t>test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 scores</a:t>
            </a:r>
            <a:endParaRPr lang="en-US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862330" lvl="1" indent="-342900">
              <a:spcBef>
                <a:spcPts val="465"/>
              </a:spcBef>
              <a:tabLst>
                <a:tab pos="807085" algn="l"/>
                <a:tab pos="807720" algn="l"/>
              </a:tabLst>
            </a:pPr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For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several </a:t>
            </a:r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different</a:t>
            </a:r>
            <a:r>
              <a:rPr lang="en-US" sz="1800" spc="95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students</a:t>
            </a:r>
            <a:endParaRPr lang="en-US" sz="1800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862330" lvl="1" indent="-342900">
              <a:spcBef>
                <a:spcPts val="455"/>
              </a:spcBef>
              <a:tabLst>
                <a:tab pos="807085" algn="l"/>
                <a:tab pos="80772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On several </a:t>
            </a:r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different</a:t>
            </a:r>
            <a:r>
              <a:rPr lang="en-US" sz="1800" spc="95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tests</a:t>
            </a:r>
            <a:endParaRPr lang="en-US" sz="1800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862330" lvl="1" indent="-342900">
              <a:spcBef>
                <a:spcPts val="459"/>
              </a:spcBef>
              <a:tabLst>
                <a:tab pos="807085" algn="l"/>
                <a:tab pos="807720" algn="l"/>
              </a:tabLst>
            </a:pPr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Belonging to different</a:t>
            </a:r>
            <a:r>
              <a:rPr lang="en-US" sz="1800" spc="125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semesters</a:t>
            </a:r>
          </a:p>
          <a:p>
            <a:pPr marL="0" lvl="1" indent="0" algn="ctr">
              <a:spcBef>
                <a:spcPts val="459"/>
              </a:spcBef>
              <a:buNone/>
              <a:tabLst>
                <a:tab pos="806450" algn="l"/>
                <a:tab pos="806450" algn="l"/>
              </a:tabLst>
            </a:pPr>
            <a:r>
              <a:rPr lang="en-US" sz="1800" b="1" dirty="0">
                <a:solidFill>
                  <a:schemeClr val="tx1"/>
                </a:solidFill>
                <a:latin typeface="+mj-lt"/>
                <a:cs typeface="Tahoma"/>
              </a:rPr>
              <a:t>const	int	SEMS =10, STUDENTS	= 30, TESTS = 4;</a:t>
            </a:r>
          </a:p>
          <a:p>
            <a:pPr marL="0" lvl="1" indent="0" algn="ctr">
              <a:spcBef>
                <a:spcPts val="459"/>
              </a:spcBef>
              <a:buNone/>
              <a:tabLst>
                <a:tab pos="806450" algn="l"/>
                <a:tab pos="806450" algn="l"/>
              </a:tabLst>
            </a:pPr>
            <a:r>
              <a:rPr lang="en-US" sz="1800" b="1" dirty="0">
                <a:solidFill>
                  <a:schemeClr val="tx1"/>
                </a:solidFill>
                <a:latin typeface="+mj-lt"/>
                <a:cs typeface="Tahoma"/>
              </a:rPr>
              <a:t>double </a:t>
            </a:r>
            <a:r>
              <a:rPr lang="en-US" sz="1800" b="1" dirty="0" err="1">
                <a:solidFill>
                  <a:schemeClr val="tx1"/>
                </a:solidFill>
                <a:latin typeface="+mj-lt"/>
                <a:cs typeface="Tahoma"/>
              </a:rPr>
              <a:t>ThreeDimArray</a:t>
            </a:r>
            <a:r>
              <a:rPr lang="en-US" sz="1800" b="1" dirty="0">
                <a:solidFill>
                  <a:schemeClr val="tx1"/>
                </a:solidFill>
                <a:latin typeface="+mj-lt"/>
                <a:cs typeface="Tahoma"/>
              </a:rPr>
              <a:t>[SEMS][STUDENTS][TESTS];</a:t>
            </a:r>
          </a:p>
          <a:p>
            <a:pPr marL="405764">
              <a:spcBef>
                <a:spcPts val="1550"/>
              </a:spcBef>
              <a:tabLst>
                <a:tab pos="407034" algn="l"/>
                <a:tab pos="407670" algn="l"/>
              </a:tabLst>
            </a:pP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What </a:t>
            </a:r>
            <a:r>
              <a:rPr lang="en-US" dirty="0">
                <a:solidFill>
                  <a:schemeClr val="tx1"/>
                </a:solidFill>
                <a:latin typeface="+mj-lt"/>
                <a:cs typeface="Tahoma"/>
              </a:rPr>
              <a:t>is </a:t>
            </a:r>
            <a:r>
              <a:rPr lang="en-US" spc="-5" dirty="0">
                <a:solidFill>
                  <a:schemeClr val="tx1"/>
                </a:solidFill>
                <a:latin typeface="+mj-lt"/>
                <a:cs typeface="Tahoma"/>
              </a:rPr>
              <a:t>represented </a:t>
            </a:r>
            <a:r>
              <a:rPr lang="en-US" spc="5" dirty="0">
                <a:solidFill>
                  <a:schemeClr val="tx1"/>
                </a:solidFill>
                <a:latin typeface="+mj-lt"/>
                <a:cs typeface="Tahoma"/>
              </a:rPr>
              <a:t>by</a:t>
            </a:r>
            <a:r>
              <a:rPr lang="en-US" spc="15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pc="195" dirty="0">
                <a:solidFill>
                  <a:schemeClr val="tx1"/>
                </a:solidFill>
                <a:latin typeface="+mj-lt"/>
                <a:cs typeface="Arial"/>
              </a:rPr>
              <a:t>gradebook[4][2][3]</a:t>
            </a:r>
            <a:r>
              <a:rPr lang="en-US" spc="195" dirty="0">
                <a:solidFill>
                  <a:schemeClr val="tx1"/>
                </a:solidFill>
                <a:latin typeface="+mj-lt"/>
                <a:cs typeface="Tahoma"/>
              </a:rPr>
              <a:t>?</a:t>
            </a:r>
            <a:endParaRPr lang="en-US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862330" lvl="1" indent="-342900">
              <a:spcBef>
                <a:spcPts val="545"/>
              </a:spcBef>
              <a:tabLst>
                <a:tab pos="807085" algn="l"/>
                <a:tab pos="80772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Score </a:t>
            </a:r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of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3</a:t>
            </a:r>
            <a:r>
              <a:rPr lang="en-US" sz="1800" spc="-7" baseline="26666" dirty="0">
                <a:solidFill>
                  <a:schemeClr val="tx1"/>
                </a:solidFill>
                <a:latin typeface="+mj-lt"/>
                <a:cs typeface="Tahoma"/>
              </a:rPr>
              <a:t>rd </a:t>
            </a:r>
            <a:r>
              <a:rPr lang="en-US" sz="1800" spc="-10" dirty="0">
                <a:solidFill>
                  <a:schemeClr val="tx1"/>
                </a:solidFill>
                <a:latin typeface="+mj-lt"/>
                <a:cs typeface="Tahoma"/>
              </a:rPr>
              <a:t>student belonging to 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5</a:t>
            </a:r>
            <a:r>
              <a:rPr lang="en-US" sz="1800" baseline="26666" dirty="0">
                <a:solidFill>
                  <a:schemeClr val="tx1"/>
                </a:solidFill>
                <a:latin typeface="+mj-lt"/>
                <a:cs typeface="Tahoma"/>
              </a:rPr>
              <a:t>th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semester 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Tahoma"/>
              </a:rPr>
              <a:t>on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4</a:t>
            </a:r>
            <a:r>
              <a:rPr lang="en-US" sz="1800" spc="-7" baseline="26666" dirty="0">
                <a:solidFill>
                  <a:schemeClr val="tx1"/>
                </a:solidFill>
                <a:latin typeface="+mj-lt"/>
                <a:cs typeface="Tahoma"/>
              </a:rPr>
              <a:t>th</a:t>
            </a:r>
            <a:r>
              <a:rPr lang="en-US" sz="1800" spc="187" baseline="26666" dirty="0">
                <a:solidFill>
                  <a:schemeClr val="tx1"/>
                </a:solidFill>
                <a:latin typeface="+mj-lt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+mj-lt"/>
                <a:cs typeface="Tahoma"/>
              </a:rPr>
              <a:t>test</a:t>
            </a:r>
            <a:endParaRPr lang="en-US" sz="1800" dirty="0">
              <a:solidFill>
                <a:schemeClr val="tx1"/>
              </a:solidFill>
              <a:latin typeface="+mj-lt"/>
              <a:cs typeface="Tahoma"/>
            </a:endParaRPr>
          </a:p>
          <a:p>
            <a:pPr marL="0" lvl="1" indent="0">
              <a:spcBef>
                <a:spcPts val="459"/>
              </a:spcBef>
              <a:buNone/>
              <a:tabLst>
                <a:tab pos="806450" algn="l"/>
                <a:tab pos="806450" algn="l"/>
              </a:tabLst>
            </a:pPr>
            <a:r>
              <a:rPr lang="en-US" sz="1900" b="1" dirty="0">
                <a:solidFill>
                  <a:schemeClr val="tx1"/>
                </a:solidFill>
                <a:latin typeface="+mj-lt"/>
                <a:cs typeface="Tahoma"/>
              </a:rPr>
              <a:t>  </a:t>
            </a:r>
          </a:p>
          <a:p>
            <a:pPr marL="0" lvl="1" indent="0">
              <a:spcBef>
                <a:spcPts val="459"/>
              </a:spcBef>
              <a:buNone/>
              <a:tabLst>
                <a:tab pos="806450" algn="l"/>
                <a:tab pos="806450" algn="l"/>
              </a:tabLst>
            </a:pPr>
            <a:endParaRPr lang="en-US" sz="1900" dirty="0">
              <a:solidFill>
                <a:schemeClr val="tx1"/>
              </a:solidFill>
              <a:latin typeface="Tahoma"/>
              <a:cs typeface="Tahoma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BFB7D-0FE9-40D8-BF14-356922AC17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85920" y="5042542"/>
            <a:ext cx="492760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5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7B6-0C7E-4B53-96C4-C0D7A6FC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Array </a:t>
            </a:r>
            <a:r>
              <a:rPr lang="en-US" spc="-10" dirty="0"/>
              <a:t>of Arrays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340CC22-A003-4BF4-B8DF-52A152F9C255}"/>
              </a:ext>
            </a:extLst>
          </p:cNvPr>
          <p:cNvSpPr txBox="1"/>
          <p:nvPr/>
        </p:nvSpPr>
        <p:spPr>
          <a:xfrm>
            <a:off x="1764824" y="1568450"/>
            <a:ext cx="4601845" cy="480836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05764" indent="-3429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  <a:tabLst>
                <a:tab pos="407034" algn="l"/>
                <a:tab pos="407670" algn="l"/>
              </a:tabLst>
            </a:pPr>
            <a:r>
              <a:rPr spc="-5" dirty="0">
                <a:latin typeface="+mj-lt"/>
                <a:cs typeface="Tahoma"/>
              </a:rPr>
              <a:t>Consider the declaration</a:t>
            </a:r>
          </a:p>
          <a:p>
            <a:pPr marL="862964" lvl="2" indent="-342900">
              <a:buClr>
                <a:schemeClr val="accent1"/>
              </a:buClr>
              <a:buFont typeface="Wingdings 3" charset="2"/>
              <a:buChar char=""/>
              <a:tabLst>
                <a:tab pos="407034" algn="l"/>
                <a:tab pos="407670" algn="l"/>
              </a:tabLst>
            </a:pPr>
            <a:r>
              <a:rPr spc="-5" dirty="0">
                <a:latin typeface="+mj-lt"/>
                <a:cs typeface="Tahoma"/>
              </a:rPr>
              <a:t>double	score[10][4];</a:t>
            </a:r>
            <a:endParaRPr lang="en-US" spc="-5" dirty="0">
              <a:latin typeface="+mj-lt"/>
              <a:cs typeface="Tahoma"/>
            </a:endParaRPr>
          </a:p>
          <a:p>
            <a:pPr marL="520064" lvl="2">
              <a:buClr>
                <a:schemeClr val="accent1"/>
              </a:buClr>
              <a:tabLst>
                <a:tab pos="407034" algn="l"/>
                <a:tab pos="407670" algn="l"/>
              </a:tabLst>
            </a:pPr>
            <a:endParaRPr lang="en-US" spc="-5" dirty="0">
              <a:latin typeface="+mj-lt"/>
              <a:cs typeface="Tahoma"/>
            </a:endParaRPr>
          </a:p>
          <a:p>
            <a:pPr marL="520064" lvl="2">
              <a:buClr>
                <a:schemeClr val="accent1"/>
              </a:buClr>
              <a:tabLst>
                <a:tab pos="407034" algn="l"/>
                <a:tab pos="407670" algn="l"/>
              </a:tabLst>
            </a:pPr>
            <a:endParaRPr spc="-5" dirty="0">
              <a:latin typeface="+mj-lt"/>
              <a:cs typeface="Tahoma"/>
            </a:endParaRPr>
          </a:p>
          <a:p>
            <a:pPr marL="405764" indent="-342900">
              <a:lnSpc>
                <a:spcPct val="100000"/>
              </a:lnSpc>
              <a:buClr>
                <a:schemeClr val="accent1"/>
              </a:buClr>
              <a:buFont typeface="Wingdings 3" charset="2"/>
              <a:buChar char=""/>
              <a:tabLst>
                <a:tab pos="407034" algn="l"/>
                <a:tab pos="407670" algn="l"/>
              </a:tabLst>
            </a:pPr>
            <a:r>
              <a:rPr spc="-5" dirty="0">
                <a:latin typeface="+mj-lt"/>
                <a:cs typeface="Tahoma"/>
              </a:rPr>
              <a:t>Another way of declaration</a:t>
            </a:r>
          </a:p>
          <a:p>
            <a:pPr marL="862964" lvl="2" indent="-342900">
              <a:buClr>
                <a:schemeClr val="accent1"/>
              </a:buClr>
              <a:buFont typeface="Wingdings 3" charset="2"/>
              <a:buChar char=""/>
              <a:tabLst>
                <a:tab pos="407034" algn="l"/>
                <a:tab pos="407670" algn="l"/>
              </a:tabLst>
            </a:pPr>
            <a:r>
              <a:rPr spc="-5" dirty="0">
                <a:latin typeface="+mj-lt"/>
                <a:cs typeface="Tahoma"/>
              </a:rPr>
              <a:t>One-dimensional (1D) array of rows</a:t>
            </a:r>
            <a:endParaRPr lang="en-US" spc="-5" dirty="0">
              <a:latin typeface="+mj-lt"/>
              <a:cs typeface="Tahoma"/>
            </a:endParaRPr>
          </a:p>
          <a:p>
            <a:pPr marL="520064" lvl="2">
              <a:buClr>
                <a:schemeClr val="accent1"/>
              </a:buClr>
              <a:tabLst>
                <a:tab pos="407034" algn="l"/>
                <a:tab pos="407670" algn="l"/>
              </a:tabLst>
            </a:pPr>
            <a:endParaRPr lang="en-US" spc="-5" dirty="0">
              <a:latin typeface="+mj-lt"/>
              <a:cs typeface="Tahoma"/>
            </a:endParaRPr>
          </a:p>
          <a:p>
            <a:pPr marL="520064" lvl="2">
              <a:buClr>
                <a:schemeClr val="accent1"/>
              </a:buClr>
              <a:tabLst>
                <a:tab pos="407034" algn="l"/>
                <a:tab pos="407670" algn="l"/>
              </a:tabLst>
            </a:pPr>
            <a:r>
              <a:rPr lang="fr-FR" spc="-5" dirty="0">
                <a:latin typeface="+mj-lt"/>
                <a:cs typeface="Tahoma"/>
              </a:rPr>
              <a:t>double	</a:t>
            </a:r>
            <a:r>
              <a:rPr lang="fr-FR" spc="-5" dirty="0" err="1">
                <a:latin typeface="+mj-lt"/>
                <a:cs typeface="Tahoma"/>
              </a:rPr>
              <a:t>RowOfTable</a:t>
            </a:r>
            <a:r>
              <a:rPr lang="fr-FR" spc="-5" dirty="0">
                <a:latin typeface="+mj-lt"/>
                <a:cs typeface="Tahoma"/>
              </a:rPr>
              <a:t>[4];  </a:t>
            </a:r>
          </a:p>
          <a:p>
            <a:pPr marL="520064" lvl="2">
              <a:buClr>
                <a:schemeClr val="accent1"/>
              </a:buClr>
              <a:tabLst>
                <a:tab pos="407034" algn="l"/>
                <a:tab pos="407670" algn="l"/>
              </a:tabLst>
            </a:pPr>
            <a:r>
              <a:rPr lang="fr-FR" spc="-5" dirty="0" err="1">
                <a:latin typeface="+mj-lt"/>
                <a:cs typeface="Tahoma"/>
              </a:rPr>
              <a:t>RowOfTable</a:t>
            </a:r>
            <a:r>
              <a:rPr lang="fr-FR" spc="-5" dirty="0">
                <a:latin typeface="+mj-lt"/>
                <a:cs typeface="Tahoma"/>
              </a:rPr>
              <a:t>	score[10];</a:t>
            </a:r>
          </a:p>
          <a:p>
            <a:pPr marL="0" lvl="2">
              <a:buClr>
                <a:schemeClr val="accent1"/>
              </a:buClr>
              <a:tabLst>
                <a:tab pos="407034" algn="l"/>
                <a:tab pos="407670" algn="l"/>
              </a:tabLst>
            </a:pPr>
            <a:endParaRPr lang="fr-FR" spc="-5" dirty="0">
              <a:latin typeface="+mj-lt"/>
              <a:cs typeface="Tahoma"/>
            </a:endParaRPr>
          </a:p>
          <a:p>
            <a:pPr marL="405764" indent="-342900">
              <a:spcBef>
                <a:spcPts val="615"/>
              </a:spcBef>
              <a:buClr>
                <a:schemeClr val="accent1"/>
              </a:buClr>
              <a:buFont typeface="Wingdings 3" charset="2"/>
              <a:buChar char=""/>
              <a:tabLst>
                <a:tab pos="407034" algn="l"/>
                <a:tab pos="407670" algn="l"/>
              </a:tabLst>
            </a:pPr>
            <a:r>
              <a:rPr lang="en-US" spc="-5" dirty="0">
                <a:latin typeface="+mj-lt"/>
                <a:cs typeface="Tahoma"/>
              </a:rPr>
              <a:t>In detail</a:t>
            </a:r>
          </a:p>
          <a:p>
            <a:pPr marL="862964" marR="5080" lvl="2" indent="-342900">
              <a:spcBef>
                <a:spcPts val="615"/>
              </a:spcBef>
              <a:buClr>
                <a:schemeClr val="accent1"/>
              </a:buClr>
              <a:buFont typeface="Wingdings 3" charset="2"/>
              <a:buChar char=""/>
              <a:tabLst>
                <a:tab pos="407034" algn="l"/>
                <a:tab pos="407670" algn="l"/>
              </a:tabLst>
            </a:pPr>
            <a:r>
              <a:rPr lang="en-US" spc="-5" dirty="0">
                <a:latin typeface="+mj-lt"/>
                <a:cs typeface="Tahoma"/>
              </a:rPr>
              <a:t>Declare score as 1D array containing  10 elements</a:t>
            </a:r>
          </a:p>
          <a:p>
            <a:pPr marL="862964" marR="23495" lvl="2" indent="-342900">
              <a:spcBef>
                <a:spcPts val="615"/>
              </a:spcBef>
              <a:buClr>
                <a:schemeClr val="accent1"/>
              </a:buClr>
              <a:buFont typeface="Wingdings 3" charset="2"/>
              <a:buChar char=""/>
              <a:tabLst>
                <a:tab pos="407034" algn="l"/>
                <a:tab pos="407670" algn="l"/>
              </a:tabLst>
            </a:pPr>
            <a:r>
              <a:rPr lang="en-US" spc="-5" dirty="0">
                <a:latin typeface="+mj-lt"/>
                <a:cs typeface="Tahoma"/>
              </a:rPr>
              <a:t>Each of 10 elements is 1D array of 4  real numbers (i.e., double)</a:t>
            </a:r>
          </a:p>
          <a:p>
            <a:pPr marL="0" lvl="2">
              <a:buClr>
                <a:schemeClr val="accent1"/>
              </a:buClr>
              <a:tabLst>
                <a:tab pos="407034" algn="l"/>
                <a:tab pos="407670" algn="l"/>
              </a:tabLst>
            </a:pPr>
            <a:endParaRPr lang="fr-FR" spc="-5" dirty="0">
              <a:latin typeface="+mj-lt"/>
              <a:cs typeface="Tahoma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CBB99F-C026-4DB9-A738-1756CF4C48FC}"/>
              </a:ext>
            </a:extLst>
          </p:cNvPr>
          <p:cNvGrpSpPr/>
          <p:nvPr/>
        </p:nvGrpSpPr>
        <p:grpSpPr>
          <a:xfrm>
            <a:off x="7371567" y="1101115"/>
            <a:ext cx="3300974" cy="2378325"/>
            <a:chOff x="6040607" y="1543307"/>
            <a:chExt cx="3300974" cy="237832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8F6AAB4E-4578-4C8C-9FE6-36A617F7485C}"/>
                </a:ext>
              </a:extLst>
            </p:cNvPr>
            <p:cNvSpPr txBox="1"/>
            <p:nvPr/>
          </p:nvSpPr>
          <p:spPr>
            <a:xfrm>
              <a:off x="6040607" y="1543307"/>
              <a:ext cx="49720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5" dirty="0">
                  <a:latin typeface="Tahoma"/>
                  <a:cs typeface="Tahoma"/>
                </a:rPr>
                <a:t>s</a:t>
              </a:r>
              <a:r>
                <a:rPr sz="1600" spc="-10" dirty="0">
                  <a:latin typeface="Tahoma"/>
                  <a:cs typeface="Tahoma"/>
                </a:rPr>
                <a:t>cor</a:t>
              </a:r>
              <a:r>
                <a:rPr sz="1600" spc="-5" dirty="0">
                  <a:latin typeface="Tahoma"/>
                  <a:cs typeface="Tahoma"/>
                </a:rPr>
                <a:t>e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5B673E05-F14B-495D-83CF-83D695893218}"/>
                </a:ext>
              </a:extLst>
            </p:cNvPr>
            <p:cNvSpPr/>
            <p:nvPr/>
          </p:nvSpPr>
          <p:spPr>
            <a:xfrm>
              <a:off x="6531851" y="1854707"/>
              <a:ext cx="695325" cy="2066925"/>
            </a:xfrm>
            <a:custGeom>
              <a:avLst/>
              <a:gdLst/>
              <a:ahLst/>
              <a:cxnLst/>
              <a:rect l="l" t="t" r="r" b="b"/>
              <a:pathLst>
                <a:path w="695325" h="2066925">
                  <a:moveTo>
                    <a:pt x="694956" y="0"/>
                  </a:moveTo>
                  <a:lnTo>
                    <a:pt x="685812" y="0"/>
                  </a:lnTo>
                  <a:lnTo>
                    <a:pt x="685812" y="9156"/>
                  </a:lnTo>
                  <a:lnTo>
                    <a:pt x="685812" y="598944"/>
                  </a:lnTo>
                  <a:lnTo>
                    <a:pt x="685812" y="2057412"/>
                  </a:lnTo>
                  <a:lnTo>
                    <a:pt x="9156" y="2057412"/>
                  </a:lnTo>
                  <a:lnTo>
                    <a:pt x="9156" y="1751088"/>
                  </a:lnTo>
                  <a:lnTo>
                    <a:pt x="685812" y="1751088"/>
                  </a:lnTo>
                  <a:lnTo>
                    <a:pt x="685812" y="1741944"/>
                  </a:lnTo>
                  <a:lnTo>
                    <a:pt x="9156" y="1741944"/>
                  </a:lnTo>
                  <a:lnTo>
                    <a:pt x="9156" y="912888"/>
                  </a:lnTo>
                  <a:lnTo>
                    <a:pt x="685812" y="912888"/>
                  </a:lnTo>
                  <a:lnTo>
                    <a:pt x="685812" y="903744"/>
                  </a:lnTo>
                  <a:lnTo>
                    <a:pt x="9156" y="903744"/>
                  </a:lnTo>
                  <a:lnTo>
                    <a:pt x="9156" y="608088"/>
                  </a:lnTo>
                  <a:lnTo>
                    <a:pt x="685812" y="608088"/>
                  </a:lnTo>
                  <a:lnTo>
                    <a:pt x="685812" y="598944"/>
                  </a:lnTo>
                  <a:lnTo>
                    <a:pt x="9156" y="598944"/>
                  </a:lnTo>
                  <a:lnTo>
                    <a:pt x="9156" y="9156"/>
                  </a:lnTo>
                  <a:lnTo>
                    <a:pt x="685812" y="9156"/>
                  </a:lnTo>
                  <a:lnTo>
                    <a:pt x="685812" y="0"/>
                  </a:lnTo>
                  <a:lnTo>
                    <a:pt x="0" y="0"/>
                  </a:lnTo>
                  <a:lnTo>
                    <a:pt x="0" y="2066556"/>
                  </a:lnTo>
                  <a:lnTo>
                    <a:pt x="694956" y="2066556"/>
                  </a:lnTo>
                  <a:lnTo>
                    <a:pt x="694956" y="2061984"/>
                  </a:lnTo>
                  <a:lnTo>
                    <a:pt x="694956" y="2057412"/>
                  </a:lnTo>
                  <a:lnTo>
                    <a:pt x="694956" y="9156"/>
                  </a:lnTo>
                  <a:lnTo>
                    <a:pt x="694956" y="4584"/>
                  </a:lnTo>
                  <a:lnTo>
                    <a:pt x="6949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759A272C-2B30-4F33-9403-839B393B0D7F}"/>
                </a:ext>
              </a:extLst>
            </p:cNvPr>
            <p:cNvSpPr txBox="1"/>
            <p:nvPr/>
          </p:nvSpPr>
          <p:spPr>
            <a:xfrm>
              <a:off x="6804928" y="3239456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8C0F01C-B3C1-4574-A3F5-CD927DC82832}"/>
                </a:ext>
              </a:extLst>
            </p:cNvPr>
            <p:cNvSpPr/>
            <p:nvPr/>
          </p:nvSpPr>
          <p:spPr>
            <a:xfrm>
              <a:off x="7219175" y="1853183"/>
              <a:ext cx="695325" cy="2066925"/>
            </a:xfrm>
            <a:custGeom>
              <a:avLst/>
              <a:gdLst/>
              <a:ahLst/>
              <a:cxnLst/>
              <a:rect l="l" t="t" r="r" b="b"/>
              <a:pathLst>
                <a:path w="695325" h="2066925">
                  <a:moveTo>
                    <a:pt x="694956" y="0"/>
                  </a:moveTo>
                  <a:lnTo>
                    <a:pt x="685812" y="0"/>
                  </a:lnTo>
                  <a:lnTo>
                    <a:pt x="685812" y="9156"/>
                  </a:lnTo>
                  <a:lnTo>
                    <a:pt x="685812" y="598944"/>
                  </a:lnTo>
                  <a:lnTo>
                    <a:pt x="685812" y="2057412"/>
                  </a:lnTo>
                  <a:lnTo>
                    <a:pt x="9156" y="2057412"/>
                  </a:lnTo>
                  <a:lnTo>
                    <a:pt x="9156" y="1751088"/>
                  </a:lnTo>
                  <a:lnTo>
                    <a:pt x="685812" y="1751088"/>
                  </a:lnTo>
                  <a:lnTo>
                    <a:pt x="685812" y="1741944"/>
                  </a:lnTo>
                  <a:lnTo>
                    <a:pt x="9156" y="1741944"/>
                  </a:lnTo>
                  <a:lnTo>
                    <a:pt x="9156" y="912888"/>
                  </a:lnTo>
                  <a:lnTo>
                    <a:pt x="685812" y="912888"/>
                  </a:lnTo>
                  <a:lnTo>
                    <a:pt x="685812" y="903744"/>
                  </a:lnTo>
                  <a:lnTo>
                    <a:pt x="9156" y="903744"/>
                  </a:lnTo>
                  <a:lnTo>
                    <a:pt x="9156" y="608088"/>
                  </a:lnTo>
                  <a:lnTo>
                    <a:pt x="685812" y="608088"/>
                  </a:lnTo>
                  <a:lnTo>
                    <a:pt x="685812" y="598944"/>
                  </a:lnTo>
                  <a:lnTo>
                    <a:pt x="9156" y="598944"/>
                  </a:lnTo>
                  <a:lnTo>
                    <a:pt x="9156" y="9156"/>
                  </a:lnTo>
                  <a:lnTo>
                    <a:pt x="685812" y="9156"/>
                  </a:lnTo>
                  <a:lnTo>
                    <a:pt x="685812" y="0"/>
                  </a:lnTo>
                  <a:lnTo>
                    <a:pt x="0" y="0"/>
                  </a:lnTo>
                  <a:lnTo>
                    <a:pt x="0" y="2066556"/>
                  </a:lnTo>
                  <a:lnTo>
                    <a:pt x="694956" y="2066556"/>
                  </a:lnTo>
                  <a:lnTo>
                    <a:pt x="694956" y="2061984"/>
                  </a:lnTo>
                  <a:lnTo>
                    <a:pt x="694956" y="2057412"/>
                  </a:lnTo>
                  <a:lnTo>
                    <a:pt x="694956" y="9156"/>
                  </a:lnTo>
                  <a:lnTo>
                    <a:pt x="694956" y="4584"/>
                  </a:lnTo>
                  <a:lnTo>
                    <a:pt x="6949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6DAF7A64-0107-4736-8760-F9FC2FC436DA}"/>
                </a:ext>
              </a:extLst>
            </p:cNvPr>
            <p:cNvSpPr txBox="1"/>
            <p:nvPr/>
          </p:nvSpPr>
          <p:spPr>
            <a:xfrm>
              <a:off x="7492214" y="3237972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E10C0C33-0E85-4FDC-98B1-F694722B0436}"/>
                </a:ext>
              </a:extLst>
            </p:cNvPr>
            <p:cNvSpPr/>
            <p:nvPr/>
          </p:nvSpPr>
          <p:spPr>
            <a:xfrm>
              <a:off x="7901940" y="1844039"/>
              <a:ext cx="695325" cy="2068195"/>
            </a:xfrm>
            <a:custGeom>
              <a:avLst/>
              <a:gdLst/>
              <a:ahLst/>
              <a:cxnLst/>
              <a:rect l="l" t="t" r="r" b="b"/>
              <a:pathLst>
                <a:path w="695325" h="2068195">
                  <a:moveTo>
                    <a:pt x="694944" y="0"/>
                  </a:moveTo>
                  <a:lnTo>
                    <a:pt x="685800" y="0"/>
                  </a:lnTo>
                  <a:lnTo>
                    <a:pt x="685800" y="10680"/>
                  </a:lnTo>
                  <a:lnTo>
                    <a:pt x="685800" y="609612"/>
                  </a:lnTo>
                  <a:lnTo>
                    <a:pt x="685800" y="2057412"/>
                  </a:lnTo>
                  <a:lnTo>
                    <a:pt x="9144" y="2057412"/>
                  </a:lnTo>
                  <a:lnTo>
                    <a:pt x="9144" y="1763280"/>
                  </a:lnTo>
                  <a:lnTo>
                    <a:pt x="685800" y="1763280"/>
                  </a:lnTo>
                  <a:lnTo>
                    <a:pt x="685800" y="1752612"/>
                  </a:lnTo>
                  <a:lnTo>
                    <a:pt x="9144" y="1752612"/>
                  </a:lnTo>
                  <a:lnTo>
                    <a:pt x="9144" y="925080"/>
                  </a:lnTo>
                  <a:lnTo>
                    <a:pt x="685800" y="925080"/>
                  </a:lnTo>
                  <a:lnTo>
                    <a:pt x="685800" y="914412"/>
                  </a:lnTo>
                  <a:lnTo>
                    <a:pt x="9144" y="914412"/>
                  </a:lnTo>
                  <a:lnTo>
                    <a:pt x="9144" y="620280"/>
                  </a:lnTo>
                  <a:lnTo>
                    <a:pt x="685800" y="620280"/>
                  </a:lnTo>
                  <a:lnTo>
                    <a:pt x="685800" y="609612"/>
                  </a:lnTo>
                  <a:lnTo>
                    <a:pt x="9144" y="609612"/>
                  </a:lnTo>
                  <a:lnTo>
                    <a:pt x="9144" y="10680"/>
                  </a:lnTo>
                  <a:lnTo>
                    <a:pt x="685800" y="1068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068080"/>
                  </a:lnTo>
                  <a:lnTo>
                    <a:pt x="694944" y="2068080"/>
                  </a:lnTo>
                  <a:lnTo>
                    <a:pt x="694944" y="2061984"/>
                  </a:lnTo>
                  <a:lnTo>
                    <a:pt x="694944" y="2057412"/>
                  </a:lnTo>
                  <a:lnTo>
                    <a:pt x="694944" y="10680"/>
                  </a:lnTo>
                  <a:lnTo>
                    <a:pt x="694944" y="4584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BE0AD3A7-3665-424B-9F29-B60FDDC1725E}"/>
                </a:ext>
              </a:extLst>
            </p:cNvPr>
            <p:cNvSpPr txBox="1"/>
            <p:nvPr/>
          </p:nvSpPr>
          <p:spPr>
            <a:xfrm>
              <a:off x="8174983" y="3241040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235EA2C6-3BC7-4B48-BD0D-C017B9DF4FFF}"/>
                </a:ext>
              </a:extLst>
            </p:cNvPr>
            <p:cNvSpPr/>
            <p:nvPr/>
          </p:nvSpPr>
          <p:spPr>
            <a:xfrm>
              <a:off x="8587740" y="1844039"/>
              <a:ext cx="695325" cy="2068195"/>
            </a:xfrm>
            <a:custGeom>
              <a:avLst/>
              <a:gdLst/>
              <a:ahLst/>
              <a:cxnLst/>
              <a:rect l="l" t="t" r="r" b="b"/>
              <a:pathLst>
                <a:path w="695325" h="2068195">
                  <a:moveTo>
                    <a:pt x="694944" y="0"/>
                  </a:moveTo>
                  <a:lnTo>
                    <a:pt x="685800" y="0"/>
                  </a:lnTo>
                  <a:lnTo>
                    <a:pt x="685800" y="10680"/>
                  </a:lnTo>
                  <a:lnTo>
                    <a:pt x="685800" y="609612"/>
                  </a:lnTo>
                  <a:lnTo>
                    <a:pt x="685800" y="2057412"/>
                  </a:lnTo>
                  <a:lnTo>
                    <a:pt x="9144" y="2057412"/>
                  </a:lnTo>
                  <a:lnTo>
                    <a:pt x="9144" y="1763280"/>
                  </a:lnTo>
                  <a:lnTo>
                    <a:pt x="685800" y="1763280"/>
                  </a:lnTo>
                  <a:lnTo>
                    <a:pt x="685800" y="1752612"/>
                  </a:lnTo>
                  <a:lnTo>
                    <a:pt x="9144" y="1752612"/>
                  </a:lnTo>
                  <a:lnTo>
                    <a:pt x="9144" y="925080"/>
                  </a:lnTo>
                  <a:lnTo>
                    <a:pt x="685800" y="925080"/>
                  </a:lnTo>
                  <a:lnTo>
                    <a:pt x="685800" y="914412"/>
                  </a:lnTo>
                  <a:lnTo>
                    <a:pt x="9144" y="914412"/>
                  </a:lnTo>
                  <a:lnTo>
                    <a:pt x="9144" y="620280"/>
                  </a:lnTo>
                  <a:lnTo>
                    <a:pt x="685800" y="620280"/>
                  </a:lnTo>
                  <a:lnTo>
                    <a:pt x="685800" y="609612"/>
                  </a:lnTo>
                  <a:lnTo>
                    <a:pt x="9144" y="609612"/>
                  </a:lnTo>
                  <a:lnTo>
                    <a:pt x="9144" y="10680"/>
                  </a:lnTo>
                  <a:lnTo>
                    <a:pt x="685800" y="1068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068080"/>
                  </a:lnTo>
                  <a:lnTo>
                    <a:pt x="694944" y="2068080"/>
                  </a:lnTo>
                  <a:lnTo>
                    <a:pt x="694944" y="2061984"/>
                  </a:lnTo>
                  <a:lnTo>
                    <a:pt x="694944" y="2057412"/>
                  </a:lnTo>
                  <a:lnTo>
                    <a:pt x="694944" y="10680"/>
                  </a:lnTo>
                  <a:lnTo>
                    <a:pt x="694944" y="4584"/>
                  </a:lnTo>
                  <a:lnTo>
                    <a:pt x="694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73B79348-3B41-4988-A694-EA74F557D410}"/>
                </a:ext>
              </a:extLst>
            </p:cNvPr>
            <p:cNvSpPr txBox="1"/>
            <p:nvPr/>
          </p:nvSpPr>
          <p:spPr>
            <a:xfrm>
              <a:off x="8860784" y="3241040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8E1EEF83-3B8B-4CFF-B10E-D4BF8E352A94}"/>
                </a:ext>
              </a:extLst>
            </p:cNvPr>
            <p:cNvSpPr txBox="1"/>
            <p:nvPr/>
          </p:nvSpPr>
          <p:spPr>
            <a:xfrm>
              <a:off x="6700440" y="1572206"/>
              <a:ext cx="23495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690880" algn="l"/>
                  <a:tab pos="1409700" algn="l"/>
                  <a:tab pos="2069464" algn="l"/>
                </a:tabLst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0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r>
                <a:rPr sz="1600" dirty="0">
                  <a:latin typeface="Tahoma"/>
                  <a:cs typeface="Tahoma"/>
                </a:rPr>
                <a:t>	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1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r>
                <a:rPr sz="1600" dirty="0">
                  <a:latin typeface="Tahoma"/>
                  <a:cs typeface="Tahoma"/>
                </a:rPr>
                <a:t>	</a:t>
              </a: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2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r>
                <a:rPr sz="1600" dirty="0">
                  <a:latin typeface="Tahoma"/>
                  <a:cs typeface="Tahoma"/>
                </a:rPr>
                <a:t>	</a:t>
              </a:r>
              <a:r>
                <a:rPr sz="2400" spc="-15" baseline="-3472" dirty="0">
                  <a:latin typeface="Tahoma"/>
                  <a:cs typeface="Tahoma"/>
                </a:rPr>
                <a:t>[</a:t>
              </a:r>
              <a:r>
                <a:rPr sz="2400" baseline="-3472" dirty="0">
                  <a:latin typeface="Tahoma"/>
                  <a:cs typeface="Tahoma"/>
                </a:rPr>
                <a:t>3</a:t>
              </a:r>
              <a:r>
                <a:rPr sz="2400" spc="-7" baseline="-3472" dirty="0">
                  <a:latin typeface="Tahoma"/>
                  <a:cs typeface="Tahoma"/>
                </a:rPr>
                <a:t>]</a:t>
              </a:r>
              <a:endParaRPr sz="2400" baseline="-3472">
                <a:latin typeface="Tahoma"/>
                <a:cs typeface="Tahoma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5508B094-DAA0-46B9-84D6-F94AF23E1596}"/>
                </a:ext>
              </a:extLst>
            </p:cNvPr>
            <p:cNvSpPr txBox="1"/>
            <p:nvPr/>
          </p:nvSpPr>
          <p:spPr>
            <a:xfrm>
              <a:off x="6232621" y="1797125"/>
              <a:ext cx="3108960" cy="620395"/>
            </a:xfrm>
            <a:prstGeom prst="rect">
              <a:avLst/>
            </a:prstGeom>
          </p:spPr>
          <p:txBody>
            <a:bodyPr vert="horz" wrap="square" lIns="0" tIns="660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20"/>
                </a:spcBef>
                <a:tabLst>
                  <a:tab pos="3095625" algn="l"/>
                </a:tabLst>
              </a:pPr>
              <a:r>
                <a:rPr sz="1600" spc="-5" dirty="0">
                  <a:latin typeface="Tahoma"/>
                  <a:cs typeface="Tahoma"/>
                </a:rPr>
                <a:t>[0]</a:t>
              </a:r>
              <a:r>
                <a:rPr sz="1600" spc="-305" dirty="0">
                  <a:latin typeface="Tahoma"/>
                  <a:cs typeface="Tahoma"/>
                </a:rPr>
                <a:t> </a:t>
              </a:r>
              <a:r>
                <a:rPr sz="1600" u="sng" spc="-5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00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endParaRPr sz="1600">
                <a:latin typeface="Times New Roman"/>
                <a:cs typeface="Times New Roman"/>
              </a:endParaRPr>
            </a:p>
            <a:p>
              <a:pPr marL="17145">
                <a:lnSpc>
                  <a:spcPct val="100000"/>
                </a:lnSpc>
                <a:spcBef>
                  <a:spcPts val="420"/>
                </a:spcBef>
              </a:pPr>
              <a:r>
                <a:rPr sz="1600" spc="-5" dirty="0">
                  <a:latin typeface="Tahoma"/>
                  <a:cs typeface="Tahoma"/>
                </a:rPr>
                <a:t>[1]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E53CF58A-D3B7-4419-848E-4EFD370AF18C}"/>
                </a:ext>
              </a:extLst>
            </p:cNvPr>
            <p:cNvSpPr txBox="1"/>
            <p:nvPr/>
          </p:nvSpPr>
          <p:spPr>
            <a:xfrm>
              <a:off x="6237137" y="2460760"/>
              <a:ext cx="2921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2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33AD4E3A-B3D3-4D7D-8F6D-AA14AFD47837}"/>
                </a:ext>
              </a:extLst>
            </p:cNvPr>
            <p:cNvSpPr txBox="1"/>
            <p:nvPr/>
          </p:nvSpPr>
          <p:spPr>
            <a:xfrm>
              <a:off x="6232621" y="2780730"/>
              <a:ext cx="310896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3095625" algn="l"/>
                </a:tabLst>
              </a:pPr>
              <a:r>
                <a:rPr sz="1600" spc="-5" dirty="0">
                  <a:latin typeface="Tahoma"/>
                  <a:cs typeface="Tahoma"/>
                </a:rPr>
                <a:t>[3]</a:t>
              </a:r>
              <a:r>
                <a:rPr sz="1600" spc="-305" dirty="0">
                  <a:latin typeface="Tahoma"/>
                  <a:cs typeface="Tahoma"/>
                </a:rPr>
                <a:t> </a:t>
              </a:r>
              <a:r>
                <a:rPr sz="1600" u="sng" spc="-5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00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3EE5995B-70A6-43D8-B294-9D3EF3933135}"/>
                </a:ext>
              </a:extLst>
            </p:cNvPr>
            <p:cNvSpPr txBox="1"/>
            <p:nvPr/>
          </p:nvSpPr>
          <p:spPr>
            <a:xfrm>
              <a:off x="6237137" y="3628112"/>
              <a:ext cx="2921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9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37EF87-F991-4F53-942C-D890B4EB02BC}"/>
              </a:ext>
            </a:extLst>
          </p:cNvPr>
          <p:cNvGrpSpPr/>
          <p:nvPr/>
        </p:nvGrpSpPr>
        <p:grpSpPr>
          <a:xfrm>
            <a:off x="7371567" y="4012308"/>
            <a:ext cx="3444893" cy="2411023"/>
            <a:chOff x="5860778" y="4430720"/>
            <a:chExt cx="3444893" cy="2411023"/>
          </a:xfrm>
        </p:grpSpPr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9EABAEF2-EDE7-4262-9686-27958974783C}"/>
                </a:ext>
              </a:extLst>
            </p:cNvPr>
            <p:cNvSpPr txBox="1"/>
            <p:nvPr/>
          </p:nvSpPr>
          <p:spPr>
            <a:xfrm>
              <a:off x="6712688" y="4547049"/>
              <a:ext cx="9779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697865" algn="l"/>
                </a:tabLst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0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r>
                <a:rPr sz="1600" dirty="0">
                  <a:latin typeface="Tahoma"/>
                  <a:cs typeface="Tahoma"/>
                </a:rPr>
                <a:t>	</a:t>
              </a:r>
              <a:r>
                <a:rPr sz="2400" spc="-15" baseline="1736" dirty="0">
                  <a:latin typeface="Tahoma"/>
                  <a:cs typeface="Tahoma"/>
                </a:rPr>
                <a:t>[</a:t>
              </a:r>
              <a:r>
                <a:rPr sz="2400" baseline="1736" dirty="0">
                  <a:latin typeface="Tahoma"/>
                  <a:cs typeface="Tahoma"/>
                </a:rPr>
                <a:t>1</a:t>
              </a:r>
              <a:r>
                <a:rPr sz="2400" spc="-7" baseline="1736" dirty="0">
                  <a:latin typeface="Tahoma"/>
                  <a:cs typeface="Tahoma"/>
                </a:rPr>
                <a:t>]</a:t>
              </a:r>
              <a:endParaRPr sz="2400" baseline="1736">
                <a:latin typeface="Tahoma"/>
                <a:cs typeface="Tahoma"/>
              </a:endParaRPr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39CD24CD-7291-42A9-ADF3-02CC0A55EFE0}"/>
                </a:ext>
              </a:extLst>
            </p:cNvPr>
            <p:cNvSpPr txBox="1"/>
            <p:nvPr/>
          </p:nvSpPr>
          <p:spPr>
            <a:xfrm>
              <a:off x="8058310" y="4522703"/>
              <a:ext cx="2921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2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D8A64C10-0B10-407E-B601-EE300CBFACB7}"/>
                </a:ext>
              </a:extLst>
            </p:cNvPr>
            <p:cNvSpPr txBox="1"/>
            <p:nvPr/>
          </p:nvSpPr>
          <p:spPr>
            <a:xfrm>
              <a:off x="8756358" y="4537944"/>
              <a:ext cx="2921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3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44B1C5F6-5C22-4ADC-B20F-3B2AEBFFFBA4}"/>
                </a:ext>
              </a:extLst>
            </p:cNvPr>
            <p:cNvSpPr/>
            <p:nvPr/>
          </p:nvSpPr>
          <p:spPr>
            <a:xfrm>
              <a:off x="6533388" y="4814315"/>
              <a:ext cx="2753995" cy="287020"/>
            </a:xfrm>
            <a:custGeom>
              <a:avLst/>
              <a:gdLst/>
              <a:ahLst/>
              <a:cxnLst/>
              <a:rect l="l" t="t" r="r" b="b"/>
              <a:pathLst>
                <a:path w="2753995" h="287020">
                  <a:moveTo>
                    <a:pt x="2750820" y="286512"/>
                  </a:moveTo>
                  <a:lnTo>
                    <a:pt x="3048" y="286512"/>
                  </a:lnTo>
                  <a:lnTo>
                    <a:pt x="0" y="283464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2750820" y="0"/>
                  </a:lnTo>
                  <a:lnTo>
                    <a:pt x="2753868" y="1524"/>
                  </a:lnTo>
                  <a:lnTo>
                    <a:pt x="2753868" y="6096"/>
                  </a:ln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lnTo>
                    <a:pt x="12192" y="274320"/>
                  </a:lnTo>
                  <a:lnTo>
                    <a:pt x="6096" y="274320"/>
                  </a:lnTo>
                  <a:lnTo>
                    <a:pt x="12192" y="280416"/>
                  </a:lnTo>
                  <a:lnTo>
                    <a:pt x="2753868" y="280416"/>
                  </a:lnTo>
                  <a:lnTo>
                    <a:pt x="2753868" y="283464"/>
                  </a:lnTo>
                  <a:lnTo>
                    <a:pt x="2750820" y="286512"/>
                  </a:lnTo>
                  <a:close/>
                </a:path>
                <a:path w="2753995" h="287020">
                  <a:moveTo>
                    <a:pt x="12192" y="12192"/>
                  </a:move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close/>
                </a:path>
                <a:path w="2753995" h="287020">
                  <a:moveTo>
                    <a:pt x="2741676" y="12192"/>
                  </a:moveTo>
                  <a:lnTo>
                    <a:pt x="12192" y="12192"/>
                  </a:lnTo>
                  <a:lnTo>
                    <a:pt x="12192" y="6096"/>
                  </a:lnTo>
                  <a:lnTo>
                    <a:pt x="2741676" y="6096"/>
                  </a:lnTo>
                  <a:lnTo>
                    <a:pt x="2741676" y="12192"/>
                  </a:lnTo>
                  <a:close/>
                </a:path>
                <a:path w="2753995" h="287020">
                  <a:moveTo>
                    <a:pt x="2741676" y="280416"/>
                  </a:moveTo>
                  <a:lnTo>
                    <a:pt x="2741676" y="6096"/>
                  </a:lnTo>
                  <a:lnTo>
                    <a:pt x="2747772" y="12192"/>
                  </a:lnTo>
                  <a:lnTo>
                    <a:pt x="2753868" y="12192"/>
                  </a:lnTo>
                  <a:lnTo>
                    <a:pt x="2753868" y="274320"/>
                  </a:lnTo>
                  <a:lnTo>
                    <a:pt x="2747772" y="274320"/>
                  </a:lnTo>
                  <a:lnTo>
                    <a:pt x="2741676" y="280416"/>
                  </a:lnTo>
                  <a:close/>
                </a:path>
                <a:path w="2753995" h="287020">
                  <a:moveTo>
                    <a:pt x="2753868" y="12192"/>
                  </a:moveTo>
                  <a:lnTo>
                    <a:pt x="2747772" y="12192"/>
                  </a:lnTo>
                  <a:lnTo>
                    <a:pt x="2741676" y="6096"/>
                  </a:lnTo>
                  <a:lnTo>
                    <a:pt x="2753868" y="6096"/>
                  </a:lnTo>
                  <a:lnTo>
                    <a:pt x="2753868" y="12192"/>
                  </a:lnTo>
                  <a:close/>
                </a:path>
                <a:path w="2753995" h="287020">
                  <a:moveTo>
                    <a:pt x="12192" y="280416"/>
                  </a:moveTo>
                  <a:lnTo>
                    <a:pt x="6096" y="274320"/>
                  </a:lnTo>
                  <a:lnTo>
                    <a:pt x="12192" y="274320"/>
                  </a:lnTo>
                  <a:lnTo>
                    <a:pt x="12192" y="280416"/>
                  </a:lnTo>
                  <a:close/>
                </a:path>
                <a:path w="2753995" h="287020">
                  <a:moveTo>
                    <a:pt x="2741676" y="280416"/>
                  </a:moveTo>
                  <a:lnTo>
                    <a:pt x="12192" y="280416"/>
                  </a:lnTo>
                  <a:lnTo>
                    <a:pt x="12192" y="274320"/>
                  </a:lnTo>
                  <a:lnTo>
                    <a:pt x="2741676" y="274320"/>
                  </a:lnTo>
                  <a:lnTo>
                    <a:pt x="2741676" y="280416"/>
                  </a:lnTo>
                  <a:close/>
                </a:path>
                <a:path w="2753995" h="287020">
                  <a:moveTo>
                    <a:pt x="2753868" y="280416"/>
                  </a:moveTo>
                  <a:lnTo>
                    <a:pt x="2741676" y="280416"/>
                  </a:lnTo>
                  <a:lnTo>
                    <a:pt x="2747772" y="274320"/>
                  </a:lnTo>
                  <a:lnTo>
                    <a:pt x="2753868" y="274320"/>
                  </a:lnTo>
                  <a:lnTo>
                    <a:pt x="2753868" y="280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4E82C781-501A-49A8-B447-B85B0A94BD4B}"/>
                </a:ext>
              </a:extLst>
            </p:cNvPr>
            <p:cNvSpPr/>
            <p:nvPr/>
          </p:nvSpPr>
          <p:spPr>
            <a:xfrm>
              <a:off x="7216140" y="4815840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B7BAC89D-E95E-4025-8F56-18B711CD834C}"/>
                </a:ext>
              </a:extLst>
            </p:cNvPr>
            <p:cNvSpPr/>
            <p:nvPr/>
          </p:nvSpPr>
          <p:spPr>
            <a:xfrm>
              <a:off x="7872984" y="4817364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2DADA266-7F2D-4122-9905-A9A4E991B24A}"/>
                </a:ext>
              </a:extLst>
            </p:cNvPr>
            <p:cNvSpPr/>
            <p:nvPr/>
          </p:nvSpPr>
          <p:spPr>
            <a:xfrm>
              <a:off x="8592311" y="4817364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526F78A7-0995-423F-B20C-3413208C9252}"/>
                </a:ext>
              </a:extLst>
            </p:cNvPr>
            <p:cNvSpPr txBox="1"/>
            <p:nvPr/>
          </p:nvSpPr>
          <p:spPr>
            <a:xfrm>
              <a:off x="5860778" y="4430720"/>
              <a:ext cx="662305" cy="1701800"/>
            </a:xfrm>
            <a:prstGeom prst="rect">
              <a:avLst/>
            </a:prstGeom>
          </p:spPr>
          <p:txBody>
            <a:bodyPr vert="horz" wrap="square" lIns="0" tIns="768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605"/>
                </a:spcBef>
              </a:pPr>
              <a:r>
                <a:rPr sz="1600" spc="-10" dirty="0">
                  <a:latin typeface="Tahoma"/>
                  <a:cs typeface="Tahoma"/>
                </a:rPr>
                <a:t>score</a:t>
              </a:r>
              <a:endParaRPr sz="1600">
                <a:latin typeface="Tahoma"/>
                <a:cs typeface="Tahoma"/>
              </a:endParaRPr>
            </a:p>
            <a:p>
              <a:pPr marL="370205">
                <a:lnSpc>
                  <a:spcPct val="100000"/>
                </a:lnSpc>
                <a:spcBef>
                  <a:spcPts val="500"/>
                </a:spcBef>
              </a:pPr>
              <a:r>
                <a:rPr sz="1600" spc="-5" dirty="0">
                  <a:latin typeface="Tahoma"/>
                  <a:cs typeface="Tahoma"/>
                </a:rPr>
                <a:t>[0]</a:t>
              </a:r>
              <a:endParaRPr sz="1600">
                <a:latin typeface="Tahoma"/>
                <a:cs typeface="Tahoma"/>
              </a:endParaRPr>
            </a:p>
            <a:p>
              <a:pPr marL="370205">
                <a:lnSpc>
                  <a:spcPct val="100000"/>
                </a:lnSpc>
                <a:spcBef>
                  <a:spcPts val="865"/>
                </a:spcBef>
              </a:pPr>
              <a:r>
                <a:rPr sz="1600" spc="-5" dirty="0">
                  <a:latin typeface="Tahoma"/>
                  <a:cs typeface="Tahoma"/>
                </a:rPr>
                <a:t>[1]</a:t>
              </a:r>
              <a:endParaRPr sz="1600">
                <a:latin typeface="Tahoma"/>
                <a:cs typeface="Tahoma"/>
              </a:endParaRPr>
            </a:p>
            <a:p>
              <a:pPr marL="372110">
                <a:lnSpc>
                  <a:spcPct val="100000"/>
                </a:lnSpc>
                <a:spcBef>
                  <a:spcPts val="815"/>
                </a:spcBef>
              </a:pPr>
              <a:r>
                <a:rPr sz="1600" spc="-5" dirty="0">
                  <a:latin typeface="Tahoma"/>
                  <a:cs typeface="Tahoma"/>
                </a:rPr>
                <a:t>[2]</a:t>
              </a:r>
              <a:endParaRPr sz="1600">
                <a:latin typeface="Tahoma"/>
                <a:cs typeface="Tahoma"/>
              </a:endParaRPr>
            </a:p>
            <a:p>
              <a:pPr marL="382905">
                <a:lnSpc>
                  <a:spcPct val="100000"/>
                </a:lnSpc>
                <a:spcBef>
                  <a:spcPts val="915"/>
                </a:spcBef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3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1948A894-E866-4445-8B61-6000DF25245F}"/>
                </a:ext>
              </a:extLst>
            </p:cNvPr>
            <p:cNvSpPr txBox="1"/>
            <p:nvPr/>
          </p:nvSpPr>
          <p:spPr>
            <a:xfrm>
              <a:off x="6797319" y="6246353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F83CE3BB-97D7-469C-85B8-9F5DBAD741FA}"/>
                </a:ext>
              </a:extLst>
            </p:cNvPr>
            <p:cNvSpPr txBox="1"/>
            <p:nvPr/>
          </p:nvSpPr>
          <p:spPr>
            <a:xfrm>
              <a:off x="7478543" y="6246353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70323920-F192-4C1E-A707-77D28A7CCA51}"/>
                </a:ext>
              </a:extLst>
            </p:cNvPr>
            <p:cNvSpPr txBox="1"/>
            <p:nvPr/>
          </p:nvSpPr>
          <p:spPr>
            <a:xfrm>
              <a:off x="8164282" y="6246353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EBA51FE4-FD44-4979-A2E5-0F7A02318A72}"/>
                </a:ext>
              </a:extLst>
            </p:cNvPr>
            <p:cNvSpPr txBox="1"/>
            <p:nvPr/>
          </p:nvSpPr>
          <p:spPr>
            <a:xfrm>
              <a:off x="8894310" y="6246353"/>
              <a:ext cx="270510" cy="208915"/>
            </a:xfrm>
            <a:prstGeom prst="rect">
              <a:avLst/>
            </a:prstGeom>
          </p:spPr>
          <p:txBody>
            <a:bodyPr vert="vert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ahoma"/>
                  <a:cs typeface="Tahoma"/>
                </a:rPr>
                <a:t>..</a:t>
              </a:r>
              <a:r>
                <a:rPr sz="1600" dirty="0">
                  <a:latin typeface="Tahoma"/>
                  <a:cs typeface="Tahoma"/>
                </a:rPr>
                <a:t>.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E23EB1FF-E5DB-472E-A063-6AA6D687BC4D}"/>
                </a:ext>
              </a:extLst>
            </p:cNvPr>
            <p:cNvSpPr txBox="1"/>
            <p:nvPr/>
          </p:nvSpPr>
          <p:spPr>
            <a:xfrm>
              <a:off x="6225013" y="6548101"/>
              <a:ext cx="2921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ahoma"/>
                  <a:cs typeface="Tahoma"/>
                </a:rPr>
                <a:t>[</a:t>
              </a:r>
              <a:r>
                <a:rPr sz="1600" dirty="0">
                  <a:latin typeface="Tahoma"/>
                  <a:cs typeface="Tahoma"/>
                </a:rPr>
                <a:t>9</a:t>
              </a:r>
              <a:r>
                <a:rPr sz="1600" spc="-5" dirty="0">
                  <a:latin typeface="Tahoma"/>
                  <a:cs typeface="Tahoma"/>
                </a:rPr>
                <a:t>]</a:t>
              </a:r>
              <a:endParaRPr sz="1600">
                <a:latin typeface="Tahoma"/>
                <a:cs typeface="Tahoma"/>
              </a:endParaRPr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B6DC52AE-0716-4144-A537-71C94138CF1D}"/>
                </a:ext>
              </a:extLst>
            </p:cNvPr>
            <p:cNvSpPr/>
            <p:nvPr/>
          </p:nvSpPr>
          <p:spPr>
            <a:xfrm>
              <a:off x="7222235" y="5169408"/>
              <a:ext cx="13970" cy="274320"/>
            </a:xfrm>
            <a:custGeom>
              <a:avLst/>
              <a:gdLst/>
              <a:ahLst/>
              <a:cxnLst/>
              <a:rect l="l" t="t" r="r" b="b"/>
              <a:pathLst>
                <a:path w="13970" h="274320">
                  <a:moveTo>
                    <a:pt x="13716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3716" y="0"/>
                  </a:lnTo>
                  <a:lnTo>
                    <a:pt x="13716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13D99C40-E192-4BC2-B5AE-0A016C5DD768}"/>
                </a:ext>
              </a:extLst>
            </p:cNvPr>
            <p:cNvSpPr/>
            <p:nvPr/>
          </p:nvSpPr>
          <p:spPr>
            <a:xfrm>
              <a:off x="7879080" y="5170932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64E2910F-9029-4694-8420-E12E26E5061F}"/>
                </a:ext>
              </a:extLst>
            </p:cNvPr>
            <p:cNvSpPr/>
            <p:nvPr/>
          </p:nvSpPr>
          <p:spPr>
            <a:xfrm>
              <a:off x="8599932" y="5170932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7">
              <a:extLst>
                <a:ext uri="{FF2B5EF4-FFF2-40B4-BE49-F238E27FC236}">
                  <a16:creationId xmlns:a16="http://schemas.microsoft.com/office/drawing/2014/main" id="{61F44946-5FC3-44E3-94F4-1DBD6DBA6BEC}"/>
                </a:ext>
              </a:extLst>
            </p:cNvPr>
            <p:cNvSpPr/>
            <p:nvPr/>
          </p:nvSpPr>
          <p:spPr>
            <a:xfrm>
              <a:off x="6551676" y="5529071"/>
              <a:ext cx="2753995" cy="287020"/>
            </a:xfrm>
            <a:custGeom>
              <a:avLst/>
              <a:gdLst/>
              <a:ahLst/>
              <a:cxnLst/>
              <a:rect l="l" t="t" r="r" b="b"/>
              <a:pathLst>
                <a:path w="2753995" h="287020">
                  <a:moveTo>
                    <a:pt x="2750820" y="286512"/>
                  </a:moveTo>
                  <a:lnTo>
                    <a:pt x="3048" y="286512"/>
                  </a:lnTo>
                  <a:lnTo>
                    <a:pt x="0" y="283464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2750820" y="0"/>
                  </a:lnTo>
                  <a:lnTo>
                    <a:pt x="2753868" y="3048"/>
                  </a:lnTo>
                  <a:lnTo>
                    <a:pt x="2753868" y="6096"/>
                  </a:ln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lnTo>
                    <a:pt x="12192" y="274320"/>
                  </a:lnTo>
                  <a:lnTo>
                    <a:pt x="6096" y="274320"/>
                  </a:lnTo>
                  <a:lnTo>
                    <a:pt x="12192" y="280416"/>
                  </a:lnTo>
                  <a:lnTo>
                    <a:pt x="2753868" y="280416"/>
                  </a:lnTo>
                  <a:lnTo>
                    <a:pt x="2753868" y="283464"/>
                  </a:lnTo>
                  <a:lnTo>
                    <a:pt x="2750820" y="286512"/>
                  </a:lnTo>
                  <a:close/>
                </a:path>
                <a:path w="2753995" h="287020">
                  <a:moveTo>
                    <a:pt x="12192" y="12192"/>
                  </a:move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close/>
                </a:path>
                <a:path w="2753995" h="287020">
                  <a:moveTo>
                    <a:pt x="2741676" y="12192"/>
                  </a:moveTo>
                  <a:lnTo>
                    <a:pt x="12192" y="12192"/>
                  </a:lnTo>
                  <a:lnTo>
                    <a:pt x="12192" y="6096"/>
                  </a:lnTo>
                  <a:lnTo>
                    <a:pt x="2741676" y="6096"/>
                  </a:lnTo>
                  <a:lnTo>
                    <a:pt x="2741676" y="12192"/>
                  </a:lnTo>
                  <a:close/>
                </a:path>
                <a:path w="2753995" h="287020">
                  <a:moveTo>
                    <a:pt x="2741676" y="280416"/>
                  </a:moveTo>
                  <a:lnTo>
                    <a:pt x="2741676" y="6096"/>
                  </a:lnTo>
                  <a:lnTo>
                    <a:pt x="2747772" y="12192"/>
                  </a:lnTo>
                  <a:lnTo>
                    <a:pt x="2753868" y="12192"/>
                  </a:lnTo>
                  <a:lnTo>
                    <a:pt x="2753868" y="274320"/>
                  </a:lnTo>
                  <a:lnTo>
                    <a:pt x="2747772" y="274320"/>
                  </a:lnTo>
                  <a:lnTo>
                    <a:pt x="2741676" y="280416"/>
                  </a:lnTo>
                  <a:close/>
                </a:path>
                <a:path w="2753995" h="287020">
                  <a:moveTo>
                    <a:pt x="2753868" y="12192"/>
                  </a:moveTo>
                  <a:lnTo>
                    <a:pt x="2747772" y="12192"/>
                  </a:lnTo>
                  <a:lnTo>
                    <a:pt x="2741676" y="6096"/>
                  </a:lnTo>
                  <a:lnTo>
                    <a:pt x="2753868" y="6096"/>
                  </a:lnTo>
                  <a:lnTo>
                    <a:pt x="2753868" y="12192"/>
                  </a:lnTo>
                  <a:close/>
                </a:path>
                <a:path w="2753995" h="287020">
                  <a:moveTo>
                    <a:pt x="12192" y="280416"/>
                  </a:moveTo>
                  <a:lnTo>
                    <a:pt x="6096" y="274320"/>
                  </a:lnTo>
                  <a:lnTo>
                    <a:pt x="12192" y="274320"/>
                  </a:lnTo>
                  <a:lnTo>
                    <a:pt x="12192" y="280416"/>
                  </a:lnTo>
                  <a:close/>
                </a:path>
                <a:path w="2753995" h="287020">
                  <a:moveTo>
                    <a:pt x="2741676" y="280416"/>
                  </a:moveTo>
                  <a:lnTo>
                    <a:pt x="12192" y="280416"/>
                  </a:lnTo>
                  <a:lnTo>
                    <a:pt x="12192" y="274320"/>
                  </a:lnTo>
                  <a:lnTo>
                    <a:pt x="2741676" y="274320"/>
                  </a:lnTo>
                  <a:lnTo>
                    <a:pt x="2741676" y="280416"/>
                  </a:lnTo>
                  <a:close/>
                </a:path>
                <a:path w="2753995" h="287020">
                  <a:moveTo>
                    <a:pt x="2753868" y="280416"/>
                  </a:moveTo>
                  <a:lnTo>
                    <a:pt x="2741676" y="280416"/>
                  </a:lnTo>
                  <a:lnTo>
                    <a:pt x="2747772" y="274320"/>
                  </a:lnTo>
                  <a:lnTo>
                    <a:pt x="2753868" y="274320"/>
                  </a:lnTo>
                  <a:lnTo>
                    <a:pt x="2753868" y="280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982608E4-A544-4313-A5A4-ED19260A7F4F}"/>
                </a:ext>
              </a:extLst>
            </p:cNvPr>
            <p:cNvSpPr/>
            <p:nvPr/>
          </p:nvSpPr>
          <p:spPr>
            <a:xfrm>
              <a:off x="7234428" y="5530596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DCC29433-B807-4DF6-B532-469AA748EA7A}"/>
                </a:ext>
              </a:extLst>
            </p:cNvPr>
            <p:cNvSpPr/>
            <p:nvPr/>
          </p:nvSpPr>
          <p:spPr>
            <a:xfrm>
              <a:off x="7889747" y="5532120"/>
              <a:ext cx="13970" cy="274320"/>
            </a:xfrm>
            <a:custGeom>
              <a:avLst/>
              <a:gdLst/>
              <a:ahLst/>
              <a:cxnLst/>
              <a:rect l="l" t="t" r="r" b="b"/>
              <a:pathLst>
                <a:path w="13970" h="274320">
                  <a:moveTo>
                    <a:pt x="13716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3716" y="0"/>
                  </a:lnTo>
                  <a:lnTo>
                    <a:pt x="13716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C5CBE60B-C100-4F80-855F-C2203734A61F}"/>
                </a:ext>
              </a:extLst>
            </p:cNvPr>
            <p:cNvSpPr/>
            <p:nvPr/>
          </p:nvSpPr>
          <p:spPr>
            <a:xfrm>
              <a:off x="8610600" y="5532120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1">
              <a:extLst>
                <a:ext uri="{FF2B5EF4-FFF2-40B4-BE49-F238E27FC236}">
                  <a16:creationId xmlns:a16="http://schemas.microsoft.com/office/drawing/2014/main" id="{32CC817C-4674-4F0D-90B4-FB602C8ED797}"/>
                </a:ext>
              </a:extLst>
            </p:cNvPr>
            <p:cNvSpPr/>
            <p:nvPr/>
          </p:nvSpPr>
          <p:spPr>
            <a:xfrm>
              <a:off x="6551676" y="5865876"/>
              <a:ext cx="2753995" cy="287020"/>
            </a:xfrm>
            <a:custGeom>
              <a:avLst/>
              <a:gdLst/>
              <a:ahLst/>
              <a:cxnLst/>
              <a:rect l="l" t="t" r="r" b="b"/>
              <a:pathLst>
                <a:path w="2753995" h="287020">
                  <a:moveTo>
                    <a:pt x="2750820" y="286512"/>
                  </a:moveTo>
                  <a:lnTo>
                    <a:pt x="3048" y="286512"/>
                  </a:lnTo>
                  <a:lnTo>
                    <a:pt x="0" y="283464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2750820" y="0"/>
                  </a:lnTo>
                  <a:lnTo>
                    <a:pt x="2753868" y="3048"/>
                  </a:lnTo>
                  <a:lnTo>
                    <a:pt x="2753868" y="6096"/>
                  </a:lnTo>
                  <a:lnTo>
                    <a:pt x="12192" y="6096"/>
                  </a:lnTo>
                  <a:lnTo>
                    <a:pt x="6096" y="12192"/>
                  </a:lnTo>
                  <a:lnTo>
                    <a:pt x="12192" y="12192"/>
                  </a:lnTo>
                  <a:lnTo>
                    <a:pt x="12192" y="274320"/>
                  </a:lnTo>
                  <a:lnTo>
                    <a:pt x="6096" y="274320"/>
                  </a:lnTo>
                  <a:lnTo>
                    <a:pt x="12192" y="280416"/>
                  </a:lnTo>
                  <a:lnTo>
                    <a:pt x="2753868" y="280416"/>
                  </a:lnTo>
                  <a:lnTo>
                    <a:pt x="2753868" y="283464"/>
                  </a:lnTo>
                  <a:lnTo>
                    <a:pt x="2750820" y="286512"/>
                  </a:lnTo>
                  <a:close/>
                </a:path>
                <a:path w="2753995" h="287020">
                  <a:moveTo>
                    <a:pt x="12192" y="12192"/>
                  </a:moveTo>
                  <a:lnTo>
                    <a:pt x="6096" y="12192"/>
                  </a:lnTo>
                  <a:lnTo>
                    <a:pt x="12192" y="6096"/>
                  </a:lnTo>
                  <a:lnTo>
                    <a:pt x="12192" y="12192"/>
                  </a:lnTo>
                  <a:close/>
                </a:path>
                <a:path w="2753995" h="287020">
                  <a:moveTo>
                    <a:pt x="2741676" y="12192"/>
                  </a:moveTo>
                  <a:lnTo>
                    <a:pt x="12192" y="12192"/>
                  </a:lnTo>
                  <a:lnTo>
                    <a:pt x="12192" y="6096"/>
                  </a:lnTo>
                  <a:lnTo>
                    <a:pt x="2741676" y="6096"/>
                  </a:lnTo>
                  <a:lnTo>
                    <a:pt x="2741676" y="12192"/>
                  </a:lnTo>
                  <a:close/>
                </a:path>
                <a:path w="2753995" h="287020">
                  <a:moveTo>
                    <a:pt x="2741676" y="280416"/>
                  </a:moveTo>
                  <a:lnTo>
                    <a:pt x="2741676" y="6096"/>
                  </a:lnTo>
                  <a:lnTo>
                    <a:pt x="2747772" y="12192"/>
                  </a:lnTo>
                  <a:lnTo>
                    <a:pt x="2753868" y="12192"/>
                  </a:lnTo>
                  <a:lnTo>
                    <a:pt x="2753868" y="274320"/>
                  </a:lnTo>
                  <a:lnTo>
                    <a:pt x="2747772" y="274320"/>
                  </a:lnTo>
                  <a:lnTo>
                    <a:pt x="2741676" y="280416"/>
                  </a:lnTo>
                  <a:close/>
                </a:path>
                <a:path w="2753995" h="287020">
                  <a:moveTo>
                    <a:pt x="2753868" y="12192"/>
                  </a:moveTo>
                  <a:lnTo>
                    <a:pt x="2747772" y="12192"/>
                  </a:lnTo>
                  <a:lnTo>
                    <a:pt x="2741676" y="6096"/>
                  </a:lnTo>
                  <a:lnTo>
                    <a:pt x="2753868" y="6096"/>
                  </a:lnTo>
                  <a:lnTo>
                    <a:pt x="2753868" y="12192"/>
                  </a:lnTo>
                  <a:close/>
                </a:path>
                <a:path w="2753995" h="287020">
                  <a:moveTo>
                    <a:pt x="12192" y="280416"/>
                  </a:moveTo>
                  <a:lnTo>
                    <a:pt x="6096" y="274320"/>
                  </a:lnTo>
                  <a:lnTo>
                    <a:pt x="12192" y="274320"/>
                  </a:lnTo>
                  <a:lnTo>
                    <a:pt x="12192" y="280416"/>
                  </a:lnTo>
                  <a:close/>
                </a:path>
                <a:path w="2753995" h="287020">
                  <a:moveTo>
                    <a:pt x="2741676" y="280416"/>
                  </a:moveTo>
                  <a:lnTo>
                    <a:pt x="12192" y="280416"/>
                  </a:lnTo>
                  <a:lnTo>
                    <a:pt x="12192" y="274320"/>
                  </a:lnTo>
                  <a:lnTo>
                    <a:pt x="2741676" y="274320"/>
                  </a:lnTo>
                  <a:lnTo>
                    <a:pt x="2741676" y="280416"/>
                  </a:lnTo>
                  <a:close/>
                </a:path>
                <a:path w="2753995" h="287020">
                  <a:moveTo>
                    <a:pt x="2753868" y="280416"/>
                  </a:moveTo>
                  <a:lnTo>
                    <a:pt x="2741676" y="280416"/>
                  </a:lnTo>
                  <a:lnTo>
                    <a:pt x="2747772" y="274320"/>
                  </a:lnTo>
                  <a:lnTo>
                    <a:pt x="2753868" y="274320"/>
                  </a:lnTo>
                  <a:lnTo>
                    <a:pt x="2753868" y="280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2">
              <a:extLst>
                <a:ext uri="{FF2B5EF4-FFF2-40B4-BE49-F238E27FC236}">
                  <a16:creationId xmlns:a16="http://schemas.microsoft.com/office/drawing/2014/main" id="{89C2B979-3C4D-461B-8CE7-0082EBD858EF}"/>
                </a:ext>
              </a:extLst>
            </p:cNvPr>
            <p:cNvSpPr/>
            <p:nvPr/>
          </p:nvSpPr>
          <p:spPr>
            <a:xfrm>
              <a:off x="7234428" y="5867400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3">
              <a:extLst>
                <a:ext uri="{FF2B5EF4-FFF2-40B4-BE49-F238E27FC236}">
                  <a16:creationId xmlns:a16="http://schemas.microsoft.com/office/drawing/2014/main" id="{909B0EA9-8BD2-4851-BF4B-7EFC46620F83}"/>
                </a:ext>
              </a:extLst>
            </p:cNvPr>
            <p:cNvSpPr/>
            <p:nvPr/>
          </p:nvSpPr>
          <p:spPr>
            <a:xfrm>
              <a:off x="7889747" y="5868924"/>
              <a:ext cx="13970" cy="274320"/>
            </a:xfrm>
            <a:custGeom>
              <a:avLst/>
              <a:gdLst/>
              <a:ahLst/>
              <a:cxnLst/>
              <a:rect l="l" t="t" r="r" b="b"/>
              <a:pathLst>
                <a:path w="13970" h="274320">
                  <a:moveTo>
                    <a:pt x="13716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3716" y="0"/>
                  </a:lnTo>
                  <a:lnTo>
                    <a:pt x="13716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4">
              <a:extLst>
                <a:ext uri="{FF2B5EF4-FFF2-40B4-BE49-F238E27FC236}">
                  <a16:creationId xmlns:a16="http://schemas.microsoft.com/office/drawing/2014/main" id="{386E440F-7E58-4B53-BF54-261827378994}"/>
                </a:ext>
              </a:extLst>
            </p:cNvPr>
            <p:cNvSpPr/>
            <p:nvPr/>
          </p:nvSpPr>
          <p:spPr>
            <a:xfrm>
              <a:off x="8610600" y="5868924"/>
              <a:ext cx="12700" cy="274320"/>
            </a:xfrm>
            <a:custGeom>
              <a:avLst/>
              <a:gdLst/>
              <a:ahLst/>
              <a:cxnLst/>
              <a:rect l="l" t="t" r="r" b="b"/>
              <a:pathLst>
                <a:path w="12700" h="274320">
                  <a:moveTo>
                    <a:pt x="12192" y="274320"/>
                  </a:moveTo>
                  <a:lnTo>
                    <a:pt x="0" y="2743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2192" y="2743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5">
              <a:extLst>
                <a:ext uri="{FF2B5EF4-FFF2-40B4-BE49-F238E27FC236}">
                  <a16:creationId xmlns:a16="http://schemas.microsoft.com/office/drawing/2014/main" id="{83D21BE8-5701-45C9-AC1A-6C5397E2BDC3}"/>
                </a:ext>
              </a:extLst>
            </p:cNvPr>
            <p:cNvSpPr/>
            <p:nvPr/>
          </p:nvSpPr>
          <p:spPr>
            <a:xfrm>
              <a:off x="6533375" y="6554723"/>
              <a:ext cx="2753995" cy="287020"/>
            </a:xfrm>
            <a:custGeom>
              <a:avLst/>
              <a:gdLst/>
              <a:ahLst/>
              <a:cxnLst/>
              <a:rect l="l" t="t" r="r" b="b"/>
              <a:pathLst>
                <a:path w="2753995" h="287020">
                  <a:moveTo>
                    <a:pt x="2753880" y="3048"/>
                  </a:moveTo>
                  <a:lnTo>
                    <a:pt x="2750832" y="0"/>
                  </a:lnTo>
                  <a:lnTo>
                    <a:pt x="2741688" y="0"/>
                  </a:lnTo>
                  <a:lnTo>
                    <a:pt x="2741688" y="12204"/>
                  </a:lnTo>
                  <a:lnTo>
                    <a:pt x="2741688" y="274332"/>
                  </a:lnTo>
                  <a:lnTo>
                    <a:pt x="2071128" y="274332"/>
                  </a:lnTo>
                  <a:lnTo>
                    <a:pt x="2071128" y="12204"/>
                  </a:lnTo>
                  <a:lnTo>
                    <a:pt x="2741688" y="12204"/>
                  </a:lnTo>
                  <a:lnTo>
                    <a:pt x="2741688" y="0"/>
                  </a:lnTo>
                  <a:lnTo>
                    <a:pt x="2058936" y="0"/>
                  </a:lnTo>
                  <a:lnTo>
                    <a:pt x="2058936" y="12204"/>
                  </a:lnTo>
                  <a:lnTo>
                    <a:pt x="2058936" y="274332"/>
                  </a:lnTo>
                  <a:lnTo>
                    <a:pt x="1351800" y="274332"/>
                  </a:lnTo>
                  <a:lnTo>
                    <a:pt x="1351800" y="12204"/>
                  </a:lnTo>
                  <a:lnTo>
                    <a:pt x="2058936" y="12204"/>
                  </a:lnTo>
                  <a:lnTo>
                    <a:pt x="2058936" y="0"/>
                  </a:lnTo>
                  <a:lnTo>
                    <a:pt x="1339608" y="0"/>
                  </a:lnTo>
                  <a:lnTo>
                    <a:pt x="1339608" y="12204"/>
                  </a:lnTo>
                  <a:lnTo>
                    <a:pt x="1339608" y="274332"/>
                  </a:lnTo>
                  <a:lnTo>
                    <a:pt x="694956" y="274332"/>
                  </a:lnTo>
                  <a:lnTo>
                    <a:pt x="694956" y="12204"/>
                  </a:lnTo>
                  <a:lnTo>
                    <a:pt x="1339608" y="12204"/>
                  </a:lnTo>
                  <a:lnTo>
                    <a:pt x="1339608" y="0"/>
                  </a:lnTo>
                  <a:lnTo>
                    <a:pt x="682764" y="0"/>
                  </a:lnTo>
                  <a:lnTo>
                    <a:pt x="682764" y="12204"/>
                  </a:lnTo>
                  <a:lnTo>
                    <a:pt x="682764" y="274332"/>
                  </a:lnTo>
                  <a:lnTo>
                    <a:pt x="12204" y="274332"/>
                  </a:lnTo>
                  <a:lnTo>
                    <a:pt x="12204" y="12204"/>
                  </a:lnTo>
                  <a:lnTo>
                    <a:pt x="682764" y="12204"/>
                  </a:lnTo>
                  <a:lnTo>
                    <a:pt x="682764" y="0"/>
                  </a:lnTo>
                  <a:lnTo>
                    <a:pt x="3060" y="0"/>
                  </a:lnTo>
                  <a:lnTo>
                    <a:pt x="0" y="3048"/>
                  </a:lnTo>
                  <a:lnTo>
                    <a:pt x="0" y="285000"/>
                  </a:lnTo>
                  <a:lnTo>
                    <a:pt x="3060" y="286524"/>
                  </a:lnTo>
                  <a:lnTo>
                    <a:pt x="2750832" y="286524"/>
                  </a:lnTo>
                  <a:lnTo>
                    <a:pt x="2753880" y="285000"/>
                  </a:lnTo>
                  <a:lnTo>
                    <a:pt x="2753880" y="280428"/>
                  </a:lnTo>
                  <a:lnTo>
                    <a:pt x="2753880" y="274332"/>
                  </a:lnTo>
                  <a:lnTo>
                    <a:pt x="2753880" y="12204"/>
                  </a:lnTo>
                  <a:lnTo>
                    <a:pt x="2753880" y="6096"/>
                  </a:lnTo>
                  <a:lnTo>
                    <a:pt x="2753880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35">
            <a:extLst>
              <a:ext uri="{FF2B5EF4-FFF2-40B4-BE49-F238E27FC236}">
                <a16:creationId xmlns:a16="http://schemas.microsoft.com/office/drawing/2014/main" id="{0F14C1D2-74E4-4DF4-A7A6-1347C26204AB}"/>
              </a:ext>
            </a:extLst>
          </p:cNvPr>
          <p:cNvSpPr/>
          <p:nvPr/>
        </p:nvSpPr>
        <p:spPr>
          <a:xfrm>
            <a:off x="7989457" y="4802869"/>
            <a:ext cx="2753995" cy="288290"/>
          </a:xfrm>
          <a:custGeom>
            <a:avLst/>
            <a:gdLst/>
            <a:ahLst/>
            <a:cxnLst/>
            <a:rect l="l" t="t" r="r" b="b"/>
            <a:pathLst>
              <a:path w="2753995" h="288289">
                <a:moveTo>
                  <a:pt x="2750820" y="288036"/>
                </a:moveTo>
                <a:lnTo>
                  <a:pt x="1524" y="288036"/>
                </a:lnTo>
                <a:lnTo>
                  <a:pt x="0" y="284988"/>
                </a:lnTo>
                <a:lnTo>
                  <a:pt x="0" y="3048"/>
                </a:lnTo>
                <a:lnTo>
                  <a:pt x="1524" y="0"/>
                </a:lnTo>
                <a:lnTo>
                  <a:pt x="2750820" y="0"/>
                </a:lnTo>
                <a:lnTo>
                  <a:pt x="2753868" y="3048"/>
                </a:lnTo>
                <a:lnTo>
                  <a:pt x="2753868" y="6096"/>
                </a:lnTo>
                <a:lnTo>
                  <a:pt x="12192" y="6096"/>
                </a:lnTo>
                <a:lnTo>
                  <a:pt x="6096" y="13716"/>
                </a:lnTo>
                <a:lnTo>
                  <a:pt x="12192" y="13716"/>
                </a:lnTo>
                <a:lnTo>
                  <a:pt x="12192" y="274320"/>
                </a:lnTo>
                <a:lnTo>
                  <a:pt x="6096" y="274320"/>
                </a:lnTo>
                <a:lnTo>
                  <a:pt x="12192" y="280416"/>
                </a:lnTo>
                <a:lnTo>
                  <a:pt x="2753868" y="280416"/>
                </a:lnTo>
                <a:lnTo>
                  <a:pt x="2753868" y="284988"/>
                </a:lnTo>
                <a:lnTo>
                  <a:pt x="2750820" y="288036"/>
                </a:lnTo>
                <a:close/>
              </a:path>
              <a:path w="2753995" h="288289">
                <a:moveTo>
                  <a:pt x="12192" y="13716"/>
                </a:moveTo>
                <a:lnTo>
                  <a:pt x="6096" y="13716"/>
                </a:lnTo>
                <a:lnTo>
                  <a:pt x="12192" y="6096"/>
                </a:lnTo>
                <a:lnTo>
                  <a:pt x="12192" y="13716"/>
                </a:lnTo>
                <a:close/>
              </a:path>
              <a:path w="2753995" h="288289">
                <a:moveTo>
                  <a:pt x="2740152" y="13716"/>
                </a:moveTo>
                <a:lnTo>
                  <a:pt x="12192" y="13716"/>
                </a:lnTo>
                <a:lnTo>
                  <a:pt x="12192" y="6096"/>
                </a:lnTo>
                <a:lnTo>
                  <a:pt x="2740152" y="6096"/>
                </a:lnTo>
                <a:lnTo>
                  <a:pt x="2740152" y="13716"/>
                </a:lnTo>
                <a:close/>
              </a:path>
              <a:path w="2753995" h="288289">
                <a:moveTo>
                  <a:pt x="2740152" y="280416"/>
                </a:moveTo>
                <a:lnTo>
                  <a:pt x="2740152" y="6096"/>
                </a:lnTo>
                <a:lnTo>
                  <a:pt x="2747772" y="13716"/>
                </a:lnTo>
                <a:lnTo>
                  <a:pt x="2753868" y="13716"/>
                </a:lnTo>
                <a:lnTo>
                  <a:pt x="2753868" y="274320"/>
                </a:lnTo>
                <a:lnTo>
                  <a:pt x="2747772" y="274320"/>
                </a:lnTo>
                <a:lnTo>
                  <a:pt x="2740152" y="280416"/>
                </a:lnTo>
                <a:close/>
              </a:path>
              <a:path w="2753995" h="288289">
                <a:moveTo>
                  <a:pt x="2753868" y="13716"/>
                </a:moveTo>
                <a:lnTo>
                  <a:pt x="2747772" y="13716"/>
                </a:lnTo>
                <a:lnTo>
                  <a:pt x="2740152" y="6096"/>
                </a:lnTo>
                <a:lnTo>
                  <a:pt x="2753868" y="6096"/>
                </a:lnTo>
                <a:lnTo>
                  <a:pt x="2753868" y="13716"/>
                </a:lnTo>
                <a:close/>
              </a:path>
              <a:path w="2753995" h="288289">
                <a:moveTo>
                  <a:pt x="12192" y="280416"/>
                </a:moveTo>
                <a:lnTo>
                  <a:pt x="6096" y="274320"/>
                </a:lnTo>
                <a:lnTo>
                  <a:pt x="12192" y="274320"/>
                </a:lnTo>
                <a:lnTo>
                  <a:pt x="12192" y="280416"/>
                </a:lnTo>
                <a:close/>
              </a:path>
              <a:path w="2753995" h="288289">
                <a:moveTo>
                  <a:pt x="2740152" y="280416"/>
                </a:moveTo>
                <a:lnTo>
                  <a:pt x="12192" y="280416"/>
                </a:lnTo>
                <a:lnTo>
                  <a:pt x="12192" y="274320"/>
                </a:lnTo>
                <a:lnTo>
                  <a:pt x="2740152" y="274320"/>
                </a:lnTo>
                <a:lnTo>
                  <a:pt x="2740152" y="280416"/>
                </a:lnTo>
                <a:close/>
              </a:path>
              <a:path w="2753995" h="288289">
                <a:moveTo>
                  <a:pt x="2753868" y="280416"/>
                </a:moveTo>
                <a:lnTo>
                  <a:pt x="2740152" y="280416"/>
                </a:lnTo>
                <a:lnTo>
                  <a:pt x="2747772" y="274320"/>
                </a:lnTo>
                <a:lnTo>
                  <a:pt x="2753868" y="274320"/>
                </a:lnTo>
                <a:lnTo>
                  <a:pt x="2753868" y="280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40BDEA-120C-446E-ACDF-F999E1E60437}"/>
              </a:ext>
            </a:extLst>
          </p:cNvPr>
          <p:cNvSpPr/>
          <p:nvPr/>
        </p:nvSpPr>
        <p:spPr>
          <a:xfrm>
            <a:off x="7868772" y="4257040"/>
            <a:ext cx="3096260" cy="4939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CEA829E-86C4-4E86-B439-CD6EF7FA537B}"/>
              </a:ext>
            </a:extLst>
          </p:cNvPr>
          <p:cNvCxnSpPr/>
          <p:nvPr/>
        </p:nvCxnSpPr>
        <p:spPr>
          <a:xfrm flipH="1" flipV="1">
            <a:off x="4572000" y="3738437"/>
            <a:ext cx="3163802" cy="6122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55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61F3-BE4F-4541-AD37-63960F8E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Array </a:t>
            </a:r>
            <a:r>
              <a:rPr lang="en-US" spc="-10" dirty="0"/>
              <a:t>of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7B4A-381D-4458-A035-FCB72E95E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0365">
              <a:spcBef>
                <a:spcPts val="0"/>
              </a:spcBef>
              <a:tabLst>
                <a:tab pos="381635" algn="l"/>
                <a:tab pos="382270" algn="l"/>
              </a:tabLst>
            </a:pPr>
            <a:r>
              <a:rPr lang="en-US" spc="26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Score[</a:t>
            </a:r>
            <a:r>
              <a:rPr lang="en-US" spc="26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i</a:t>
            </a:r>
            <a:r>
              <a:rPr lang="en-US" spc="26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]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Arial"/>
            </a:endParaRPr>
          </a:p>
          <a:p>
            <a:pPr marL="836930" lvl="1" indent="-342900">
              <a:spcBef>
                <a:spcPts val="0"/>
              </a:spcBef>
              <a:tabLst>
                <a:tab pos="781685" algn="l"/>
                <a:tab pos="782320" algn="l"/>
              </a:tabLst>
            </a:pPr>
            <a:r>
              <a:rPr lang="en-US" sz="1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Indicates </a:t>
            </a:r>
            <a:r>
              <a:rPr lang="en-US" sz="1800" spc="-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i</a:t>
            </a:r>
            <a:r>
              <a:rPr lang="en-US" sz="1800" spc="-7" baseline="26666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th</a:t>
            </a:r>
            <a:r>
              <a:rPr lang="en-US" sz="1800" spc="-7" baseline="26666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 </a:t>
            </a:r>
            <a:r>
              <a:rPr lang="en-US" sz="1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row of </a:t>
            </a:r>
            <a:r>
              <a:rPr lang="en-US" sz="1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the</a:t>
            </a:r>
            <a:r>
              <a:rPr lang="en-US" sz="1800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 </a:t>
            </a:r>
            <a:r>
              <a:rPr lang="en-US" sz="1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table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Tahoma"/>
            </a:endParaRPr>
          </a:p>
          <a:p>
            <a:pPr lvl="1">
              <a:spcBef>
                <a:spcPts val="0"/>
              </a:spcBef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Tahoma"/>
            </a:endParaRPr>
          </a:p>
          <a:p>
            <a:pPr marL="380365">
              <a:spcBef>
                <a:spcPts val="0"/>
              </a:spcBef>
              <a:tabLst>
                <a:tab pos="381635" algn="l"/>
                <a:tab pos="382270" algn="l"/>
              </a:tabLst>
            </a:pPr>
            <a:r>
              <a:rPr lang="en-US" spc="35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Score[</a:t>
            </a:r>
            <a:r>
              <a:rPr lang="en-US" spc="3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i</a:t>
            </a:r>
            <a:r>
              <a:rPr lang="en-US" spc="35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][j]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Arial"/>
            </a:endParaRPr>
          </a:p>
          <a:p>
            <a:pPr marL="836930" lvl="1" indent="-342900">
              <a:spcBef>
                <a:spcPts val="0"/>
              </a:spcBef>
              <a:tabLst>
                <a:tab pos="781685" algn="l"/>
                <a:tab pos="782320" algn="l"/>
              </a:tabLst>
            </a:pPr>
            <a:r>
              <a:rPr lang="en-US" sz="1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Can </a:t>
            </a:r>
            <a:r>
              <a:rPr lang="en-US" sz="1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be thought of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as</a:t>
            </a:r>
            <a:r>
              <a:rPr lang="en-US" sz="1800" spc="1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 </a:t>
            </a:r>
            <a:r>
              <a:rPr lang="en-US" sz="1800" spc="36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(score[</a:t>
            </a:r>
            <a:r>
              <a:rPr lang="en-US" sz="1800" spc="36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i</a:t>
            </a:r>
            <a:r>
              <a:rPr lang="en-US" sz="1800" spc="36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])[j]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Arial"/>
            </a:endParaRPr>
          </a:p>
          <a:p>
            <a:pPr marL="836930" lvl="1" indent="-342900">
              <a:spcBef>
                <a:spcPts val="0"/>
              </a:spcBef>
              <a:tabLst>
                <a:tab pos="781685" algn="l"/>
                <a:tab pos="782320" algn="l"/>
              </a:tabLst>
            </a:pPr>
            <a:r>
              <a:rPr lang="en-US" sz="1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Indicates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j</a:t>
            </a:r>
            <a:r>
              <a:rPr lang="en-US" sz="1800" baseline="26666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th</a:t>
            </a:r>
            <a:r>
              <a:rPr lang="en-US" sz="1800" baseline="26666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 </a:t>
            </a:r>
            <a:r>
              <a:rPr lang="en-US" sz="18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element </a:t>
            </a:r>
            <a:r>
              <a:rPr lang="en-US" sz="18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of</a:t>
            </a:r>
            <a:r>
              <a:rPr lang="en-US" sz="1800" spc="-9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ahoma"/>
              </a:rPr>
              <a:t> </a:t>
            </a:r>
            <a:r>
              <a:rPr lang="en-US" sz="1800" spc="27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score[</a:t>
            </a:r>
            <a:r>
              <a:rPr lang="en-US" sz="1800" spc="27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i</a:t>
            </a:r>
            <a:r>
              <a:rPr lang="en-US" sz="1800" spc="27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/>
              </a:rPr>
              <a:t>]</a:t>
            </a:r>
          </a:p>
          <a:p>
            <a:pPr marL="0" lvl="1" indent="0">
              <a:spcBef>
                <a:spcPts val="0"/>
              </a:spcBef>
              <a:tabLst>
                <a:tab pos="346075" algn="l"/>
              </a:tabLst>
            </a:pPr>
            <a:endParaRPr lang="en-US" sz="1800" spc="-5" dirty="0">
              <a:latin typeface="Tahoma"/>
              <a:cs typeface="Tahoma"/>
            </a:endParaRPr>
          </a:p>
          <a:p>
            <a:pPr marL="0" lvl="1" indent="0" algn="just">
              <a:spcBef>
                <a:spcPts val="0"/>
              </a:spcBef>
              <a:tabLst>
                <a:tab pos="346075" algn="l"/>
              </a:tabLst>
            </a:pPr>
            <a:r>
              <a:rPr lang="en-US" sz="2000" b="1" spc="-5" dirty="0">
                <a:latin typeface="+mj-lt"/>
                <a:cs typeface="Tahoma"/>
              </a:rPr>
              <a:t>An n-dimensional </a:t>
            </a:r>
            <a:r>
              <a:rPr lang="en-US" sz="2000" b="1" spc="-10" dirty="0">
                <a:latin typeface="+mj-lt"/>
                <a:cs typeface="Tahoma"/>
              </a:rPr>
              <a:t>array </a:t>
            </a:r>
            <a:r>
              <a:rPr lang="en-US" sz="2000" b="1" dirty="0">
                <a:latin typeface="+mj-lt"/>
                <a:cs typeface="Tahoma"/>
              </a:rPr>
              <a:t>can </a:t>
            </a:r>
            <a:r>
              <a:rPr lang="en-US" sz="2000" b="1" spc="5" dirty="0">
                <a:latin typeface="+mj-lt"/>
                <a:cs typeface="Tahoma"/>
              </a:rPr>
              <a:t>be </a:t>
            </a:r>
            <a:r>
              <a:rPr lang="en-US" sz="2000" b="1" spc="-5" dirty="0">
                <a:latin typeface="+mj-lt"/>
                <a:cs typeface="Tahoma"/>
              </a:rPr>
              <a:t>viewed (recursively) </a:t>
            </a:r>
            <a:r>
              <a:rPr lang="en-US" sz="2000" b="1" dirty="0">
                <a:latin typeface="+mj-lt"/>
                <a:cs typeface="Tahoma"/>
              </a:rPr>
              <a:t>as a </a:t>
            </a:r>
            <a:r>
              <a:rPr lang="en-US" sz="2000" b="1" spc="-10" dirty="0">
                <a:latin typeface="+mj-lt"/>
                <a:cs typeface="Tahoma"/>
              </a:rPr>
              <a:t>1D </a:t>
            </a:r>
            <a:r>
              <a:rPr lang="en-US" sz="2000" b="1" spc="-15" dirty="0">
                <a:latin typeface="+mj-lt"/>
                <a:cs typeface="Tahoma"/>
              </a:rPr>
              <a:t>array </a:t>
            </a:r>
            <a:r>
              <a:rPr lang="en-US" sz="2000" b="1" spc="-5" dirty="0">
                <a:latin typeface="+mj-lt"/>
                <a:cs typeface="Tahoma"/>
              </a:rPr>
              <a:t>whose elements  are (n-1)-dimensional</a:t>
            </a:r>
            <a:r>
              <a:rPr lang="en-US" sz="2000" b="1" spc="15" dirty="0">
                <a:latin typeface="+mj-lt"/>
                <a:cs typeface="Tahoma"/>
              </a:rPr>
              <a:t> </a:t>
            </a:r>
            <a:r>
              <a:rPr lang="en-US" sz="2000" b="1" spc="-10" dirty="0">
                <a:latin typeface="+mj-lt"/>
                <a:cs typeface="Tahoma"/>
              </a:rPr>
              <a:t>arrays</a:t>
            </a:r>
            <a:endParaRPr lang="en-US" sz="2000" b="1" dirty="0">
              <a:latin typeface="+mj-lt"/>
              <a:cs typeface="Tahoma"/>
            </a:endParaRPr>
          </a:p>
          <a:p>
            <a:pPr marL="0" lvl="1" indent="0">
              <a:spcBef>
                <a:spcPts val="0"/>
              </a:spcBef>
              <a:buNone/>
              <a:tabLst>
                <a:tab pos="346075" algn="l"/>
              </a:tabLst>
            </a:pPr>
            <a:endParaRPr lang="en-US" sz="1800" spc="275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4811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97D8-98B0-45F4-A494-FB34488F8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Implementing Multidimensional</a:t>
            </a:r>
            <a:r>
              <a:rPr lang="en-US" spc="25" dirty="0"/>
              <a:t> </a:t>
            </a:r>
            <a:r>
              <a:rPr lang="en-US" spc="-5" dirty="0"/>
              <a:t>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988F8-D1E8-4214-B3B6-2589F8A4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More complicated than one dimensional arrays</a:t>
            </a:r>
          </a:p>
          <a:p>
            <a:r>
              <a:rPr lang="en-US" dirty="0">
                <a:solidFill>
                  <a:schemeClr val="tx1"/>
                </a:solidFill>
              </a:rPr>
              <a:t>Memory is organized as a sequence of memory locations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One-dimensional (1D) organization</a:t>
            </a:r>
          </a:p>
          <a:p>
            <a:r>
              <a:rPr lang="en-US" dirty="0">
                <a:solidFill>
                  <a:schemeClr val="tx1"/>
                </a:solidFill>
              </a:rPr>
              <a:t>How to use a 1D organization to store multidimensional data?</a:t>
            </a:r>
          </a:p>
          <a:p>
            <a:r>
              <a:rPr lang="en-US" dirty="0">
                <a:solidFill>
                  <a:schemeClr val="tx1"/>
                </a:solidFill>
              </a:rPr>
              <a:t>Example: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297815" indent="-285750">
              <a:spcBef>
                <a:spcPts val="555"/>
              </a:spcBef>
              <a:tabLst>
                <a:tab pos="299085" algn="l"/>
                <a:tab pos="29972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A character requires </a:t>
            </a: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single</a:t>
            </a:r>
            <a:r>
              <a:rPr lang="en-US" sz="1800" spc="12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byte</a:t>
            </a:r>
            <a:endParaRPr lang="en-US" sz="18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97815" indent="-285750">
              <a:spcBef>
                <a:spcPts val="455"/>
              </a:spcBef>
              <a:tabLst>
                <a:tab pos="299085" algn="l"/>
                <a:tab pos="299720" algn="l"/>
              </a:tabLst>
            </a:pP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Compiler request </a:t>
            </a: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to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reserve </a:t>
            </a: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12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consecutive</a:t>
            </a:r>
            <a:r>
              <a:rPr lang="en-US" sz="1800" spc="17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bytes</a:t>
            </a:r>
            <a:endParaRPr lang="en-US" sz="18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297815" indent="-285750">
              <a:spcBef>
                <a:spcPts val="459"/>
              </a:spcBef>
              <a:tabLst>
                <a:tab pos="299085" algn="l"/>
                <a:tab pos="299720" algn="l"/>
              </a:tabLst>
            </a:pP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Two way </a:t>
            </a:r>
            <a:r>
              <a:rPr lang="en-US" sz="1800" dirty="0">
                <a:solidFill>
                  <a:schemeClr val="tx1"/>
                </a:solidFill>
                <a:latin typeface="Tahoma"/>
                <a:cs typeface="Tahoma"/>
              </a:rPr>
              <a:t>to </a:t>
            </a:r>
            <a:r>
              <a:rPr lang="en-US" sz="1800" spc="-5" dirty="0">
                <a:solidFill>
                  <a:schemeClr val="tx1"/>
                </a:solidFill>
                <a:latin typeface="Tahoma"/>
                <a:cs typeface="Tahoma"/>
              </a:rPr>
              <a:t>store consecutively, i.e., </a:t>
            </a:r>
            <a:r>
              <a:rPr lang="en-US" sz="1800" spc="-10" dirty="0">
                <a:solidFill>
                  <a:srgbClr val="FF0000"/>
                </a:solidFill>
                <a:latin typeface="Tahoma"/>
                <a:cs typeface="Tahoma"/>
              </a:rPr>
              <a:t>row-wise</a:t>
            </a:r>
            <a:r>
              <a:rPr lang="en-US" sz="1800" spc="-10" dirty="0">
                <a:solidFill>
                  <a:schemeClr val="tx1"/>
                </a:solidFill>
                <a:latin typeface="Tahoma"/>
                <a:cs typeface="Tahoma"/>
              </a:rPr>
              <a:t> and</a:t>
            </a:r>
            <a:r>
              <a:rPr lang="en-US" sz="1800" spc="28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1800" spc="-5" dirty="0">
                <a:solidFill>
                  <a:srgbClr val="FF0000"/>
                </a:solidFill>
                <a:latin typeface="Tahoma"/>
                <a:cs typeface="Tahoma"/>
              </a:rPr>
              <a:t>column-wise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698646-FC47-4C54-AE83-01BF7E942023}"/>
              </a:ext>
            </a:extLst>
          </p:cNvPr>
          <p:cNvGrpSpPr/>
          <p:nvPr/>
        </p:nvGrpSpPr>
        <p:grpSpPr>
          <a:xfrm>
            <a:off x="4565649" y="3765804"/>
            <a:ext cx="3060701" cy="998219"/>
            <a:chOff x="2511551" y="4253484"/>
            <a:chExt cx="3060701" cy="998219"/>
          </a:xfrm>
        </p:grpSpPr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DC301B4C-F8A9-4CBA-8E91-0682C9FB1156}"/>
                </a:ext>
              </a:extLst>
            </p:cNvPr>
            <p:cNvSpPr txBox="1"/>
            <p:nvPr/>
          </p:nvSpPr>
          <p:spPr>
            <a:xfrm>
              <a:off x="2587184" y="4269697"/>
              <a:ext cx="178435" cy="94106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 algn="just">
                <a:lnSpc>
                  <a:spcPct val="100000"/>
                </a:lnSpc>
                <a:spcBef>
                  <a:spcPts val="105"/>
                </a:spcBef>
              </a:pPr>
              <a:r>
                <a:rPr sz="2000" dirty="0">
                  <a:latin typeface="Tahoma"/>
                  <a:cs typeface="Tahoma"/>
                </a:rPr>
                <a:t>A  E  I</a:t>
              </a:r>
              <a:endParaRPr sz="2000">
                <a:latin typeface="Tahoma"/>
                <a:cs typeface="Tahoma"/>
              </a:endParaRPr>
            </a:p>
          </p:txBody>
        </p: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E433D188-5A1B-48FA-8E34-791D4D7D78C3}"/>
                </a:ext>
              </a:extLst>
            </p:cNvPr>
            <p:cNvSpPr txBox="1"/>
            <p:nvPr/>
          </p:nvSpPr>
          <p:spPr>
            <a:xfrm>
              <a:off x="3500868" y="4269697"/>
              <a:ext cx="175895" cy="94106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 algn="just">
                <a:lnSpc>
                  <a:spcPct val="100000"/>
                </a:lnSpc>
                <a:spcBef>
                  <a:spcPts val="105"/>
                </a:spcBef>
              </a:pPr>
              <a:r>
                <a:rPr sz="2000" dirty="0">
                  <a:latin typeface="Tahoma"/>
                  <a:cs typeface="Tahoma"/>
                </a:rPr>
                <a:t>B  F  J</a:t>
              </a:r>
              <a:endParaRPr sz="2000">
                <a:latin typeface="Tahoma"/>
                <a:cs typeface="Tahoma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6832158F-0D7A-4991-8926-F625DA45A04D}"/>
                </a:ext>
              </a:extLst>
            </p:cNvPr>
            <p:cNvSpPr txBox="1"/>
            <p:nvPr/>
          </p:nvSpPr>
          <p:spPr>
            <a:xfrm>
              <a:off x="4417097" y="4269697"/>
              <a:ext cx="195580" cy="94106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 algn="just">
                <a:lnSpc>
                  <a:spcPct val="100000"/>
                </a:lnSpc>
                <a:spcBef>
                  <a:spcPts val="105"/>
                </a:spcBef>
              </a:pPr>
              <a:r>
                <a:rPr sz="2000" dirty="0">
                  <a:latin typeface="Tahoma"/>
                  <a:cs typeface="Tahoma"/>
                </a:rPr>
                <a:t>C  G  K</a:t>
              </a:r>
              <a:endParaRPr sz="2000">
                <a:latin typeface="Tahoma"/>
                <a:cs typeface="Tahoma"/>
              </a:endParaRPr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E9570275-1EF1-4719-B3DB-62C6588D6F4D}"/>
                </a:ext>
              </a:extLst>
            </p:cNvPr>
            <p:cNvSpPr txBox="1"/>
            <p:nvPr/>
          </p:nvSpPr>
          <p:spPr>
            <a:xfrm>
              <a:off x="5330781" y="4269697"/>
              <a:ext cx="198120" cy="94106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 algn="just">
                <a:lnSpc>
                  <a:spcPct val="100000"/>
                </a:lnSpc>
                <a:spcBef>
                  <a:spcPts val="105"/>
                </a:spcBef>
              </a:pPr>
              <a:r>
                <a:rPr sz="2000" dirty="0">
                  <a:latin typeface="Tahoma"/>
                  <a:cs typeface="Tahoma"/>
                </a:rPr>
                <a:t>D  H  L</a:t>
              </a:r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BFBDE83A-0B72-4E6A-94E5-D90D94EDE5A2}"/>
                </a:ext>
              </a:extLst>
            </p:cNvPr>
            <p:cNvSpPr/>
            <p:nvPr/>
          </p:nvSpPr>
          <p:spPr>
            <a:xfrm>
              <a:off x="2511551" y="4253484"/>
              <a:ext cx="94615" cy="998219"/>
            </a:xfrm>
            <a:custGeom>
              <a:avLst/>
              <a:gdLst/>
              <a:ahLst/>
              <a:cxnLst/>
              <a:rect l="l" t="t" r="r" b="b"/>
              <a:pathLst>
                <a:path w="94614" h="998220">
                  <a:moveTo>
                    <a:pt x="94487" y="998220"/>
                  </a:moveTo>
                  <a:lnTo>
                    <a:pt x="85343" y="998220"/>
                  </a:lnTo>
                  <a:lnTo>
                    <a:pt x="67055" y="995172"/>
                  </a:lnTo>
                  <a:lnTo>
                    <a:pt x="27431" y="972312"/>
                  </a:lnTo>
                  <a:lnTo>
                    <a:pt x="4571" y="937260"/>
                  </a:lnTo>
                  <a:lnTo>
                    <a:pt x="0" y="918972"/>
                  </a:lnTo>
                  <a:lnTo>
                    <a:pt x="0" y="79248"/>
                  </a:lnTo>
                  <a:lnTo>
                    <a:pt x="1523" y="70104"/>
                  </a:lnTo>
                  <a:lnTo>
                    <a:pt x="7619" y="54864"/>
                  </a:lnTo>
                  <a:lnTo>
                    <a:pt x="10667" y="45720"/>
                  </a:lnTo>
                  <a:lnTo>
                    <a:pt x="41147" y="15240"/>
                  </a:lnTo>
                  <a:lnTo>
                    <a:pt x="85343" y="0"/>
                  </a:lnTo>
                  <a:lnTo>
                    <a:pt x="94487" y="0"/>
                  </a:lnTo>
                  <a:lnTo>
                    <a:pt x="94487" y="12192"/>
                  </a:lnTo>
                  <a:lnTo>
                    <a:pt x="86867" y="12192"/>
                  </a:lnTo>
                  <a:lnTo>
                    <a:pt x="79247" y="13716"/>
                  </a:lnTo>
                  <a:lnTo>
                    <a:pt x="36575" y="35052"/>
                  </a:lnTo>
                  <a:lnTo>
                    <a:pt x="22859" y="51816"/>
                  </a:lnTo>
                  <a:lnTo>
                    <a:pt x="18287" y="59436"/>
                  </a:lnTo>
                  <a:lnTo>
                    <a:pt x="16763" y="65532"/>
                  </a:lnTo>
                  <a:lnTo>
                    <a:pt x="13715" y="73152"/>
                  </a:lnTo>
                  <a:lnTo>
                    <a:pt x="12191" y="80772"/>
                  </a:lnTo>
                  <a:lnTo>
                    <a:pt x="12191" y="917448"/>
                  </a:lnTo>
                  <a:lnTo>
                    <a:pt x="15239" y="932688"/>
                  </a:lnTo>
                  <a:lnTo>
                    <a:pt x="18287" y="938784"/>
                  </a:lnTo>
                  <a:lnTo>
                    <a:pt x="22859" y="946404"/>
                  </a:lnTo>
                  <a:lnTo>
                    <a:pt x="25907" y="952500"/>
                  </a:lnTo>
                  <a:lnTo>
                    <a:pt x="36575" y="963168"/>
                  </a:lnTo>
                  <a:lnTo>
                    <a:pt x="54863" y="976884"/>
                  </a:lnTo>
                  <a:lnTo>
                    <a:pt x="62483" y="979932"/>
                  </a:lnTo>
                  <a:lnTo>
                    <a:pt x="70103" y="981456"/>
                  </a:lnTo>
                  <a:lnTo>
                    <a:pt x="77723" y="984504"/>
                  </a:lnTo>
                  <a:lnTo>
                    <a:pt x="85343" y="986028"/>
                  </a:lnTo>
                  <a:lnTo>
                    <a:pt x="94487" y="986028"/>
                  </a:lnTo>
                  <a:lnTo>
                    <a:pt x="94487" y="998220"/>
                  </a:lnTo>
                  <a:close/>
                </a:path>
              </a:pathLst>
            </a:custGeom>
            <a:solidFill>
              <a:srgbClr val="33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00751EC7-0DA4-4E58-8141-E32620F17194}"/>
                </a:ext>
              </a:extLst>
            </p:cNvPr>
            <p:cNvSpPr/>
            <p:nvPr/>
          </p:nvSpPr>
          <p:spPr>
            <a:xfrm>
              <a:off x="5475732" y="4253484"/>
              <a:ext cx="96520" cy="942340"/>
            </a:xfrm>
            <a:custGeom>
              <a:avLst/>
              <a:gdLst/>
              <a:ahLst/>
              <a:cxnLst/>
              <a:rect l="l" t="t" r="r" b="b"/>
              <a:pathLst>
                <a:path w="96520" h="942339">
                  <a:moveTo>
                    <a:pt x="1524" y="941832"/>
                  </a:moveTo>
                  <a:lnTo>
                    <a:pt x="0" y="928116"/>
                  </a:lnTo>
                  <a:lnTo>
                    <a:pt x="9144" y="928116"/>
                  </a:lnTo>
                  <a:lnTo>
                    <a:pt x="16764" y="926592"/>
                  </a:lnTo>
                  <a:lnTo>
                    <a:pt x="25908" y="925068"/>
                  </a:lnTo>
                  <a:lnTo>
                    <a:pt x="33528" y="923544"/>
                  </a:lnTo>
                  <a:lnTo>
                    <a:pt x="39624" y="920496"/>
                  </a:lnTo>
                  <a:lnTo>
                    <a:pt x="47244" y="915924"/>
                  </a:lnTo>
                  <a:lnTo>
                    <a:pt x="53340" y="912876"/>
                  </a:lnTo>
                  <a:lnTo>
                    <a:pt x="59436" y="908304"/>
                  </a:lnTo>
                  <a:lnTo>
                    <a:pt x="70104" y="897635"/>
                  </a:lnTo>
                  <a:lnTo>
                    <a:pt x="73152" y="891539"/>
                  </a:lnTo>
                  <a:lnTo>
                    <a:pt x="77724" y="885444"/>
                  </a:lnTo>
                  <a:lnTo>
                    <a:pt x="79248" y="879347"/>
                  </a:lnTo>
                  <a:lnTo>
                    <a:pt x="82296" y="871728"/>
                  </a:lnTo>
                  <a:lnTo>
                    <a:pt x="83820" y="865632"/>
                  </a:lnTo>
                  <a:lnTo>
                    <a:pt x="83820" y="76200"/>
                  </a:lnTo>
                  <a:lnTo>
                    <a:pt x="82296" y="70104"/>
                  </a:lnTo>
                  <a:lnTo>
                    <a:pt x="80772" y="62484"/>
                  </a:lnTo>
                  <a:lnTo>
                    <a:pt x="77724" y="56387"/>
                  </a:lnTo>
                  <a:lnTo>
                    <a:pt x="73152" y="50292"/>
                  </a:lnTo>
                  <a:lnTo>
                    <a:pt x="70104" y="44195"/>
                  </a:lnTo>
                  <a:lnTo>
                    <a:pt x="25908" y="15240"/>
                  </a:lnTo>
                  <a:lnTo>
                    <a:pt x="9144" y="12192"/>
                  </a:lnTo>
                  <a:lnTo>
                    <a:pt x="0" y="12192"/>
                  </a:lnTo>
                  <a:lnTo>
                    <a:pt x="1524" y="0"/>
                  </a:lnTo>
                  <a:lnTo>
                    <a:pt x="10668" y="0"/>
                  </a:lnTo>
                  <a:lnTo>
                    <a:pt x="28956" y="3048"/>
                  </a:lnTo>
                  <a:lnTo>
                    <a:pt x="38100" y="6096"/>
                  </a:lnTo>
                  <a:lnTo>
                    <a:pt x="45720" y="9144"/>
                  </a:lnTo>
                  <a:lnTo>
                    <a:pt x="60960" y="18288"/>
                  </a:lnTo>
                  <a:lnTo>
                    <a:pt x="67056" y="24384"/>
                  </a:lnTo>
                  <a:lnTo>
                    <a:pt x="74676" y="30480"/>
                  </a:lnTo>
                  <a:lnTo>
                    <a:pt x="83820" y="42672"/>
                  </a:lnTo>
                  <a:lnTo>
                    <a:pt x="88392" y="50292"/>
                  </a:lnTo>
                  <a:lnTo>
                    <a:pt x="94488" y="65532"/>
                  </a:lnTo>
                  <a:lnTo>
                    <a:pt x="96012" y="74676"/>
                  </a:lnTo>
                  <a:lnTo>
                    <a:pt x="96012" y="865632"/>
                  </a:lnTo>
                  <a:lnTo>
                    <a:pt x="94488" y="874776"/>
                  </a:lnTo>
                  <a:lnTo>
                    <a:pt x="85344" y="897635"/>
                  </a:lnTo>
                  <a:lnTo>
                    <a:pt x="79248" y="903732"/>
                  </a:lnTo>
                  <a:lnTo>
                    <a:pt x="74676" y="911352"/>
                  </a:lnTo>
                  <a:lnTo>
                    <a:pt x="68580" y="917447"/>
                  </a:lnTo>
                  <a:lnTo>
                    <a:pt x="45720" y="931164"/>
                  </a:lnTo>
                  <a:lnTo>
                    <a:pt x="38100" y="934212"/>
                  </a:lnTo>
                  <a:lnTo>
                    <a:pt x="19812" y="940307"/>
                  </a:lnTo>
                  <a:lnTo>
                    <a:pt x="10668" y="940307"/>
                  </a:lnTo>
                  <a:lnTo>
                    <a:pt x="1524" y="941832"/>
                  </a:lnTo>
                  <a:close/>
                </a:path>
              </a:pathLst>
            </a:custGeom>
            <a:solidFill>
              <a:srgbClr val="33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5927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C999-363B-4CC8-866D-69CB5EF7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Two-dimensional </a:t>
            </a:r>
            <a:r>
              <a:rPr lang="en-US" dirty="0"/>
              <a:t>Arrays </a:t>
            </a:r>
            <a:r>
              <a:rPr lang="en-US" spc="-20" dirty="0"/>
              <a:t>in</a:t>
            </a:r>
            <a:r>
              <a:rPr lang="en-US" spc="-15" dirty="0"/>
              <a:t> </a:t>
            </a:r>
            <a:r>
              <a:rPr lang="en-US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CAF3-58E4-4685-ACF2-F659C75D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86560"/>
            <a:ext cx="8915400" cy="3777622"/>
          </a:xfrm>
        </p:spPr>
        <p:txBody>
          <a:bodyPr/>
          <a:lstStyle/>
          <a:p>
            <a:r>
              <a:rPr lang="en-US" dirty="0"/>
              <a:t>Two ways to be represented in memory</a:t>
            </a:r>
          </a:p>
          <a:p>
            <a:r>
              <a:rPr lang="en-US" dirty="0"/>
              <a:t>Column majored</a:t>
            </a:r>
          </a:p>
          <a:p>
            <a:pPr lvl="1"/>
            <a:r>
              <a:rPr lang="en-US" dirty="0"/>
              <a:t>Column by column</a:t>
            </a:r>
          </a:p>
          <a:p>
            <a:r>
              <a:rPr lang="en-US" dirty="0"/>
              <a:t>Row majored</a:t>
            </a:r>
          </a:p>
          <a:p>
            <a:pPr lvl="1"/>
            <a:r>
              <a:rPr lang="en-US" dirty="0"/>
              <a:t>Row by row</a:t>
            </a:r>
          </a:p>
          <a:p>
            <a:r>
              <a:rPr lang="en-US" dirty="0"/>
              <a:t>Representation depends upon the programming language</a:t>
            </a: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EF4D9EA2-5481-4513-8FF0-33B5DB3A8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6641"/>
              </p:ext>
            </p:extLst>
          </p:nvPr>
        </p:nvGraphicFramePr>
        <p:xfrm>
          <a:off x="3916838" y="4404010"/>
          <a:ext cx="1793082" cy="2331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(1,1)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29209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(2,1)</a:t>
                      </a:r>
                      <a:endParaRPr sz="1200">
                        <a:latin typeface="Tahoma"/>
                        <a:cs typeface="Tahoma"/>
                      </a:endParaRPr>
                    </a:p>
                    <a:p>
                      <a:pPr marL="29209">
                        <a:lnSpc>
                          <a:spcPts val="1475"/>
                        </a:lnSpc>
                        <a:spcBef>
                          <a:spcPts val="12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(3,1)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Column</a:t>
                      </a:r>
                      <a:r>
                        <a:rPr sz="12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75"/>
                        </a:lnSpc>
                        <a:spcBef>
                          <a:spcPts val="3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(1,2)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(2,2)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Column</a:t>
                      </a:r>
                      <a:r>
                        <a:rPr sz="12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75"/>
                        </a:lnSpc>
                        <a:spcBef>
                          <a:spcPts val="3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(3,2)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(1,3)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(2,3)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Column</a:t>
                      </a:r>
                      <a:r>
                        <a:rPr sz="12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0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70"/>
                        </a:lnSpc>
                        <a:spcBef>
                          <a:spcPts val="4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(3,3)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4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(1,4)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6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(2,4)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Column</a:t>
                      </a:r>
                      <a:r>
                        <a:rPr sz="12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7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3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(3,4)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2087B53-4241-4A27-A6AF-958FF5AD9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37694"/>
              </p:ext>
            </p:extLst>
          </p:nvPr>
        </p:nvGraphicFramePr>
        <p:xfrm>
          <a:off x="7167530" y="4404010"/>
          <a:ext cx="1779905" cy="23163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(1,1)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(1,2)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385"/>
                        </a:lnSpc>
                        <a:spcBef>
                          <a:spcPts val="40"/>
                        </a:spcBef>
                      </a:pPr>
                      <a:r>
                        <a:rPr sz="1200" spc="-5" dirty="0">
                          <a:latin typeface="Tahoma"/>
                          <a:cs typeface="Tahoma"/>
                        </a:rPr>
                        <a:t>Row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2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75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(1,3)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0"/>
                        </a:lnSpc>
                        <a:spcBef>
                          <a:spcPts val="3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(1,4)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7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(2,1)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2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75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(2,2)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375"/>
                        </a:lnSpc>
                        <a:spcBef>
                          <a:spcPts val="40"/>
                        </a:spcBef>
                      </a:pPr>
                      <a:r>
                        <a:rPr sz="1200" spc="-5" dirty="0">
                          <a:latin typeface="Tahoma"/>
                          <a:cs typeface="Tahoma"/>
                        </a:rPr>
                        <a:t>Row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(2,3)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(2,4)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75"/>
                        </a:lnSpc>
                        <a:spcBef>
                          <a:spcPts val="4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(3,1)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(3,2)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5" dirty="0">
                          <a:latin typeface="Tahoma"/>
                          <a:cs typeface="Tahoma"/>
                        </a:rPr>
                        <a:t>Row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6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(3,3)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7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1385"/>
                        </a:lnSpc>
                        <a:spcBef>
                          <a:spcPts val="35"/>
                        </a:spcBef>
                      </a:pPr>
                      <a:r>
                        <a:rPr sz="1200" spc="-15" dirty="0">
                          <a:latin typeface="Tahoma"/>
                          <a:cs typeface="Tahoma"/>
                        </a:rPr>
                        <a:t>(3,4)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571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278CDA-DFC1-44B7-A3D6-D12C613E7F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87019" y="69712"/>
            <a:ext cx="6617962" cy="671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56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738D67-0040-4646-8FA2-923C064B24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89406" y="294640"/>
            <a:ext cx="7813187" cy="626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547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240</TotalTime>
  <Words>1588</Words>
  <Application>Microsoft Office PowerPoint</Application>
  <PresentationFormat>Widescreen</PresentationFormat>
  <Paragraphs>364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Arial</vt:lpstr>
      <vt:lpstr>Calibri</vt:lpstr>
      <vt:lpstr>Calibri Light</vt:lpstr>
      <vt:lpstr>Courier New</vt:lpstr>
      <vt:lpstr>Tahoma</vt:lpstr>
      <vt:lpstr>Times New Roman</vt:lpstr>
      <vt:lpstr>UKIJ Inchike</vt:lpstr>
      <vt:lpstr>Wingdings</vt:lpstr>
      <vt:lpstr>Wingdings 3</vt:lpstr>
      <vt:lpstr>Wisp</vt:lpstr>
      <vt:lpstr>Arrays ADT</vt:lpstr>
      <vt:lpstr>Arrays</vt:lpstr>
      <vt:lpstr>Properties of an Array</vt:lpstr>
      <vt:lpstr>Declaring Arrays in C/C++</vt:lpstr>
      <vt:lpstr>Accessing Arrays in C/C++</vt:lpstr>
      <vt:lpstr>C/C++ Implementation of an Array ADT</vt:lpstr>
      <vt:lpstr>Array Initialization in C/C++</vt:lpstr>
      <vt:lpstr>Array Initialization in C/C++</vt:lpstr>
      <vt:lpstr>Array Addressing</vt:lpstr>
      <vt:lpstr>Array Addressing</vt:lpstr>
      <vt:lpstr>Multidimensional Arrays</vt:lpstr>
      <vt:lpstr>Two Dimensional Arrays – Declaration</vt:lpstr>
      <vt:lpstr>Two Dimensional Arrays – Processing</vt:lpstr>
      <vt:lpstr>Higher Dimensional Arrays</vt:lpstr>
      <vt:lpstr>Array of Arrays</vt:lpstr>
      <vt:lpstr>Array of Arrays</vt:lpstr>
      <vt:lpstr>Implementing Multidimensional Arrays</vt:lpstr>
      <vt:lpstr>Two-dimensional Arrays in Memory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MARIUM HIDA</dc:creator>
  <cp:lastModifiedBy>marium hida</cp:lastModifiedBy>
  <cp:revision>178</cp:revision>
  <dcterms:created xsi:type="dcterms:W3CDTF">2022-02-08T07:35:31Z</dcterms:created>
  <dcterms:modified xsi:type="dcterms:W3CDTF">2025-08-17T16:51:14Z</dcterms:modified>
</cp:coreProperties>
</file>