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78" r:id="rId3"/>
    <p:sldId id="279" r:id="rId4"/>
    <p:sldId id="280" r:id="rId5"/>
    <p:sldId id="281" r:id="rId6"/>
    <p:sldId id="282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5"/>
    <p:sldId id="267" r:id="rId16"/>
    <p:sldId id="268" r:id="rId17"/>
    <p:sldId id="269" r:id="rId18"/>
    <p:sldId id="270" r:id="rId19"/>
    <p:sldId id="283" r:id="rId20"/>
    <p:sldId id="284" r:id="rId21"/>
    <p:sldId id="285" r:id="rId22"/>
    <p:sldId id="286" r:id="rId23"/>
    <p:sldId id="288" r:id="rId24"/>
    <p:sldId id="287" r:id="rId25"/>
    <p:sldId id="289" r:id="rId26"/>
    <p:sldId id="29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903" autoAdjust="0"/>
  </p:normalViewPr>
  <p:slideViewPr>
    <p:cSldViewPr snapToGrid="0">
      <p:cViewPr varScale="1">
        <p:scale>
          <a:sx n="70" d="100"/>
          <a:sy n="70" d="100"/>
        </p:scale>
        <p:origin x="10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71470-3643-4790-8935-C2582ACEAC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F1866-2F7B-495C-A237-BD6939CF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2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Relative difference compares one value to another. It is helpful in determining the percentage increase or decrease from one value to another.</a:t>
            </a:r>
            <a:b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F1866-2F7B-495C-A237-BD6939CF8F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19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5" y="4777383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2" y="4323814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D260FEE-EB6D-4F68-8468-5D29E2E5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629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7" y="624110"/>
            <a:ext cx="8911687" cy="705069"/>
          </a:xfrm>
        </p:spPr>
        <p:txBody>
          <a:bodyPr>
            <a:noAutofit/>
          </a:bodyPr>
          <a:lstStyle>
            <a:lvl1pPr algn="ctr">
              <a:defRPr sz="4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5499" y="1692487"/>
            <a:ext cx="8915400" cy="4576343"/>
          </a:xfrm>
        </p:spPr>
        <p:txBody>
          <a:bodyPr/>
          <a:lstStyle>
            <a:lvl1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709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2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7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5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32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5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5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92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5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8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5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3" y="3505200"/>
            <a:ext cx="753655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5026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3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43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332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17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4" y="627409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9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3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5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7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CEBA2-8050-4E0E-998B-9AF3BDE1F8D8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8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189" rtl="0" eaLnBrk="1" latinLnBrk="0" hangingPunct="1"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ACFFD79-EFC8-4FBD-B3D4-0B8D6AE0B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6962" y="3295651"/>
            <a:ext cx="8707437" cy="1529356"/>
          </a:xfrm>
        </p:spPr>
        <p:txBody>
          <a:bodyPr>
            <a:normAutofit/>
          </a:bodyPr>
          <a:lstStyle/>
          <a:p>
            <a:r>
              <a:rPr lang="fr-FR" sz="6600" dirty="0" err="1"/>
              <a:t>Complexity</a:t>
            </a:r>
            <a:r>
              <a:rPr lang="fr-FR" sz="6600" dirty="0"/>
              <a:t> Theory-II</a:t>
            </a:r>
            <a:endParaRPr lang="en-US" sz="6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C10BB6-9702-458F-B491-42711CC2B060}"/>
              </a:ext>
            </a:extLst>
          </p:cNvPr>
          <p:cNvSpPr txBox="1">
            <a:spLocks/>
          </p:cNvSpPr>
          <p:nvPr/>
        </p:nvSpPr>
        <p:spPr>
          <a:xfrm>
            <a:off x="2346960" y="357167"/>
            <a:ext cx="7133416" cy="91159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cap="small">
                <a:latin typeface="Calibri Light" panose="020F0302020204030204"/>
              </a:rPr>
              <a:t>Data structures</a:t>
            </a:r>
            <a:endParaRPr lang="en-US" sz="4400" b="1" cap="small" dirty="0"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392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8042-C1DD-4B09-8B05-77A418E4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Constant</a:t>
            </a:r>
            <a:r>
              <a:rPr lang="en-US" spc="-40" dirty="0"/>
              <a:t> </a:t>
            </a:r>
            <a:r>
              <a:rPr lang="en-US" spc="-5" dirty="0"/>
              <a:t>Factors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5789-7208-417C-8237-339EAB4D3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7665" indent="-342900">
              <a:spcBef>
                <a:spcPts val="615"/>
              </a:spcBef>
              <a:tabLst>
                <a:tab pos="368935" algn="l"/>
                <a:tab pos="369570" algn="l"/>
              </a:tabLst>
            </a:pPr>
            <a:r>
              <a:rPr lang="en-US" sz="2400" spc="-5" dirty="0"/>
              <a:t>The </a:t>
            </a:r>
            <a:r>
              <a:rPr lang="en-US" sz="2400" dirty="0"/>
              <a:t>growth </a:t>
            </a:r>
            <a:r>
              <a:rPr lang="en-US" sz="2400" spc="-5" dirty="0"/>
              <a:t>rate </a:t>
            </a:r>
            <a:r>
              <a:rPr lang="en-US" sz="2400" dirty="0"/>
              <a:t>is </a:t>
            </a:r>
            <a:r>
              <a:rPr lang="en-US" sz="2400" spc="-5" dirty="0"/>
              <a:t>not </a:t>
            </a:r>
            <a:r>
              <a:rPr lang="en-US" sz="2400" dirty="0"/>
              <a:t>affected</a:t>
            </a:r>
            <a:r>
              <a:rPr lang="en-US" sz="2400" spc="-65" dirty="0"/>
              <a:t> </a:t>
            </a:r>
            <a:r>
              <a:rPr lang="en-US" sz="2400" spc="5" dirty="0"/>
              <a:t>by</a:t>
            </a:r>
            <a:endParaRPr lang="en-US" sz="2400" dirty="0"/>
          </a:p>
          <a:p>
            <a:pPr marL="824230" lvl="1" indent="-342900">
              <a:spcBef>
                <a:spcPts val="465"/>
              </a:spcBef>
              <a:tabLst>
                <a:tab pos="768985" algn="l"/>
                <a:tab pos="769620" algn="l"/>
              </a:tabLst>
            </a:pPr>
            <a:r>
              <a:rPr lang="en-US" sz="2400" spc="-5" dirty="0"/>
              <a:t>Constant factors</a:t>
            </a:r>
            <a:r>
              <a:rPr lang="en-US" sz="2400" spc="40" dirty="0"/>
              <a:t> </a:t>
            </a:r>
            <a:r>
              <a:rPr lang="en-US" sz="2400" spc="-10" dirty="0"/>
              <a:t>or</a:t>
            </a:r>
            <a:endParaRPr lang="en-US" sz="2400" dirty="0"/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</a:tabLst>
            </a:pPr>
            <a:r>
              <a:rPr lang="en-US" sz="2400" spc="-10" dirty="0"/>
              <a:t>Lower-order</a:t>
            </a:r>
            <a:r>
              <a:rPr lang="en-US" sz="2400" spc="45" dirty="0"/>
              <a:t> </a:t>
            </a:r>
            <a:r>
              <a:rPr lang="en-US" sz="2400" dirty="0"/>
              <a:t>terms</a:t>
            </a:r>
          </a:p>
          <a:p>
            <a:pPr lvl="1">
              <a:spcBef>
                <a:spcPts val="20"/>
              </a:spcBef>
            </a:pPr>
            <a:endParaRPr lang="en-US" sz="2400" dirty="0"/>
          </a:p>
          <a:p>
            <a:pPr marL="367665" indent="-342900">
              <a:tabLst>
                <a:tab pos="368935" algn="l"/>
                <a:tab pos="369570" algn="l"/>
              </a:tabLst>
            </a:pPr>
            <a:r>
              <a:rPr lang="en-US" sz="2400" spc="-5" dirty="0"/>
              <a:t>Examples</a:t>
            </a:r>
            <a:endParaRPr lang="en-US" sz="2400" dirty="0"/>
          </a:p>
          <a:p>
            <a:pPr marL="824230" lvl="1" indent="-342900">
              <a:spcBef>
                <a:spcPts val="380"/>
              </a:spcBef>
              <a:tabLst>
                <a:tab pos="768985" algn="l"/>
                <a:tab pos="769620" algn="l"/>
                <a:tab pos="1389380" algn="l"/>
                <a:tab pos="1656714" algn="l"/>
                <a:tab pos="2146300" algn="l"/>
              </a:tabLst>
            </a:pPr>
            <a:r>
              <a:rPr lang="en-US" sz="2400" spc="-15" dirty="0"/>
              <a:t>10</a:t>
            </a:r>
            <a:r>
              <a:rPr lang="en-US" sz="2400" spc="-22" baseline="26666" dirty="0"/>
              <a:t>2</a:t>
            </a:r>
            <a:r>
              <a:rPr lang="en-US" sz="2400" spc="-15" dirty="0"/>
              <a:t>n	</a:t>
            </a:r>
            <a:r>
              <a:rPr lang="en-US" sz="2400" spc="-70" dirty="0"/>
              <a:t>+	</a:t>
            </a:r>
            <a:r>
              <a:rPr lang="en-US" sz="2400" spc="-10" dirty="0"/>
              <a:t>10</a:t>
            </a:r>
            <a:r>
              <a:rPr lang="en-US" sz="2400" spc="-15" baseline="26666" dirty="0"/>
              <a:t>5	</a:t>
            </a:r>
            <a:r>
              <a:rPr lang="en-US" sz="2400" spc="-5" dirty="0"/>
              <a:t>is a linear</a:t>
            </a:r>
            <a:r>
              <a:rPr lang="en-US" sz="2400" spc="40" dirty="0"/>
              <a:t> </a:t>
            </a:r>
            <a:r>
              <a:rPr lang="en-US" sz="2400" spc="-5" dirty="0"/>
              <a:t>function</a:t>
            </a:r>
            <a:endParaRPr lang="en-US" sz="2400" dirty="0"/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  <a:tab pos="1480185" algn="l"/>
                <a:tab pos="1747520" algn="l"/>
                <a:tab pos="2369185" algn="l"/>
              </a:tabLst>
            </a:pPr>
            <a:r>
              <a:rPr lang="en-US" sz="2400" spc="-10" dirty="0"/>
              <a:t>10</a:t>
            </a:r>
            <a:r>
              <a:rPr lang="en-US" sz="2400" spc="-15" baseline="26666" dirty="0"/>
              <a:t>5</a:t>
            </a:r>
            <a:r>
              <a:rPr lang="en-US" sz="2400" spc="-10" dirty="0"/>
              <a:t>n</a:t>
            </a:r>
            <a:r>
              <a:rPr lang="en-US" sz="2400" spc="-15" baseline="26666" dirty="0"/>
              <a:t>2 </a:t>
            </a:r>
            <a:r>
              <a:rPr lang="en-US" sz="2400" spc="-70" dirty="0"/>
              <a:t>+ </a:t>
            </a:r>
            <a:r>
              <a:rPr lang="en-US" sz="2400" spc="-15" dirty="0"/>
              <a:t>10</a:t>
            </a:r>
            <a:r>
              <a:rPr lang="en-US" sz="2400" spc="-22" baseline="26666" dirty="0"/>
              <a:t>8</a:t>
            </a:r>
            <a:r>
              <a:rPr lang="en-US" sz="2400" spc="-15" dirty="0"/>
              <a:t>n	</a:t>
            </a:r>
            <a:r>
              <a:rPr lang="en-US" sz="2400" spc="-5" dirty="0"/>
              <a:t>is a </a:t>
            </a:r>
            <a:r>
              <a:rPr lang="en-US" sz="2400" spc="-10" dirty="0"/>
              <a:t>quadratic</a:t>
            </a:r>
            <a:r>
              <a:rPr lang="en-US" sz="2400" spc="35" dirty="0"/>
              <a:t> </a:t>
            </a:r>
            <a:r>
              <a:rPr lang="en-US" sz="2400" spc="-5" dirty="0"/>
              <a:t>function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97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022B-9FCF-4232-BEFB-C5DDF1C1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Growth Rate –</a:t>
            </a:r>
            <a:r>
              <a:rPr lang="en-US" spc="-40" dirty="0"/>
              <a:t> </a:t>
            </a:r>
            <a:r>
              <a:rPr lang="en-US" spc="-5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903D-049F-4F22-B858-8513E1F37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0365" indent="-342900">
              <a:spcBef>
                <a:spcPts val="525"/>
              </a:spcBef>
              <a:tabLst>
                <a:tab pos="381635" algn="l"/>
                <a:tab pos="382270" algn="l"/>
              </a:tabLst>
            </a:pPr>
            <a:r>
              <a:rPr lang="en-US" sz="2400" spc="-5" dirty="0">
                <a:latin typeface="Tahoma"/>
                <a:cs typeface="Tahoma"/>
              </a:rPr>
              <a:t>Consider the </a:t>
            </a:r>
            <a:r>
              <a:rPr lang="en-US" sz="2400" dirty="0">
                <a:latin typeface="Tahoma"/>
                <a:cs typeface="Tahoma"/>
              </a:rPr>
              <a:t>two</a:t>
            </a:r>
            <a:r>
              <a:rPr lang="en-US" sz="2400" spc="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functions</a:t>
            </a:r>
          </a:p>
          <a:p>
            <a:pPr marL="151774" indent="0" algn="ctr">
              <a:spcBef>
                <a:spcPts val="380"/>
              </a:spcBef>
              <a:buNone/>
              <a:tabLst>
                <a:tab pos="781685" algn="l"/>
                <a:tab pos="1447800" algn="l"/>
                <a:tab pos="1713864" algn="l"/>
              </a:tabLst>
            </a:pPr>
            <a:r>
              <a:rPr lang="en-US" sz="2800" b="1" spc="335" dirty="0">
                <a:solidFill>
                  <a:srgbClr val="FF0000"/>
                </a:solidFill>
                <a:latin typeface="Arial"/>
                <a:cs typeface="Arial"/>
              </a:rPr>
              <a:t>f(</a:t>
            </a:r>
            <a:r>
              <a:rPr lang="en-US" sz="2800" b="1" i="1" spc="335" dirty="0">
                <a:solidFill>
                  <a:srgbClr val="FF0000"/>
                </a:solidFill>
                <a:latin typeface="LM Roman 12"/>
                <a:cs typeface="LM Roman 12"/>
              </a:rPr>
              <a:t>n</a:t>
            </a:r>
            <a:r>
              <a:rPr lang="en-US" sz="2800" b="1" spc="33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lang="en-US" sz="2800" b="1" spc="-7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z="2800" b="1" i="1" dirty="0">
                <a:solidFill>
                  <a:srgbClr val="FF0000"/>
                </a:solidFill>
                <a:latin typeface="LM Roman 12"/>
                <a:cs typeface="LM Roman 12"/>
              </a:rPr>
              <a:t>n</a:t>
            </a:r>
            <a:r>
              <a:rPr lang="en-US" sz="2800" b="1" baseline="26666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lang="en-US" sz="2800" b="1" baseline="26666" dirty="0">
              <a:latin typeface="Arial"/>
              <a:cs typeface="Arial"/>
            </a:endParaRPr>
          </a:p>
          <a:p>
            <a:pPr marL="151774" indent="0" algn="ctr">
              <a:spcBef>
                <a:spcPts val="430"/>
              </a:spcBef>
              <a:buNone/>
              <a:tabLst>
                <a:tab pos="781685" algn="l"/>
                <a:tab pos="1447800" algn="l"/>
                <a:tab pos="1713864" algn="l"/>
                <a:tab pos="2069464" algn="l"/>
                <a:tab pos="2336800" algn="l"/>
                <a:tab pos="2736850" algn="l"/>
                <a:tab pos="3004185" algn="l"/>
              </a:tabLst>
            </a:pPr>
            <a:r>
              <a:rPr lang="en-US" sz="2800" b="1" spc="200" dirty="0">
                <a:solidFill>
                  <a:srgbClr val="3333CC"/>
                </a:solidFill>
                <a:latin typeface="Arial"/>
                <a:cs typeface="Arial"/>
              </a:rPr>
              <a:t>g(</a:t>
            </a:r>
            <a:r>
              <a:rPr lang="en-US" sz="2800" b="1" i="1" spc="200" dirty="0">
                <a:solidFill>
                  <a:srgbClr val="3333CC"/>
                </a:solidFill>
                <a:latin typeface="LM Roman 12"/>
                <a:cs typeface="LM Roman 12"/>
              </a:rPr>
              <a:t>n</a:t>
            </a:r>
            <a:r>
              <a:rPr lang="en-US" sz="2800" b="1" spc="200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sz="2800" b="1" spc="-70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lang="en-US" sz="2800" b="1" i="1" dirty="0">
                <a:solidFill>
                  <a:srgbClr val="3333CC"/>
                </a:solidFill>
                <a:latin typeface="LM Roman 12"/>
                <a:cs typeface="LM Roman 12"/>
              </a:rPr>
              <a:t>n</a:t>
            </a:r>
            <a:r>
              <a:rPr lang="en-US" sz="2800" b="1" baseline="26666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r>
              <a:rPr lang="en-US" sz="2800" b="1" spc="-15" dirty="0">
                <a:solidFill>
                  <a:srgbClr val="3333CC"/>
                </a:solidFill>
                <a:latin typeface="Arial"/>
                <a:cs typeface="Arial"/>
              </a:rPr>
              <a:t>–</a:t>
            </a:r>
            <a:r>
              <a:rPr lang="en-US" sz="2800" b="1" spc="-10" dirty="0">
                <a:solidFill>
                  <a:srgbClr val="3333CC"/>
                </a:solidFill>
                <a:latin typeface="Arial"/>
                <a:cs typeface="Arial"/>
              </a:rPr>
              <a:t>3</a:t>
            </a:r>
            <a:r>
              <a:rPr lang="en-US" sz="2800" b="1" i="1" spc="-10" dirty="0">
                <a:solidFill>
                  <a:srgbClr val="3333CC"/>
                </a:solidFill>
                <a:latin typeface="LM Roman 12"/>
                <a:cs typeface="LM Roman 12"/>
              </a:rPr>
              <a:t>n</a:t>
            </a:r>
            <a:r>
              <a:rPr lang="en-US" sz="2800" b="1" spc="-70" dirty="0">
                <a:solidFill>
                  <a:srgbClr val="3333CC"/>
                </a:solidFill>
                <a:latin typeface="Arial"/>
                <a:cs typeface="Arial"/>
              </a:rPr>
              <a:t>+</a:t>
            </a:r>
            <a:r>
              <a:rPr lang="en-US" sz="2800" b="1" spc="-15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endParaRPr lang="en-US" sz="2800" b="1" dirty="0">
              <a:latin typeface="Arial"/>
              <a:cs typeface="Arial"/>
            </a:endParaRPr>
          </a:p>
          <a:p>
            <a:pPr marL="380365" indent="-342900">
              <a:spcBef>
                <a:spcPts val="520"/>
              </a:spcBef>
              <a:tabLst>
                <a:tab pos="381635" algn="l"/>
                <a:tab pos="382270" algn="l"/>
                <a:tab pos="1605280" algn="l"/>
                <a:tab pos="1895475" algn="l"/>
                <a:tab pos="2334260" algn="l"/>
              </a:tabLst>
            </a:pPr>
            <a:r>
              <a:rPr lang="en-US" sz="2400" spc="-5" dirty="0">
                <a:latin typeface="Tahoma"/>
                <a:cs typeface="Tahoma"/>
              </a:rPr>
              <a:t>Around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15" dirty="0">
                <a:latin typeface="Arial"/>
                <a:cs typeface="Arial"/>
              </a:rPr>
              <a:t>n	</a:t>
            </a:r>
            <a:r>
              <a:rPr lang="en-US" sz="2400" spc="-75" dirty="0">
                <a:latin typeface="Arial"/>
                <a:cs typeface="Arial"/>
              </a:rPr>
              <a:t>=	</a:t>
            </a:r>
            <a:r>
              <a:rPr lang="en-US" sz="2400" spc="275" dirty="0">
                <a:latin typeface="Arial"/>
                <a:cs typeface="Arial"/>
              </a:rPr>
              <a:t>0,	</a:t>
            </a:r>
            <a:r>
              <a:rPr lang="en-US" sz="2400" dirty="0">
                <a:latin typeface="Tahoma"/>
                <a:cs typeface="Tahoma"/>
              </a:rPr>
              <a:t>they </a:t>
            </a:r>
            <a:r>
              <a:rPr lang="en-US" sz="2400" spc="-5" dirty="0">
                <a:latin typeface="Tahoma"/>
                <a:cs typeface="Tahoma"/>
              </a:rPr>
              <a:t>look very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different</a:t>
            </a:r>
            <a:endParaRPr lang="en-US" sz="2400" dirty="0">
              <a:latin typeface="Tahoma"/>
              <a:cs typeface="Tahoma"/>
            </a:endParaRPr>
          </a:p>
          <a:p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473DE00-B2F1-42CA-8004-2FA2DD36DACA}"/>
              </a:ext>
            </a:extLst>
          </p:cNvPr>
          <p:cNvSpPr/>
          <p:nvPr/>
        </p:nvSpPr>
        <p:spPr>
          <a:xfrm>
            <a:off x="3786100" y="3945200"/>
            <a:ext cx="4619799" cy="2244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12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92C2-FE04-47BE-9417-23C93051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Growth Rate –</a:t>
            </a:r>
            <a:r>
              <a:rPr lang="en-US" spc="-40" dirty="0"/>
              <a:t> </a:t>
            </a:r>
            <a:r>
              <a:rPr lang="en-US" spc="-5" dirty="0"/>
              <a:t>Example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68C1D-DB04-4FB8-8493-85F497A48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Yet on the range n = [0, 1000], f(n) and g(n) are (relatively)  indistinguishable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6FFB0B-824F-4801-8F26-E7C534B2661C}"/>
              </a:ext>
            </a:extLst>
          </p:cNvPr>
          <p:cNvSpPr/>
          <p:nvPr/>
        </p:nvSpPr>
        <p:spPr>
          <a:xfrm>
            <a:off x="3710211" y="2482611"/>
            <a:ext cx="6665975" cy="4033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35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B7ABC-8CA2-4A66-ACAB-5453974D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Growth Rate –</a:t>
            </a:r>
            <a:r>
              <a:rPr lang="en-US" spc="-40" dirty="0"/>
              <a:t> </a:t>
            </a:r>
            <a:r>
              <a:rPr lang="en-US" spc="-5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4248B-9C4A-4962-8BEF-352D01C2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93065" indent="-342900">
              <a:spcBef>
                <a:spcPts val="495"/>
              </a:spcBef>
              <a:tabLst>
                <a:tab pos="394335" algn="l"/>
                <a:tab pos="394970" algn="l"/>
              </a:tabLst>
            </a:pPr>
            <a:r>
              <a:rPr lang="en-US" sz="2200" spc="-5" dirty="0"/>
              <a:t>The absolute </a:t>
            </a:r>
            <a:r>
              <a:rPr lang="en-US" sz="2200" dirty="0"/>
              <a:t>difference is </a:t>
            </a:r>
            <a:r>
              <a:rPr lang="en-US" sz="2200" spc="-5" dirty="0"/>
              <a:t>large, for</a:t>
            </a:r>
            <a:r>
              <a:rPr lang="en-US" sz="2200" spc="-25" dirty="0"/>
              <a:t> </a:t>
            </a:r>
            <a:r>
              <a:rPr lang="en-US" sz="2200" spc="-5" dirty="0"/>
              <a:t>example,</a:t>
            </a:r>
            <a:endParaRPr lang="en-US" sz="2200" dirty="0"/>
          </a:p>
          <a:p>
            <a:pPr marL="850265" lvl="1" indent="-285750">
              <a:spcBef>
                <a:spcPts val="355"/>
              </a:spcBef>
              <a:tabLst>
                <a:tab pos="794385" algn="l"/>
                <a:tab pos="1858645" algn="l"/>
                <a:tab pos="2125980" algn="l"/>
                <a:tab pos="2392680" algn="l"/>
                <a:tab pos="2925445" algn="l"/>
              </a:tabLst>
            </a:pPr>
            <a:r>
              <a:rPr lang="en-US" sz="2200" b="1" spc="185" dirty="0"/>
              <a:t>f(1000)</a:t>
            </a:r>
            <a:r>
              <a:rPr lang="en-US" sz="2200" b="1" spc="-70" dirty="0"/>
              <a:t>=</a:t>
            </a:r>
            <a:r>
              <a:rPr lang="en-US" sz="2200" b="1" spc="-15" dirty="0"/>
              <a:t>1</a:t>
            </a:r>
            <a:r>
              <a:rPr lang="en-US" sz="2200" b="1" spc="-10" dirty="0"/>
              <a:t>000000</a:t>
            </a:r>
            <a:endParaRPr lang="en-US" sz="2200" b="1" dirty="0"/>
          </a:p>
          <a:p>
            <a:pPr marL="850265" lvl="1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r>
              <a:rPr lang="en-US" sz="2200" b="1" spc="110" dirty="0"/>
              <a:t>g(1000)</a:t>
            </a:r>
            <a:r>
              <a:rPr lang="en-US" sz="2200" b="1" spc="-70" dirty="0"/>
              <a:t>=</a:t>
            </a:r>
            <a:r>
              <a:rPr lang="en-US" sz="2200" b="1" spc="-10" dirty="0"/>
              <a:t>997002</a:t>
            </a:r>
          </a:p>
          <a:p>
            <a:pPr marL="850265" lvl="1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endParaRPr lang="en-US" sz="2200" b="1" spc="-10" dirty="0"/>
          </a:p>
          <a:p>
            <a:pPr marL="393065" indent="-342900">
              <a:tabLst>
                <a:tab pos="394335" algn="l"/>
                <a:tab pos="394970" algn="l"/>
              </a:tabLst>
            </a:pPr>
            <a:r>
              <a:rPr lang="en-US" sz="2200" spc="-5" dirty="0"/>
              <a:t>But the relative difference </a:t>
            </a:r>
            <a:r>
              <a:rPr lang="en-US" sz="2200" dirty="0"/>
              <a:t>is very</a:t>
            </a:r>
            <a:r>
              <a:rPr lang="en-US" sz="2200" spc="5" dirty="0"/>
              <a:t> </a:t>
            </a:r>
            <a:r>
              <a:rPr lang="en-US" sz="2200" spc="-5" dirty="0"/>
              <a:t>small</a:t>
            </a:r>
          </a:p>
          <a:p>
            <a:pPr marL="50165" indent="0">
              <a:buNone/>
              <a:tabLst>
                <a:tab pos="394335" algn="l"/>
                <a:tab pos="394970" algn="l"/>
              </a:tabLst>
            </a:pPr>
            <a:endParaRPr lang="en-US" sz="2200" dirty="0"/>
          </a:p>
          <a:p>
            <a:pPr marL="450224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endParaRPr lang="en-US" sz="2200" b="1" spc="-10" dirty="0"/>
          </a:p>
          <a:p>
            <a:pPr marL="450224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endParaRPr lang="en-US" sz="2200" b="1" dirty="0"/>
          </a:p>
          <a:p>
            <a:endParaRPr lang="en-US" sz="2200" spc="-10" dirty="0"/>
          </a:p>
          <a:p>
            <a:r>
              <a:rPr lang="en-US" sz="2200" spc="-10" dirty="0"/>
              <a:t>The </a:t>
            </a:r>
            <a:r>
              <a:rPr lang="en-US" sz="2200" spc="-5" dirty="0"/>
              <a:t>difference </a:t>
            </a:r>
            <a:r>
              <a:rPr lang="en-US" sz="2200" spc="-10" dirty="0"/>
              <a:t>goes </a:t>
            </a:r>
            <a:r>
              <a:rPr lang="en-US" sz="2200" dirty="0"/>
              <a:t>to </a:t>
            </a:r>
            <a:r>
              <a:rPr lang="en-US" sz="2200" spc="-5" dirty="0"/>
              <a:t>zero</a:t>
            </a:r>
            <a:r>
              <a:rPr lang="en-US" sz="2200" spc="175" dirty="0"/>
              <a:t> </a:t>
            </a:r>
            <a:r>
              <a:rPr lang="en-US" sz="2200" spc="-10" dirty="0"/>
              <a:t>as</a:t>
            </a:r>
            <a:r>
              <a:rPr lang="en-US" sz="2200" spc="20" dirty="0"/>
              <a:t> </a:t>
            </a:r>
            <a:r>
              <a:rPr lang="en-US" sz="2200" i="1" spc="-5" dirty="0"/>
              <a:t>n	</a:t>
            </a:r>
            <a:r>
              <a:rPr lang="en-US" sz="2200" i="1" spc="-765" dirty="0"/>
              <a:t>→	</a:t>
            </a:r>
            <a:r>
              <a:rPr lang="en-US" sz="2200" spc="-315" dirty="0"/>
              <a:t>∞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ED703-D71B-4302-94BC-1098D5BEF5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5565" y="4029389"/>
            <a:ext cx="4840870" cy="113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7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F182-8C0B-43C6-A7AC-9EADAE9E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Constant</a:t>
            </a:r>
            <a:r>
              <a:rPr lang="en-US" spc="-40" dirty="0"/>
              <a:t> </a:t>
            </a:r>
            <a:r>
              <a:rPr lang="en-US" spc="-5" dirty="0"/>
              <a:t>Factors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A0D6-5833-4F93-81EB-C6A84F949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7665" marR="17780" indent="-342900">
              <a:tabLst>
                <a:tab pos="368935" algn="l"/>
                <a:tab pos="369570" algn="l"/>
              </a:tabLst>
            </a:pPr>
            <a:r>
              <a:rPr lang="en-US" sz="2400" spc="-10" dirty="0"/>
              <a:t>How do </a:t>
            </a:r>
            <a:r>
              <a:rPr lang="en-US" sz="2400" spc="-5" dirty="0"/>
              <a:t>we </a:t>
            </a:r>
            <a:r>
              <a:rPr lang="en-US" sz="2400" dirty="0"/>
              <a:t>get </a:t>
            </a:r>
            <a:r>
              <a:rPr lang="en-US" sz="2400" spc="-5" dirty="0"/>
              <a:t>rid of </a:t>
            </a:r>
            <a:r>
              <a:rPr lang="en-US" sz="2400" spc="5" dirty="0"/>
              <a:t>the </a:t>
            </a:r>
            <a:r>
              <a:rPr lang="en-US" sz="2400" dirty="0"/>
              <a:t>constant factors </a:t>
            </a:r>
            <a:r>
              <a:rPr lang="en-US" sz="2400" spc="5" dirty="0"/>
              <a:t>to </a:t>
            </a:r>
            <a:r>
              <a:rPr lang="en-US" sz="2400" spc="-5" dirty="0"/>
              <a:t>focus </a:t>
            </a:r>
            <a:r>
              <a:rPr lang="en-US" sz="2400" spc="-10" dirty="0"/>
              <a:t>on </a:t>
            </a:r>
            <a:r>
              <a:rPr lang="en-US" sz="2400" spc="5" dirty="0"/>
              <a:t>the </a:t>
            </a:r>
            <a:r>
              <a:rPr lang="en-US" sz="2400" spc="-5" dirty="0"/>
              <a:t>essential  part of </a:t>
            </a:r>
            <a:r>
              <a:rPr lang="en-US" sz="2400" spc="5" dirty="0"/>
              <a:t>the </a:t>
            </a:r>
            <a:r>
              <a:rPr lang="en-US" sz="2400" dirty="0"/>
              <a:t>running</a:t>
            </a:r>
            <a:r>
              <a:rPr lang="en-US" sz="2400" spc="-10" dirty="0"/>
              <a:t> </a:t>
            </a:r>
            <a:r>
              <a:rPr lang="en-US" sz="2400" spc="-5" dirty="0"/>
              <a:t>time?</a:t>
            </a:r>
            <a:endParaRPr lang="en-US" sz="2400" dirty="0"/>
          </a:p>
          <a:p>
            <a:pPr marL="824230" lvl="1" indent="-342900">
              <a:spcBef>
                <a:spcPts val="465"/>
              </a:spcBef>
              <a:tabLst>
                <a:tab pos="768985" algn="l"/>
                <a:tab pos="769620" algn="l"/>
              </a:tabLst>
            </a:pPr>
            <a:r>
              <a:rPr lang="en-US" sz="2400" spc="-5" dirty="0"/>
              <a:t>Asymptotic</a:t>
            </a:r>
            <a:r>
              <a:rPr lang="en-US" sz="2400" spc="25" dirty="0"/>
              <a:t> </a:t>
            </a:r>
            <a:r>
              <a:rPr lang="en-US" sz="2400" spc="-5" dirty="0"/>
              <a:t>Analysis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666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F14B-21FC-4A7F-A5FE-D07F215C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/>
              <a:t>Asymptotic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7AC19-267C-45BA-A915-460CA92D2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In computer science and applied mathematics, particularly the analysis of algorithms, asymptotic analysis is a method of describing limiting behavior.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Examples The performance of algorithms when applied to very large input data</a:t>
            </a:r>
          </a:p>
        </p:txBody>
      </p:sp>
    </p:spTree>
    <p:extLst>
      <p:ext uri="{BB962C8B-B14F-4D97-AF65-F5344CB8AC3E}">
        <p14:creationId xmlns:p14="http://schemas.microsoft.com/office/powerpoint/2010/main" val="802243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1525-F0F3-4CB2-A124-C673E5AE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Comparing Functions: Asymptotic Notation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1A62-1AA6-4766-B21F-990B55C3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Big Oh Notation: Upper bound (worst case)</a:t>
            </a:r>
          </a:p>
          <a:p>
            <a:r>
              <a:rPr lang="en-US" sz="2800" dirty="0"/>
              <a:t>Omega Notation: Lower bound (best case)</a:t>
            </a:r>
          </a:p>
          <a:p>
            <a:r>
              <a:rPr lang="en-US" sz="2800" dirty="0"/>
              <a:t>Theta Notation: Tighter bound (average case)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3729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352E-7985-45A8-9517-F44BE0A1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Upper Bound – Big-Oh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2CA96-DE58-49D5-ACCE-CE4DC7A3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Indicates the upper or highest growth rate that the algorithm can  have</a:t>
            </a:r>
          </a:p>
          <a:p>
            <a:pPr lvl="1"/>
            <a:r>
              <a:rPr lang="en-US" sz="2200" dirty="0"/>
              <a:t>Ignore constant factors and lower order terms</a:t>
            </a:r>
          </a:p>
          <a:p>
            <a:pPr lvl="1"/>
            <a:r>
              <a:rPr lang="en-US" sz="2200" dirty="0"/>
              <a:t>Focus on main components of a function which affect its growth</a:t>
            </a:r>
          </a:p>
        </p:txBody>
      </p:sp>
    </p:spTree>
    <p:extLst>
      <p:ext uri="{BB962C8B-B14F-4D97-AF65-F5344CB8AC3E}">
        <p14:creationId xmlns:p14="http://schemas.microsoft.com/office/powerpoint/2010/main" val="30396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6A36-9170-4895-9B0D-1B4276AAB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Upper Bound – Big-Oh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34F7-ECAE-4C34-B5A6-2CEA0D759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f(N) and g(N) are two complexity functions, we say</a:t>
            </a:r>
          </a:p>
          <a:p>
            <a:pPr marL="0" indent="0" algn="ctr">
              <a:buNone/>
            </a:pPr>
            <a:r>
              <a:rPr lang="en-US" dirty="0"/>
              <a:t>		f(n) = O(g(n))</a:t>
            </a:r>
          </a:p>
          <a:p>
            <a:r>
              <a:rPr lang="en-US" dirty="0"/>
              <a:t>	(read "f(n) is big-O of g(n)")</a:t>
            </a:r>
          </a:p>
          <a:p>
            <a:endParaRPr lang="en-US" dirty="0"/>
          </a:p>
          <a:p>
            <a:r>
              <a:rPr lang="en-US" dirty="0"/>
              <a:t>There are positive constants c and n</a:t>
            </a:r>
            <a:r>
              <a:rPr lang="en-US" baseline="-25000" dirty="0"/>
              <a:t>0</a:t>
            </a:r>
            <a:r>
              <a:rPr lang="en-US" dirty="0"/>
              <a:t> such that</a:t>
            </a:r>
          </a:p>
          <a:p>
            <a:pPr marL="0" indent="0" algn="ctr">
              <a:buNone/>
            </a:pPr>
            <a:r>
              <a:rPr lang="en-US" dirty="0"/>
              <a:t>	f(n) ≤ c g(n) when n ≥ n</a:t>
            </a:r>
            <a:r>
              <a:rPr lang="en-US" baseline="-25000" dirty="0"/>
              <a:t>0</a:t>
            </a:r>
          </a:p>
          <a:p>
            <a:r>
              <a:rPr lang="en-US" dirty="0"/>
              <a:t>The growth rate of f(n) is less than or equal to the growth rate of g(n). In other words, f(n) grows no faster than g(n) for large N.</a:t>
            </a:r>
          </a:p>
          <a:p>
            <a:r>
              <a:rPr lang="en-US" dirty="0"/>
              <a:t> </a:t>
            </a:r>
            <a:r>
              <a:rPr lang="en-US"/>
              <a:t>g(n) </a:t>
            </a:r>
            <a:r>
              <a:rPr lang="en-US" dirty="0"/>
              <a:t>is an upper bound on f(n).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3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41EC-E6B7-49E1-BEE7-14136B35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Growth Rate of the Algorithm Running Time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02561-E8F7-4144-B854-BB01BE4B1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437" y="1329179"/>
            <a:ext cx="6623125" cy="5116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809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EC0A-08DD-4624-9981-441D65CF2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Big-Oh Notation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B7FA-39E3-42DF-B7BD-12735DC1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When considering the growth rate of a function using Big-Oh notation,</a:t>
            </a:r>
          </a:p>
          <a:p>
            <a:pPr lvl="1">
              <a:spcBef>
                <a:spcPts val="500"/>
              </a:spcBef>
              <a:buSzPct val="100000"/>
              <a:defRPr/>
            </a:pPr>
            <a:r>
              <a:rPr lang="en-US" altLang="en-US" sz="2000" dirty="0">
                <a:cs typeface="AR PL SungtiL GB" charset="0"/>
              </a:rPr>
              <a:t>we ignore the lower order terms </a:t>
            </a:r>
          </a:p>
          <a:p>
            <a:pPr lvl="1">
              <a:spcBef>
                <a:spcPts val="500"/>
              </a:spcBef>
              <a:buSzPct val="100000"/>
              <a:defRPr/>
            </a:pPr>
            <a:r>
              <a:rPr lang="en-US" altLang="en-US" sz="2000" dirty="0">
                <a:cs typeface="AR PL SungtiL GB" charset="0"/>
              </a:rPr>
              <a:t>We ignore the coefficients of the highest-order term; and</a:t>
            </a:r>
          </a:p>
          <a:p>
            <a:pPr lvl="1">
              <a:spcBef>
                <a:spcPts val="500"/>
              </a:spcBef>
              <a:buSzPct val="100000"/>
              <a:defRPr/>
            </a:pPr>
            <a:r>
              <a:rPr lang="en-US" altLang="en-US" sz="2000" dirty="0">
                <a:cs typeface="AR PL SungtiL GB" charset="0"/>
              </a:rPr>
              <a:t>we don’t need to specify the base of logarithm</a:t>
            </a:r>
          </a:p>
          <a:p>
            <a:pPr lvl="2">
              <a:spcBef>
                <a:spcPts val="500"/>
              </a:spcBef>
              <a:buSzPct val="100000"/>
              <a:defRPr/>
            </a:pPr>
            <a:r>
              <a:rPr lang="en-US" altLang="en-US" sz="2000" dirty="0">
                <a:cs typeface="AR PL SungtiL GB" charset="0"/>
              </a:rPr>
              <a:t>Note that changing the base from one constant to another changes the value of the logarithm by only a constant factor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661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09DD-6C05-4848-83FC-4E48410A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56DCF-F2BB-4A45-A6B5-DA0D8E72A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200" dirty="0">
                <a:cs typeface="AR PL SungtiL GB" charset="0"/>
              </a:rPr>
              <a:t>N</a:t>
            </a:r>
            <a:r>
              <a:rPr lang="en-US" altLang="en-US" sz="2200" baseline="30000" dirty="0">
                <a:cs typeface="AR PL SungtiL GB" charset="0"/>
              </a:rPr>
              <a:t>2</a:t>
            </a:r>
            <a:r>
              <a:rPr lang="en-US" altLang="en-US" sz="2200" dirty="0">
                <a:cs typeface="AR PL SungtiL GB" charset="0"/>
              </a:rPr>
              <a:t> / 2 – 3N = O(N</a:t>
            </a:r>
            <a:r>
              <a:rPr lang="en-US" altLang="en-US" sz="2200" baseline="30000" dirty="0">
                <a:cs typeface="AR PL SungtiL GB" charset="0"/>
              </a:rPr>
              <a:t>2</a:t>
            </a:r>
            <a:r>
              <a:rPr lang="en-US" altLang="en-US" sz="2200" dirty="0">
                <a:cs typeface="AR PL SungtiL GB" charset="0"/>
              </a:rPr>
              <a:t>)</a:t>
            </a:r>
          </a:p>
          <a:p>
            <a:pPr marL="342909" indent="-342900">
              <a:spcBef>
                <a:spcPts val="500"/>
              </a:spcBef>
              <a:buSzPct val="100000"/>
              <a:defRPr/>
            </a:pPr>
            <a:r>
              <a:rPr lang="en-US" altLang="en-US" sz="2200" dirty="0">
                <a:cs typeface="AR PL SungtiL GB" charset="0"/>
              </a:rPr>
              <a:t>(We throw away leading constants and low-order terms.)</a:t>
            </a:r>
          </a:p>
          <a:p>
            <a:pPr marL="342909" indent="-342900">
              <a:spcBef>
                <a:spcPts val="500"/>
              </a:spcBef>
              <a:buSzPct val="100000"/>
              <a:defRPr/>
            </a:pPr>
            <a:endParaRPr lang="en-US" sz="2200" dirty="0"/>
          </a:p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200" dirty="0">
                <a:cs typeface="AR PL SungtiL GB" charset="0"/>
              </a:rPr>
              <a:t>1+4N = O(N)</a:t>
            </a:r>
          </a:p>
          <a:p>
            <a:pPr>
              <a:spcBef>
                <a:spcPts val="600"/>
              </a:spcBef>
              <a:buSzPct val="100000"/>
              <a:defRPr/>
            </a:pPr>
            <a:r>
              <a:rPr lang="pt-BR" altLang="en-US" sz="2200" dirty="0">
                <a:cs typeface="AR PL SungtiL GB" charset="0"/>
              </a:rPr>
              <a:t>7</a:t>
            </a:r>
            <a:r>
              <a:rPr lang="en-US" altLang="en-US" sz="2200" dirty="0">
                <a:cs typeface="AR PL SungtiL GB" charset="0"/>
              </a:rPr>
              <a:t> N</a:t>
            </a:r>
            <a:r>
              <a:rPr lang="en-US" altLang="en-US" sz="2200" baseline="30000" dirty="0">
                <a:cs typeface="AR PL SungtiL GB" charset="0"/>
              </a:rPr>
              <a:t>2</a:t>
            </a:r>
            <a:r>
              <a:rPr lang="pt-BR" altLang="en-US" sz="2200" dirty="0">
                <a:cs typeface="AR PL SungtiL GB" charset="0"/>
              </a:rPr>
              <a:t> + 10N + 3 = O(</a:t>
            </a:r>
            <a:r>
              <a:rPr lang="en-US" altLang="en-US" sz="2200" dirty="0">
                <a:cs typeface="AR PL SungtiL GB" charset="0"/>
              </a:rPr>
              <a:t>N</a:t>
            </a:r>
            <a:r>
              <a:rPr lang="en-US" altLang="en-US" sz="2200" baseline="30000" dirty="0">
                <a:cs typeface="AR PL SungtiL GB" charset="0"/>
              </a:rPr>
              <a:t>2</a:t>
            </a:r>
            <a:r>
              <a:rPr lang="pt-BR" altLang="en-US" sz="2200" dirty="0">
                <a:cs typeface="AR PL SungtiL GB" charset="0"/>
              </a:rPr>
              <a:t>)</a:t>
            </a:r>
          </a:p>
          <a:p>
            <a:pPr>
              <a:spcBef>
                <a:spcPts val="600"/>
              </a:spcBef>
              <a:buSzPct val="100000"/>
              <a:defRPr/>
            </a:pPr>
            <a:r>
              <a:rPr lang="pt-BR" altLang="en-US" sz="2200" dirty="0">
                <a:cs typeface="AR PL SungtiL GB" charset="0"/>
              </a:rPr>
              <a:t>log N + N = O(N)</a:t>
            </a:r>
          </a:p>
          <a:p>
            <a:pPr>
              <a:spcBef>
                <a:spcPts val="600"/>
              </a:spcBef>
              <a:buSzPct val="100000"/>
              <a:defRPr/>
            </a:pPr>
            <a:endParaRPr lang="pt-BR" altLang="en-US" sz="2400" dirty="0">
              <a:cs typeface="AR PL SungtiL GB" charset="0"/>
            </a:endParaRPr>
          </a:p>
          <a:p>
            <a:pPr>
              <a:spcBef>
                <a:spcPts val="600"/>
              </a:spcBef>
              <a:buSzPct val="100000"/>
              <a:defRPr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136FA-02C4-4090-881D-8B1E41926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77" y="4342414"/>
            <a:ext cx="6707124" cy="49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61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C6F8-9DC3-428A-9189-597CED08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Big-Oh Notation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8874-0FEF-444C-859C-F706874C1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Example: </a:t>
            </a:r>
            <a:r>
              <a:rPr lang="en-US" altLang="en-US" sz="2800" dirty="0">
                <a:latin typeface="Times New Roman" panose="02020603050405020304" pitchFamily="18" charset="0"/>
              </a:rPr>
              <a:t>2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Symbol" panose="05050102010706020507" pitchFamily="18" charset="2"/>
              </a:rPr>
              <a:t></a:t>
            </a:r>
            <a:r>
              <a:rPr lang="en-US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</a:rPr>
              <a:t>10</a:t>
            </a:r>
            <a:r>
              <a:rPr lang="en-US" altLang="en-US" sz="2800" dirty="0"/>
              <a:t> is 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800" dirty="0">
                <a:latin typeface="Times New Roman" panose="02020603050405020304" pitchFamily="18" charset="0"/>
              </a:rPr>
              <a:t>(</a:t>
            </a:r>
            <a:r>
              <a:rPr lang="en-US" altLang="en-US" sz="2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800" dirty="0"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2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</a:t>
            </a:r>
            <a:r>
              <a:rPr lang="en-US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</a:t>
            </a:r>
            <a:r>
              <a:rPr lang="en-US" altLang="en-US" sz="2400" dirty="0"/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cn</a:t>
            </a:r>
            <a:endParaRPr lang="en-US" altLang="en-US" sz="2400" b="1" i="1" dirty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</a:t>
            </a:r>
            <a:r>
              <a:rPr lang="en-US" altLang="en-US" sz="2400" dirty="0"/>
              <a:t> </a:t>
            </a:r>
            <a:r>
              <a:rPr lang="en-US" altLang="en-US" sz="2400" b="1" i="1" dirty="0" err="1">
                <a:latin typeface="Times New Roman" panose="02020603050405020304" pitchFamily="18" charset="0"/>
              </a:rPr>
              <a:t>cn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 – 2n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</a:rPr>
              <a:t> 2)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Symbol" panose="05050102010706020507" pitchFamily="18" charset="2"/>
              </a:rPr>
              <a:t></a:t>
            </a: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defRPr/>
            </a:pPr>
            <a:r>
              <a:rPr lang="en-US" altLang="en-US" sz="24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400" dirty="0">
                <a:latin typeface="Symbol" panose="05050102010706020507" pitchFamily="18" charset="2"/>
              </a:rPr>
              <a:t></a:t>
            </a: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  <a:r>
              <a:rPr lang="en-US" altLang="en-US" sz="2400" dirty="0">
                <a:latin typeface="Symbol" panose="05050102010706020507" pitchFamily="18" charset="2"/>
              </a:rPr>
              <a:t></a:t>
            </a:r>
            <a:r>
              <a:rPr lang="en-US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Symbol" panose="05050102010706020507" pitchFamily="18" charset="2"/>
              </a:rPr>
              <a:t></a:t>
            </a:r>
            <a:r>
              <a:rPr lang="en-US" altLang="en-US" sz="2400" dirty="0">
                <a:latin typeface="Times New Roman" panose="02020603050405020304" pitchFamily="18" charset="0"/>
              </a:rPr>
              <a:t> 2)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Pick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c </a:t>
            </a:r>
            <a:r>
              <a:rPr lang="en-US" altLang="en-US" sz="2400" dirty="0">
                <a:latin typeface="Symbol" panose="05050102010706020507" pitchFamily="18" charset="2"/>
              </a:rPr>
              <a:t></a:t>
            </a:r>
            <a:r>
              <a:rPr lang="en-US" altLang="en-US" sz="2400" dirty="0">
                <a:latin typeface="Times New Roman" panose="02020603050405020304" pitchFamily="18" charset="0"/>
              </a:rPr>
              <a:t>3 </a:t>
            </a:r>
            <a:r>
              <a:rPr lang="en-US" altLang="en-US" sz="2400" dirty="0"/>
              <a:t>and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400" b="1" baseline="-25000" dirty="0">
                <a:latin typeface="Times New Roman" panose="02020603050405020304" pitchFamily="18" charset="0"/>
              </a:rPr>
              <a:t>0 </a:t>
            </a:r>
            <a:r>
              <a:rPr lang="en-US" altLang="en-US" sz="2400" dirty="0">
                <a:latin typeface="Symbol" panose="05050102010706020507" pitchFamily="18" charset="2"/>
              </a:rPr>
              <a:t></a:t>
            </a:r>
            <a:r>
              <a:rPr lang="en-US" altLang="en-US" sz="2400" dirty="0">
                <a:latin typeface="Times New Roman" panose="02020603050405020304" pitchFamily="18" charset="0"/>
              </a:rPr>
              <a:t>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755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E0B7-AEAF-442C-BA59-019E5A7B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Big-Oh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5DF7F-1B51-49AC-AACD-9BF6481F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Example: the function </a:t>
            </a:r>
            <a:r>
              <a:rPr lang="en-US" altLang="en-US" sz="2400" b="1" i="1" dirty="0">
                <a:latin typeface="Times New Roman" panose="02020603050405020304" pitchFamily="18" charset="0"/>
                <a:cs typeface="AR PL SungtiL GB" charset="0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cs typeface="AR PL SungtiL GB" charset="0"/>
              </a:rPr>
              <a:t>2</a:t>
            </a:r>
            <a:r>
              <a:rPr lang="en-US" altLang="en-US" sz="2400" b="1" dirty="0">
                <a:latin typeface="Times New Roman" panose="02020603050405020304" pitchFamily="18" charset="0"/>
                <a:cs typeface="AR PL SungtiL GB" charset="0"/>
              </a:rPr>
              <a:t> </a:t>
            </a:r>
            <a:r>
              <a:rPr lang="en-US" altLang="en-US" sz="2400" dirty="0">
                <a:cs typeface="AR PL SungtiL GB" charset="0"/>
              </a:rPr>
              <a:t>is not </a:t>
            </a:r>
            <a:r>
              <a:rPr lang="en-US" altLang="en-US" sz="2400" b="1" i="1" dirty="0">
                <a:latin typeface="Times New Roman" panose="02020603050405020304" pitchFamily="18" charset="0"/>
                <a:cs typeface="AR PL SungtiL GB" charset="0"/>
              </a:rPr>
              <a:t>O</a:t>
            </a:r>
            <a:r>
              <a:rPr lang="en-US" altLang="en-US" sz="2400" dirty="0">
                <a:latin typeface="Times New Roman" panose="02020603050405020304" pitchFamily="18" charset="0"/>
                <a:cs typeface="AR PL SungtiL GB" charset="0"/>
              </a:rPr>
              <a:t>(</a:t>
            </a:r>
            <a:r>
              <a:rPr lang="en-US" altLang="en-US" sz="2400" b="1" i="1" dirty="0">
                <a:latin typeface="Times New Roman" panose="02020603050405020304" pitchFamily="18" charset="0"/>
                <a:cs typeface="AR PL SungtiL GB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AR PL SungtiL GB" charset="0"/>
              </a:rPr>
              <a:t>)</a:t>
            </a:r>
          </a:p>
          <a:p>
            <a:pPr marL="457188" lvl="1" indent="0" algn="ctr">
              <a:spcBef>
                <a:spcPts val="500"/>
              </a:spcBef>
              <a:buSzPct val="100000"/>
              <a:buNone/>
              <a:defRPr/>
            </a:pPr>
            <a:r>
              <a:rPr lang="en-US" altLang="en-US" sz="2000" b="1" i="1" dirty="0">
                <a:latin typeface="Times New Roman" panose="02020603050405020304" pitchFamily="18" charset="0"/>
                <a:cs typeface="AR PL SungtiL GB" charset="0"/>
              </a:rPr>
              <a:t>n</a:t>
            </a:r>
            <a:r>
              <a:rPr lang="en-US" altLang="en-US" sz="2000" baseline="30000" dirty="0">
                <a:latin typeface="Times New Roman" panose="02020603050405020304" pitchFamily="18" charset="0"/>
                <a:cs typeface="AR PL SungtiL GB" charset="0"/>
              </a:rPr>
              <a:t>2</a:t>
            </a:r>
            <a:r>
              <a:rPr lang="en-US" altLang="en-US" sz="2000" b="1" i="1" dirty="0">
                <a:latin typeface="Times New Roman" panose="02020603050405020304" pitchFamily="18" charset="0"/>
                <a:cs typeface="AR PL SungtiL GB" charset="0"/>
              </a:rPr>
              <a:t> </a:t>
            </a:r>
            <a:r>
              <a:rPr lang="en-US" altLang="en-US" sz="2000" dirty="0">
                <a:latin typeface="Symbol" panose="05050102010706020507" pitchFamily="18" charset="2"/>
              </a:rPr>
              <a:t></a:t>
            </a:r>
            <a:r>
              <a:rPr lang="en-US" altLang="en-US" sz="2000" dirty="0">
                <a:cs typeface="AR PL SungtiL GB" charset="0"/>
              </a:rPr>
              <a:t> </a:t>
            </a:r>
            <a:r>
              <a:rPr lang="en-US" altLang="en-US" sz="2000" b="1" i="1" dirty="0" err="1">
                <a:latin typeface="Times New Roman" panose="02020603050405020304" pitchFamily="18" charset="0"/>
                <a:cs typeface="AR PL SungtiL GB" charset="0"/>
              </a:rPr>
              <a:t>cn</a:t>
            </a:r>
            <a:endParaRPr lang="en-US" altLang="en-US" sz="2000" b="1" i="1" dirty="0">
              <a:latin typeface="Times New Roman" panose="02020603050405020304" pitchFamily="18" charset="0"/>
              <a:cs typeface="AR PL SungtiL GB" charset="0"/>
            </a:endParaRPr>
          </a:p>
          <a:p>
            <a:pPr marL="457188" lvl="1" indent="0" algn="ctr">
              <a:spcBef>
                <a:spcPts val="500"/>
              </a:spcBef>
              <a:buSzPct val="100000"/>
              <a:buNone/>
              <a:defRPr/>
            </a:pPr>
            <a:r>
              <a:rPr lang="en-US" altLang="en-US" sz="2000" b="1" i="1" dirty="0">
                <a:latin typeface="Times New Roman" panose="02020603050405020304" pitchFamily="18" charset="0"/>
                <a:cs typeface="AR PL SungtiL GB" charset="0"/>
              </a:rPr>
              <a:t>n </a:t>
            </a:r>
            <a:r>
              <a:rPr lang="en-US" altLang="en-US" sz="2000" dirty="0">
                <a:latin typeface="Symbol" panose="05050102010706020507" pitchFamily="18" charset="2"/>
              </a:rPr>
              <a:t></a:t>
            </a:r>
            <a:r>
              <a:rPr lang="en-US" altLang="en-US" sz="2000" dirty="0">
                <a:cs typeface="AR PL SungtiL GB" charset="0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  <a:cs typeface="AR PL SungtiL GB" charset="0"/>
              </a:rPr>
              <a:t>c</a:t>
            </a:r>
          </a:p>
          <a:p>
            <a:pPr lvl="1">
              <a:spcBef>
                <a:spcPts val="500"/>
              </a:spcBef>
              <a:buSzPct val="100000"/>
              <a:defRPr/>
            </a:pPr>
            <a:r>
              <a:rPr lang="en-US" altLang="en-US" sz="2000" dirty="0">
                <a:cs typeface="AR PL SungtiL GB" charset="0"/>
              </a:rPr>
              <a:t>The above inequality cannot be satisfied since </a:t>
            </a:r>
            <a:r>
              <a:rPr lang="en-US" altLang="en-US" sz="2000" b="1" i="1" dirty="0">
                <a:latin typeface="Times New Roman" panose="02020603050405020304" pitchFamily="18" charset="0"/>
                <a:cs typeface="AR PL SungtiL GB" charset="0"/>
              </a:rPr>
              <a:t>c</a:t>
            </a:r>
            <a:r>
              <a:rPr lang="en-US" altLang="en-US" sz="2000" dirty="0">
                <a:cs typeface="AR PL SungtiL GB" charset="0"/>
              </a:rPr>
              <a:t> must be a constant and </a:t>
            </a:r>
            <a:r>
              <a:rPr lang="en-US" altLang="en-US" sz="2000" b="1" i="1" dirty="0">
                <a:cs typeface="AR PL SungtiL GB" charset="0"/>
              </a:rPr>
              <a:t>n</a:t>
            </a:r>
            <a:r>
              <a:rPr lang="en-US" altLang="en-US" sz="2000" dirty="0">
                <a:cs typeface="AR PL SungtiL GB" charset="0"/>
              </a:rPr>
              <a:t> can take any non-negative integral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515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777E1-3DDE-4EDF-899A-4006A4A4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cs typeface="Arial" panose="020B0604020202020204" pitchFamily="34" charset="0"/>
              </a:rPr>
              <a:t>Big-Oh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6B57-56CB-4CCE-9CE1-54010E2D7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/>
              <a:t>7n-2</a:t>
            </a:r>
            <a:r>
              <a:rPr lang="en-US" altLang="en-US" sz="2000" b="1" dirty="0">
                <a:ea typeface="宋体" panose="02010600030101010101" pitchFamily="2" charset="-122"/>
              </a:rPr>
              <a:t> is O(n)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need </a:t>
            </a:r>
            <a:r>
              <a:rPr lang="en-US" altLang="en-US" sz="2000" dirty="0">
                <a:ea typeface="宋体" panose="02010600030101010101" pitchFamily="2" charset="-122"/>
                <a:cs typeface="Arial" panose="020B0604020202020204" pitchFamily="34" charset="0"/>
              </a:rPr>
              <a:t>to find two positive constants: </a:t>
            </a:r>
            <a:r>
              <a:rPr lang="en-US" altLang="en-US" sz="2000" dirty="0">
                <a:cs typeface="Arial" panose="020B0604020202020204" pitchFamily="34" charset="0"/>
              </a:rPr>
              <a:t>c</a:t>
            </a:r>
            <a:r>
              <a:rPr lang="en-US" altLang="en-US" sz="2000" dirty="0">
                <a:ea typeface="宋体" panose="02010600030101010101" pitchFamily="2" charset="-122"/>
              </a:rPr>
              <a:t>, </a:t>
            </a:r>
            <a:r>
              <a:rPr lang="en-US" altLang="en-US" sz="2000" dirty="0">
                <a:cs typeface="Arial" panose="020B0604020202020204" pitchFamily="34" charset="0"/>
              </a:rPr>
              <a:t>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r>
              <a:rPr lang="en-US" altLang="en-US" sz="2000" dirty="0">
                <a:ea typeface="宋体" panose="02010600030101010101" pitchFamily="2" charset="-122"/>
              </a:rPr>
              <a:t>, </a:t>
            </a:r>
            <a:r>
              <a:rPr lang="en-US" altLang="en-US" sz="2000" dirty="0">
                <a:cs typeface="Arial" panose="020B0604020202020204" pitchFamily="34" charset="0"/>
              </a:rPr>
              <a:t>such that for</a:t>
            </a:r>
            <a:r>
              <a:rPr lang="en-US" altLang="en-US" sz="2000" dirty="0">
                <a:ea typeface="宋体" panose="02010600030101010101" pitchFamily="2" charset="-122"/>
              </a:rPr>
              <a:t> all </a:t>
            </a:r>
            <a:r>
              <a:rPr lang="en-US" altLang="en-US" sz="2000" dirty="0">
                <a:cs typeface="Arial" panose="020B0604020202020204" pitchFamily="34" charset="0"/>
              </a:rPr>
              <a:t>n </a:t>
            </a:r>
            <a:r>
              <a:rPr lang="en-US" altLang="en-US" sz="2000" dirty="0">
                <a:latin typeface="Symbol" panose="05050102010706020507" pitchFamily="18" charset="2"/>
                <a:cs typeface="Arial" panose="020B0604020202020204" pitchFamily="34" charset="0"/>
              </a:rPr>
              <a:t></a:t>
            </a:r>
            <a:r>
              <a:rPr lang="en-US" altLang="en-US" sz="2000" dirty="0">
                <a:cs typeface="Arial" panose="020B0604020202020204" pitchFamily="34" charset="0"/>
              </a:rPr>
              <a:t> 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r>
              <a:rPr lang="en-US" altLang="en-US" sz="2000" baseline="-25000" dirty="0">
                <a:ea typeface="宋体" panose="02010600030101010101" pitchFamily="2" charset="-122"/>
              </a:rPr>
              <a:t> 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7n-2 </a:t>
            </a:r>
            <a:r>
              <a:rPr lang="en-US" altLang="en-US" sz="2000" dirty="0">
                <a:latin typeface="Symbol" panose="05050102010706020507" pitchFamily="18" charset="2"/>
                <a:cs typeface="Arial" panose="020B0604020202020204" pitchFamily="34" charset="0"/>
              </a:rPr>
              <a:t></a:t>
            </a:r>
            <a:r>
              <a:rPr lang="en-US" altLang="en-US" sz="2000" dirty="0"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cs typeface="Arial" panose="020B0604020202020204" pitchFamily="34" charset="0"/>
              </a:rPr>
              <a:t>c•n</a:t>
            </a:r>
            <a:r>
              <a:rPr lang="en-US" altLang="en-US" sz="2000" dirty="0">
                <a:cs typeface="Arial" panose="020B0604020202020204" pitchFamily="34" charset="0"/>
              </a:rPr>
              <a:t> </a:t>
            </a:r>
            <a:endParaRPr lang="en-US" altLang="en-US" sz="2000" b="1" dirty="0">
              <a:cs typeface="Arial" panose="020B0604020202020204" pitchFamily="34" charset="0"/>
            </a:endParaRP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c = 7 and 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r>
              <a:rPr lang="en-US" altLang="en-US" sz="2000" dirty="0">
                <a:cs typeface="Arial" panose="020B0604020202020204" pitchFamily="34" charset="0"/>
              </a:rPr>
              <a:t> = 1</a:t>
            </a:r>
          </a:p>
          <a:p>
            <a:r>
              <a:rPr lang="en-US" altLang="en-US" sz="2000" b="1" dirty="0"/>
              <a:t>3n</a:t>
            </a:r>
            <a:r>
              <a:rPr lang="en-US" altLang="en-US" sz="2000" b="1" baseline="30000" dirty="0"/>
              <a:t>3</a:t>
            </a:r>
            <a:r>
              <a:rPr lang="en-US" altLang="en-US" sz="2000" b="1" dirty="0"/>
              <a:t> + 20n</a:t>
            </a:r>
            <a:r>
              <a:rPr lang="en-US" altLang="en-US" sz="2000" b="1" baseline="30000" dirty="0"/>
              <a:t>2</a:t>
            </a:r>
            <a:r>
              <a:rPr lang="en-US" altLang="en-US" sz="2000" b="1" dirty="0"/>
              <a:t> + 5</a:t>
            </a:r>
            <a:r>
              <a:rPr lang="en-US" altLang="en-US" sz="2000" b="1" dirty="0">
                <a:ea typeface="宋体" panose="02010600030101010101" pitchFamily="2" charset="-122"/>
              </a:rPr>
              <a:t> </a:t>
            </a:r>
            <a:r>
              <a:rPr lang="en-US" altLang="en-US" b="1" dirty="0"/>
              <a:t>is O(n</a:t>
            </a:r>
            <a:r>
              <a:rPr lang="en-US" altLang="en-US" b="1" baseline="30000" dirty="0"/>
              <a:t>3</a:t>
            </a:r>
            <a:r>
              <a:rPr lang="en-US" altLang="en-US" b="1" dirty="0"/>
              <a:t>)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need </a:t>
            </a:r>
            <a:r>
              <a:rPr lang="en-US" altLang="en-US" sz="2000" dirty="0">
                <a:ea typeface="宋体" panose="02010600030101010101" pitchFamily="2" charset="-122"/>
                <a:cs typeface="Arial" panose="020B0604020202020204" pitchFamily="34" charset="0"/>
              </a:rPr>
              <a:t>to find two positive constants: </a:t>
            </a:r>
            <a:r>
              <a:rPr lang="en-US" altLang="en-US" sz="2000" dirty="0">
                <a:cs typeface="Arial" panose="020B0604020202020204" pitchFamily="34" charset="0"/>
              </a:rPr>
              <a:t>c</a:t>
            </a:r>
            <a:r>
              <a:rPr lang="en-US" altLang="en-US" sz="2000" dirty="0">
                <a:ea typeface="宋体" panose="02010600030101010101" pitchFamily="2" charset="-122"/>
              </a:rPr>
              <a:t>, </a:t>
            </a:r>
            <a:r>
              <a:rPr lang="en-US" altLang="en-US" sz="2000" dirty="0">
                <a:cs typeface="Arial" panose="020B0604020202020204" pitchFamily="34" charset="0"/>
              </a:rPr>
              <a:t>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r>
              <a:rPr lang="en-US" altLang="en-US" sz="2000" dirty="0">
                <a:ea typeface="宋体" panose="02010600030101010101" pitchFamily="2" charset="-122"/>
              </a:rPr>
              <a:t>, </a:t>
            </a:r>
            <a:r>
              <a:rPr lang="en-US" altLang="en-US" sz="2000" dirty="0">
                <a:cs typeface="Arial" panose="020B0604020202020204" pitchFamily="34" charset="0"/>
              </a:rPr>
              <a:t>such that</a:t>
            </a:r>
            <a:r>
              <a:rPr lang="en-US" altLang="en-US" sz="2000" dirty="0">
                <a:ea typeface="宋体" panose="02010600030101010101" pitchFamily="2" charset="-122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for </a:t>
            </a:r>
            <a:r>
              <a:rPr lang="en-US" altLang="en-US" sz="2000" dirty="0">
                <a:ea typeface="宋体" panose="02010600030101010101" pitchFamily="2" charset="-122"/>
              </a:rPr>
              <a:t>all </a:t>
            </a:r>
            <a:r>
              <a:rPr lang="en-US" altLang="en-US" sz="2000" dirty="0">
                <a:cs typeface="Arial" panose="020B0604020202020204" pitchFamily="34" charset="0"/>
              </a:rPr>
              <a:t>n </a:t>
            </a:r>
            <a:r>
              <a:rPr lang="en-US" altLang="en-US" sz="2000" dirty="0">
                <a:latin typeface="Symbol" panose="05050102010706020507" pitchFamily="18" charset="2"/>
                <a:cs typeface="Arial" panose="020B0604020202020204" pitchFamily="34" charset="0"/>
              </a:rPr>
              <a:t></a:t>
            </a:r>
            <a:r>
              <a:rPr lang="en-US" altLang="en-US" sz="2000" dirty="0">
                <a:cs typeface="Arial" panose="020B0604020202020204" pitchFamily="34" charset="0"/>
              </a:rPr>
              <a:t> 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r>
              <a:rPr lang="en-US" altLang="en-US" sz="2000" dirty="0">
                <a:ea typeface="宋体" panose="02010600030101010101" pitchFamily="2" charset="-122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 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3n</a:t>
            </a:r>
            <a:r>
              <a:rPr lang="en-US" altLang="en-US" sz="2000" baseline="30000" dirty="0">
                <a:cs typeface="Arial" panose="020B0604020202020204" pitchFamily="34" charset="0"/>
              </a:rPr>
              <a:t>3</a:t>
            </a:r>
            <a:r>
              <a:rPr lang="en-US" altLang="en-US" sz="2000" dirty="0">
                <a:cs typeface="Arial" panose="020B0604020202020204" pitchFamily="34" charset="0"/>
              </a:rPr>
              <a:t> + 20n</a:t>
            </a:r>
            <a:r>
              <a:rPr lang="en-US" altLang="en-US" sz="2000" baseline="30000" dirty="0">
                <a:cs typeface="Arial" panose="020B0604020202020204" pitchFamily="34" charset="0"/>
              </a:rPr>
              <a:t>2</a:t>
            </a:r>
            <a:r>
              <a:rPr lang="en-US" altLang="en-US" sz="2000" dirty="0">
                <a:cs typeface="Arial" panose="020B0604020202020204" pitchFamily="34" charset="0"/>
              </a:rPr>
              <a:t> + 5 </a:t>
            </a:r>
            <a:r>
              <a:rPr lang="en-US" altLang="en-US" sz="2000" dirty="0">
                <a:latin typeface="Symbol" panose="05050102010706020507" pitchFamily="18" charset="2"/>
                <a:cs typeface="Arial" panose="020B0604020202020204" pitchFamily="34" charset="0"/>
              </a:rPr>
              <a:t></a:t>
            </a:r>
            <a:r>
              <a:rPr lang="en-US" altLang="en-US" sz="2000" dirty="0">
                <a:cs typeface="Arial" panose="020B0604020202020204" pitchFamily="34" charset="0"/>
              </a:rPr>
              <a:t> c•n</a:t>
            </a:r>
            <a:r>
              <a:rPr lang="en-US" altLang="en-US" sz="2000" baseline="30000" dirty="0">
                <a:cs typeface="Arial" panose="020B0604020202020204" pitchFamily="34" charset="0"/>
              </a:rPr>
              <a:t>3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c = 4 and 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r>
              <a:rPr lang="en-US" altLang="en-US" sz="2000" dirty="0">
                <a:cs typeface="Arial" panose="020B0604020202020204" pitchFamily="34" charset="0"/>
              </a:rPr>
              <a:t> = 21</a:t>
            </a:r>
          </a:p>
          <a:p>
            <a:r>
              <a:rPr lang="en-US" altLang="en-US" sz="2000" b="1" dirty="0"/>
              <a:t>3 log n + log </a:t>
            </a:r>
            <a:r>
              <a:rPr lang="en-US" altLang="en-US" sz="2000" b="1" dirty="0" err="1"/>
              <a:t>log</a:t>
            </a:r>
            <a:r>
              <a:rPr lang="en-US" altLang="en-US" sz="2000" b="1" dirty="0"/>
              <a:t> n</a:t>
            </a:r>
            <a:r>
              <a:rPr lang="en-US" altLang="en-US" sz="2000" b="1" dirty="0">
                <a:ea typeface="宋体" panose="02010600030101010101" pitchFamily="2" charset="-122"/>
              </a:rPr>
              <a:t> </a:t>
            </a:r>
            <a:r>
              <a:rPr lang="en-US" altLang="en-US" b="1" dirty="0"/>
              <a:t>is O(log n)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1800" dirty="0">
                <a:cs typeface="Arial" panose="020B0604020202020204" pitchFamily="34" charset="0"/>
              </a:rPr>
              <a:t>need </a:t>
            </a:r>
            <a:r>
              <a:rPr lang="en-US" altLang="en-US" sz="1800" dirty="0">
                <a:ea typeface="宋体" panose="02010600030101010101" pitchFamily="2" charset="-122"/>
                <a:cs typeface="Arial" panose="020B0604020202020204" pitchFamily="34" charset="0"/>
              </a:rPr>
              <a:t>to find two positive constants: </a:t>
            </a:r>
            <a:r>
              <a:rPr lang="en-US" altLang="en-US" sz="1800" dirty="0">
                <a:cs typeface="Arial" panose="020B0604020202020204" pitchFamily="34" charset="0"/>
              </a:rPr>
              <a:t>c</a:t>
            </a:r>
            <a:r>
              <a:rPr lang="en-US" altLang="en-US" sz="1800" dirty="0">
                <a:ea typeface="宋体" panose="02010600030101010101" pitchFamily="2" charset="-122"/>
              </a:rPr>
              <a:t>, </a:t>
            </a:r>
            <a:r>
              <a:rPr lang="en-US" altLang="en-US" sz="1800" dirty="0">
                <a:cs typeface="Arial" panose="020B0604020202020204" pitchFamily="34" charset="0"/>
              </a:rPr>
              <a:t>n</a:t>
            </a:r>
            <a:r>
              <a:rPr lang="en-US" altLang="en-US" sz="1800" baseline="-25000" dirty="0">
                <a:cs typeface="Arial" panose="020B0604020202020204" pitchFamily="34" charset="0"/>
              </a:rPr>
              <a:t>0</a:t>
            </a:r>
            <a:r>
              <a:rPr lang="en-US" altLang="en-US" sz="1800" dirty="0">
                <a:ea typeface="宋体" panose="02010600030101010101" pitchFamily="2" charset="-122"/>
              </a:rPr>
              <a:t>, </a:t>
            </a:r>
            <a:r>
              <a:rPr lang="en-US" altLang="en-US" sz="2000" dirty="0">
                <a:cs typeface="Arial" panose="020B0604020202020204" pitchFamily="34" charset="0"/>
              </a:rPr>
              <a:t>such that 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3 log n + log </a:t>
            </a:r>
            <a:r>
              <a:rPr lang="en-US" altLang="en-US" sz="2000" dirty="0" err="1">
                <a:cs typeface="Arial" panose="020B0604020202020204" pitchFamily="34" charset="0"/>
              </a:rPr>
              <a:t>log</a:t>
            </a:r>
            <a:r>
              <a:rPr lang="en-US" altLang="en-US" sz="2000" dirty="0">
                <a:cs typeface="Arial" panose="020B0604020202020204" pitchFamily="34" charset="0"/>
              </a:rPr>
              <a:t> n </a:t>
            </a:r>
            <a:r>
              <a:rPr lang="en-US" altLang="en-US" sz="2000" dirty="0">
                <a:latin typeface="Symbol" panose="05050102010706020507" pitchFamily="18" charset="2"/>
                <a:cs typeface="Arial" panose="020B0604020202020204" pitchFamily="34" charset="0"/>
              </a:rPr>
              <a:t></a:t>
            </a:r>
            <a:r>
              <a:rPr lang="en-US" altLang="en-US" sz="2000" dirty="0">
                <a:cs typeface="Arial" panose="020B0604020202020204" pitchFamily="34" charset="0"/>
              </a:rPr>
              <a:t> </a:t>
            </a:r>
            <a:r>
              <a:rPr lang="en-US" altLang="en-US" sz="2000" dirty="0" err="1">
                <a:cs typeface="Arial" panose="020B0604020202020204" pitchFamily="34" charset="0"/>
              </a:rPr>
              <a:t>c•log</a:t>
            </a:r>
            <a:r>
              <a:rPr lang="en-US" altLang="en-US" sz="2000" dirty="0">
                <a:cs typeface="Arial" panose="020B0604020202020204" pitchFamily="34" charset="0"/>
              </a:rPr>
              <a:t> n for </a:t>
            </a:r>
            <a:r>
              <a:rPr lang="en-US" altLang="en-US" sz="2000" dirty="0">
                <a:ea typeface="宋体" panose="02010600030101010101" pitchFamily="2" charset="-122"/>
              </a:rPr>
              <a:t>all </a:t>
            </a:r>
            <a:r>
              <a:rPr lang="en-US" altLang="en-US" sz="2000" dirty="0">
                <a:cs typeface="Arial" panose="020B0604020202020204" pitchFamily="34" charset="0"/>
              </a:rPr>
              <a:t>n </a:t>
            </a:r>
            <a:r>
              <a:rPr lang="en-US" altLang="en-US" sz="2000" dirty="0">
                <a:latin typeface="Symbol" panose="05050102010706020507" pitchFamily="18" charset="2"/>
                <a:cs typeface="Arial" panose="020B0604020202020204" pitchFamily="34" charset="0"/>
              </a:rPr>
              <a:t></a:t>
            </a:r>
            <a:r>
              <a:rPr lang="en-US" altLang="en-US" sz="2000" dirty="0">
                <a:cs typeface="Arial" panose="020B0604020202020204" pitchFamily="34" charset="0"/>
              </a:rPr>
              <a:t> 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</a:p>
          <a:p>
            <a:pPr lvl="1" algn="l" rtl="0" eaLnBrk="1" hangingPunct="1">
              <a:spcBef>
                <a:spcPts val="500"/>
              </a:spcBef>
              <a:buClrTx/>
              <a:buSzPct val="75000"/>
              <a:buFontTx/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this is true for c = 4 and n</a:t>
            </a:r>
            <a:r>
              <a:rPr lang="en-US" altLang="en-US" sz="2000" baseline="-25000" dirty="0">
                <a:cs typeface="Arial" panose="020B0604020202020204" pitchFamily="34" charset="0"/>
              </a:rPr>
              <a:t>0</a:t>
            </a:r>
            <a:r>
              <a:rPr lang="en-US" altLang="en-US" sz="2000" dirty="0">
                <a:cs typeface="Arial" panose="020B0604020202020204" pitchFamily="34" charset="0"/>
              </a:rPr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3717977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10F4-F729-4D40-90C8-0F50EA71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Analyzing </a:t>
            </a:r>
            <a:r>
              <a:rPr lang="en-US" dirty="0"/>
              <a:t>an</a:t>
            </a:r>
            <a:r>
              <a:rPr lang="en-US" spc="-55" dirty="0"/>
              <a:t> </a:t>
            </a:r>
            <a:r>
              <a:rPr lang="en-US" spc="-5" dirty="0"/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C594-0F09-4756-B2CC-2E2675DF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7665" indent="-342900">
              <a:spcBef>
                <a:spcPts val="495"/>
              </a:spcBef>
              <a:tabLst>
                <a:tab pos="367665" algn="l"/>
                <a:tab pos="368300" algn="l"/>
              </a:tabLst>
            </a:pPr>
            <a:r>
              <a:rPr lang="pt-BR" sz="2100" spc="-5" dirty="0">
                <a:solidFill>
                  <a:schemeClr val="tx1"/>
                </a:solidFill>
                <a:latin typeface="Tahoma"/>
                <a:cs typeface="Tahoma"/>
              </a:rPr>
              <a:t>Simple Assignment</a:t>
            </a:r>
            <a:endParaRPr lang="pt-BR" sz="2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24230" lvl="1" indent="-342900">
              <a:spcBef>
                <a:spcPts val="355"/>
              </a:spcBef>
              <a:tabLst>
                <a:tab pos="768985" algn="l"/>
                <a:tab pos="769620" algn="l"/>
                <a:tab pos="1033780" algn="l"/>
                <a:tab pos="1301115" algn="l"/>
              </a:tabLst>
            </a:pPr>
            <a:r>
              <a:rPr lang="pt-BR" sz="1900" spc="-15" dirty="0">
                <a:solidFill>
                  <a:schemeClr val="tx1"/>
                </a:solidFill>
                <a:latin typeface="Arial"/>
                <a:cs typeface="Arial"/>
              </a:rPr>
              <a:t>a	</a:t>
            </a:r>
            <a:r>
              <a:rPr lang="pt-BR" sz="1900" spc="-70" dirty="0">
                <a:solidFill>
                  <a:schemeClr val="tx1"/>
                </a:solidFill>
                <a:latin typeface="Arial"/>
                <a:cs typeface="Arial"/>
              </a:rPr>
              <a:t>=	</a:t>
            </a:r>
            <a:r>
              <a:rPr lang="pt-BR" sz="1900" spc="-15" dirty="0">
                <a:solidFill>
                  <a:schemeClr val="tx1"/>
                </a:solidFill>
                <a:latin typeface="Arial"/>
                <a:cs typeface="Arial"/>
              </a:rPr>
              <a:t>b</a:t>
            </a:r>
            <a:endParaRPr lang="pt-BR" sz="19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2015" lvl="1" indent="-342900">
              <a:spcBef>
                <a:spcPts val="565"/>
              </a:spcBef>
              <a:tabLst>
                <a:tab pos="768985" algn="l"/>
              </a:tabLst>
            </a:pPr>
            <a:r>
              <a:rPr lang="pt-BR" sz="1700" spc="-10" dirty="0">
                <a:solidFill>
                  <a:schemeClr val="tx1"/>
                </a:solidFill>
                <a:latin typeface="Tahoma"/>
                <a:cs typeface="Tahoma"/>
              </a:rPr>
              <a:t>O(1)</a:t>
            </a:r>
            <a:endParaRPr lang="pt-BR" sz="1700" dirty="0">
              <a:solidFill>
                <a:schemeClr val="tx1"/>
              </a:solidFill>
              <a:latin typeface="Tahoma"/>
              <a:cs typeface="Tahoma"/>
            </a:endParaRPr>
          </a:p>
          <a:p>
            <a:pPr>
              <a:spcBef>
                <a:spcPts val="20"/>
              </a:spcBef>
            </a:pPr>
            <a:endParaRPr lang="pt-BR" sz="29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367665" indent="-342900">
              <a:tabLst>
                <a:tab pos="367665" algn="l"/>
                <a:tab pos="368300" algn="l"/>
              </a:tabLst>
            </a:pPr>
            <a:r>
              <a:rPr lang="pt-BR" sz="2100" spc="-5" dirty="0">
                <a:solidFill>
                  <a:schemeClr val="tx1"/>
                </a:solidFill>
                <a:latin typeface="Tahoma"/>
                <a:cs typeface="Tahoma"/>
              </a:rPr>
              <a:t>Simple </a:t>
            </a:r>
            <a:r>
              <a:rPr lang="pt-BR" sz="2100" spc="-10" dirty="0">
                <a:solidFill>
                  <a:schemeClr val="tx1"/>
                </a:solidFill>
                <a:latin typeface="Tahoma"/>
                <a:cs typeface="Tahoma"/>
              </a:rPr>
              <a:t>loops</a:t>
            </a:r>
            <a:endParaRPr lang="pt-BR" sz="2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82015" lvl="1" indent="-342900">
              <a:spcBef>
                <a:spcPts val="355"/>
              </a:spcBef>
              <a:tabLst>
                <a:tab pos="768985" algn="l"/>
                <a:tab pos="1967864" algn="l"/>
                <a:tab pos="2634615" algn="l"/>
                <a:tab pos="3299460" algn="l"/>
                <a:tab pos="3566795" algn="l"/>
                <a:tab pos="3966210" algn="l"/>
              </a:tabLst>
            </a:pPr>
            <a:r>
              <a:rPr lang="pt-BR" sz="1700" spc="300" dirty="0">
                <a:solidFill>
                  <a:schemeClr val="tx1"/>
                </a:solidFill>
                <a:latin typeface="Arial"/>
                <a:cs typeface="Arial"/>
              </a:rPr>
              <a:t>for(i=0;	</a:t>
            </a:r>
            <a:r>
              <a:rPr lang="pt-BR" sz="1700" spc="265" dirty="0">
                <a:solidFill>
                  <a:schemeClr val="tx1"/>
                </a:solidFill>
                <a:latin typeface="Arial"/>
                <a:cs typeface="Arial"/>
              </a:rPr>
              <a:t>i&lt;n;	</a:t>
            </a:r>
            <a:r>
              <a:rPr lang="pt-BR" sz="1700" spc="220" dirty="0">
                <a:solidFill>
                  <a:schemeClr val="tx1"/>
                </a:solidFill>
                <a:latin typeface="Arial"/>
                <a:cs typeface="Arial"/>
              </a:rPr>
              <a:t>i++)	</a:t>
            </a:r>
            <a:r>
              <a:rPr lang="pt-BR" sz="1700" spc="405" dirty="0">
                <a:solidFill>
                  <a:schemeClr val="tx1"/>
                </a:solidFill>
                <a:latin typeface="Arial"/>
                <a:cs typeface="Arial"/>
              </a:rPr>
              <a:t>{	</a:t>
            </a:r>
            <a:r>
              <a:rPr lang="pt-BR" sz="1700" spc="310" dirty="0">
                <a:solidFill>
                  <a:schemeClr val="tx1"/>
                </a:solidFill>
                <a:latin typeface="Arial"/>
                <a:cs typeface="Arial"/>
              </a:rPr>
              <a:t>s;	</a:t>
            </a:r>
            <a:r>
              <a:rPr lang="pt-BR" sz="1700" spc="405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lang="pt-BR" sz="17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24230" lvl="1" indent="-342900">
              <a:spcBef>
                <a:spcPts val="459"/>
              </a:spcBef>
              <a:tabLst>
                <a:tab pos="768985" algn="l"/>
                <a:tab pos="769620" algn="l"/>
              </a:tabLst>
            </a:pPr>
            <a:r>
              <a:rPr lang="pt-BR" sz="1900" spc="95" dirty="0">
                <a:solidFill>
                  <a:schemeClr val="tx1"/>
                </a:solidFill>
                <a:latin typeface="Arial"/>
                <a:cs typeface="Arial"/>
              </a:rPr>
              <a:t>O(n)</a:t>
            </a:r>
            <a:endParaRPr lang="pt-BR" sz="1900" dirty="0">
              <a:solidFill>
                <a:schemeClr val="tx1"/>
              </a:solidFill>
              <a:latin typeface="Arial"/>
              <a:cs typeface="Arial"/>
            </a:endParaRPr>
          </a:p>
          <a:p>
            <a:pPr lvl="1">
              <a:spcBef>
                <a:spcPts val="5"/>
              </a:spcBef>
            </a:pPr>
            <a:endParaRPr lang="pt-BR" sz="31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67665" indent="-342900">
              <a:tabLst>
                <a:tab pos="367665" algn="l"/>
                <a:tab pos="368300" algn="l"/>
              </a:tabLst>
            </a:pPr>
            <a:r>
              <a:rPr lang="pt-BR" sz="2100" spc="-5" dirty="0">
                <a:solidFill>
                  <a:schemeClr val="tx1"/>
                </a:solidFill>
                <a:latin typeface="Tahoma"/>
                <a:cs typeface="Tahoma"/>
              </a:rPr>
              <a:t>Nested</a:t>
            </a:r>
            <a:r>
              <a:rPr lang="pt-BR" sz="2100" spc="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pt-BR" sz="2100" spc="-10" dirty="0">
                <a:solidFill>
                  <a:schemeClr val="tx1"/>
                </a:solidFill>
                <a:latin typeface="Tahoma"/>
                <a:cs typeface="Tahoma"/>
              </a:rPr>
              <a:t>loops</a:t>
            </a:r>
            <a:endParaRPr lang="pt-BR" sz="2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82015" lvl="1" indent="-342900">
              <a:spcBef>
                <a:spcPts val="355"/>
              </a:spcBef>
              <a:tabLst>
                <a:tab pos="768985" algn="l"/>
                <a:tab pos="1967864" algn="l"/>
                <a:tab pos="2634615" algn="l"/>
              </a:tabLst>
            </a:pPr>
            <a:r>
              <a:rPr lang="pt-BR" sz="1700" spc="300" dirty="0">
                <a:solidFill>
                  <a:schemeClr val="tx1"/>
                </a:solidFill>
                <a:latin typeface="Arial"/>
                <a:cs typeface="Arial"/>
              </a:rPr>
              <a:t>for(i=0;	</a:t>
            </a:r>
            <a:r>
              <a:rPr lang="pt-BR" sz="1700" spc="265" dirty="0">
                <a:solidFill>
                  <a:schemeClr val="tx1"/>
                </a:solidFill>
                <a:latin typeface="Arial"/>
                <a:cs typeface="Arial"/>
              </a:rPr>
              <a:t>i&lt;n;	</a:t>
            </a:r>
            <a:r>
              <a:rPr lang="pt-BR" sz="1700" spc="220" dirty="0">
                <a:solidFill>
                  <a:schemeClr val="tx1"/>
                </a:solidFill>
                <a:latin typeface="Arial"/>
                <a:cs typeface="Arial"/>
              </a:rPr>
              <a:t>i++)</a:t>
            </a:r>
            <a:endParaRPr lang="pt-BR" sz="17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80804" indent="-342900">
              <a:spcBef>
                <a:spcPts val="455"/>
              </a:spcBef>
              <a:tabLst>
                <a:tab pos="2479675" algn="l"/>
                <a:tab pos="3147060" algn="l"/>
                <a:tab pos="3813810" algn="l"/>
                <a:tab pos="4081145" algn="l"/>
                <a:tab pos="4478655" algn="l"/>
              </a:tabLst>
            </a:pPr>
            <a:r>
              <a:rPr lang="pt-BR" sz="1900" spc="300" dirty="0">
                <a:solidFill>
                  <a:schemeClr val="tx1"/>
                </a:solidFill>
                <a:latin typeface="Arial"/>
                <a:cs typeface="Arial"/>
              </a:rPr>
              <a:t>for(j=0;	</a:t>
            </a:r>
            <a:r>
              <a:rPr lang="pt-BR" sz="1900" spc="270" dirty="0">
                <a:solidFill>
                  <a:schemeClr val="tx1"/>
                </a:solidFill>
                <a:latin typeface="Arial"/>
                <a:cs typeface="Arial"/>
              </a:rPr>
              <a:t>j&lt;n;	</a:t>
            </a:r>
            <a:r>
              <a:rPr lang="pt-BR" sz="1900" spc="225" dirty="0">
                <a:solidFill>
                  <a:schemeClr val="tx1"/>
                </a:solidFill>
                <a:latin typeface="Arial"/>
                <a:cs typeface="Arial"/>
              </a:rPr>
              <a:t>j++)	</a:t>
            </a:r>
            <a:r>
              <a:rPr lang="pt-BR" sz="1900" spc="405" dirty="0">
                <a:solidFill>
                  <a:schemeClr val="tx1"/>
                </a:solidFill>
                <a:latin typeface="Arial"/>
                <a:cs typeface="Arial"/>
              </a:rPr>
              <a:t>{	</a:t>
            </a:r>
            <a:r>
              <a:rPr lang="pt-BR" sz="1900" spc="300" dirty="0">
                <a:solidFill>
                  <a:schemeClr val="tx1"/>
                </a:solidFill>
                <a:latin typeface="Arial"/>
                <a:cs typeface="Arial"/>
              </a:rPr>
              <a:t>s;	</a:t>
            </a:r>
            <a:r>
              <a:rPr lang="pt-BR" sz="1900" spc="405" dirty="0">
                <a:solidFill>
                  <a:schemeClr val="tx1"/>
                </a:solidFill>
                <a:latin typeface="Arial"/>
                <a:cs typeface="Arial"/>
              </a:rPr>
              <a:t>}</a:t>
            </a:r>
            <a:endParaRPr lang="pt-BR" sz="19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81974" indent="-342900">
              <a:spcBef>
                <a:spcPts val="455"/>
              </a:spcBef>
              <a:tabLst>
                <a:tab pos="768985" algn="l"/>
              </a:tabLst>
            </a:pPr>
            <a:r>
              <a:rPr lang="pt-BR" sz="1900" spc="75" dirty="0">
                <a:solidFill>
                  <a:schemeClr val="tx1"/>
                </a:solidFill>
                <a:latin typeface="Arial"/>
                <a:cs typeface="Arial"/>
              </a:rPr>
              <a:t>O(n</a:t>
            </a:r>
            <a:r>
              <a:rPr lang="pt-BR" sz="1875" spc="112" baseline="26666" dirty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pt-BR" sz="1900" spc="75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  <a:endParaRPr lang="pt-BR" sz="1900" dirty="0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515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36082-A835-485F-B183-D1A4A3C3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Analyzing </a:t>
            </a:r>
            <a:r>
              <a:rPr lang="en-US" dirty="0"/>
              <a:t>an</a:t>
            </a:r>
            <a:r>
              <a:rPr lang="en-US" spc="-55" dirty="0"/>
              <a:t> </a:t>
            </a:r>
            <a:r>
              <a:rPr lang="en-US" spc="-5" dirty="0"/>
              <a:t>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A4C7-8A08-4A7B-BAB7-93E1FFC22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Loop index doesn’t vary linearly</a:t>
            </a:r>
          </a:p>
          <a:p>
            <a:pPr marL="1257269" lvl="3" indent="0">
              <a:buNone/>
            </a:pPr>
            <a:r>
              <a:rPr lang="en-US" sz="1600" b="1" dirty="0"/>
              <a:t>h=1</a:t>
            </a:r>
            <a:r>
              <a:rPr lang="en-US" sz="1600" b="1"/>
              <a:t>;    </a:t>
            </a:r>
            <a:endParaRPr lang="en-US" sz="1600" b="1" dirty="0"/>
          </a:p>
          <a:p>
            <a:pPr marL="1257269" lvl="3" indent="0">
              <a:buNone/>
            </a:pPr>
            <a:r>
              <a:rPr lang="en-US" sz="1600" b="1" dirty="0"/>
              <a:t>while(h&lt;=n){   </a:t>
            </a:r>
          </a:p>
          <a:p>
            <a:pPr marL="1257269" lvl="3" indent="0">
              <a:buNone/>
            </a:pPr>
            <a:r>
              <a:rPr lang="en-US" sz="1600" b="1" dirty="0"/>
              <a:t>s;  </a:t>
            </a:r>
          </a:p>
          <a:p>
            <a:pPr marL="1257269" lvl="3" indent="0">
              <a:buNone/>
            </a:pPr>
            <a:r>
              <a:rPr lang="en-US" sz="1600" b="1" dirty="0"/>
              <a:t>h=2*h; </a:t>
            </a:r>
          </a:p>
          <a:p>
            <a:pPr marL="1257269" lvl="3" indent="0">
              <a:buNone/>
            </a:pPr>
            <a:r>
              <a:rPr lang="en-US" sz="1600" b="1" dirty="0"/>
              <a:t>}</a:t>
            </a:r>
          </a:p>
          <a:p>
            <a:pPr marL="400041" lvl="1" indent="0">
              <a:buNone/>
            </a:pPr>
            <a:r>
              <a:rPr lang="en-US" sz="2000" dirty="0"/>
              <a:t>h takes values 1,	2,	4,	…	until it exceeds n</a:t>
            </a:r>
          </a:p>
          <a:p>
            <a:pPr marL="400041" lvl="1" indent="0">
              <a:buNone/>
            </a:pPr>
            <a:r>
              <a:rPr lang="en-US" sz="2000" dirty="0"/>
              <a:t>There are 1	+	log</a:t>
            </a:r>
            <a:r>
              <a:rPr lang="en-US" sz="2000" b="1" baseline="-25000" dirty="0"/>
              <a:t>2</a:t>
            </a:r>
            <a:r>
              <a:rPr lang="en-US" sz="2000" dirty="0"/>
              <a:t>n	iterations</a:t>
            </a:r>
          </a:p>
          <a:p>
            <a:pPr marL="400041" lvl="1" indent="0">
              <a:buNone/>
            </a:pPr>
            <a:r>
              <a:rPr lang="en-US" sz="2000" b="1" dirty="0"/>
              <a:t>O(log</a:t>
            </a:r>
            <a:r>
              <a:rPr lang="en-US" sz="2000" b="1" baseline="-25000" dirty="0"/>
              <a:t>2</a:t>
            </a:r>
            <a:r>
              <a:rPr lang="en-US" sz="2000" b="1" dirty="0"/>
              <a:t>n)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8292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B1EF-B13B-4459-B597-21C45C0E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/>
              <a:t>Standard Analysis 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FAA8B-3901-46C3-8178-72D3E2571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Constant time statements</a:t>
            </a:r>
          </a:p>
          <a:p>
            <a:r>
              <a:rPr lang="en-US" sz="2400" dirty="0"/>
              <a:t>Analyzing Loops</a:t>
            </a:r>
          </a:p>
          <a:p>
            <a:r>
              <a:rPr lang="en-US" sz="2400" dirty="0"/>
              <a:t>Analyzing Nested Loops</a:t>
            </a:r>
          </a:p>
          <a:p>
            <a:r>
              <a:rPr lang="en-US" sz="2400" dirty="0"/>
              <a:t>Analyzing Sequence of Statements</a:t>
            </a:r>
          </a:p>
          <a:p>
            <a:r>
              <a:rPr lang="en-US" sz="2400" dirty="0"/>
              <a:t>Analyzing Conditional Statements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5630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4F136-4969-4704-885A-B8F2171D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time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3E844-32B3-429E-83D7-C28D5E4A1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Simplest case: O(1) time statements</a:t>
            </a:r>
          </a:p>
          <a:p>
            <a:pPr marL="0" indent="0" algn="l">
              <a:buNone/>
            </a:pPr>
            <a:endParaRPr lang="en-US" dirty="0"/>
          </a:p>
          <a:p>
            <a:pPr algn="l"/>
            <a:r>
              <a:rPr lang="en-US" dirty="0"/>
              <a:t>Assignment statements of simple data types</a:t>
            </a:r>
            <a:br>
              <a:rPr lang="en-US" dirty="0"/>
            </a:br>
            <a:r>
              <a:rPr lang="en-US" dirty="0"/>
              <a:t>      int x = y;</a:t>
            </a:r>
          </a:p>
          <a:p>
            <a:pPr algn="l"/>
            <a:r>
              <a:rPr lang="en-US" dirty="0"/>
              <a:t> Arithmetic operations:</a:t>
            </a:r>
            <a:br>
              <a:rPr lang="en-US" dirty="0"/>
            </a:br>
            <a:r>
              <a:rPr lang="en-US" dirty="0"/>
              <a:t>   x = 5 * y + 4 - z;</a:t>
            </a:r>
          </a:p>
          <a:p>
            <a:pPr algn="l"/>
            <a:r>
              <a:rPr lang="en-US" dirty="0"/>
              <a:t> Array assignment:</a:t>
            </a:r>
            <a:br>
              <a:rPr lang="en-US" dirty="0"/>
            </a:br>
            <a:r>
              <a:rPr lang="en-US" dirty="0"/>
              <a:t>    A[j] = 5;</a:t>
            </a:r>
          </a:p>
          <a:p>
            <a:pPr algn="l"/>
            <a:r>
              <a:rPr lang="en-US" dirty="0"/>
              <a:t> Most conditional tests:</a:t>
            </a:r>
            <a:br>
              <a:rPr lang="en-US" dirty="0"/>
            </a:br>
            <a:r>
              <a:rPr lang="en-US" dirty="0"/>
              <a:t>   if (x &lt; 12) 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06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9E2F-D097-44ED-BD69-DE48C2C5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 err="1"/>
              <a:t>Analyzing</a:t>
            </a:r>
            <a:r>
              <a:rPr lang="en-GB" altLang="en-US" sz="4400" dirty="0"/>
              <a:t> Loops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12F2-CE34-4466-A3AF-AD593514B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Any loop has two parts: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How many iterations are performed?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How many steps per iteration?</a:t>
            </a:r>
            <a:r>
              <a:rPr lang="en-GB" altLang="en-US" sz="2400" b="1" dirty="0">
                <a:cs typeface="AR PL SungtiL GB" charset="0"/>
              </a:rPr>
              <a:t>   </a:t>
            </a:r>
          </a:p>
          <a:p>
            <a:pPr marL="463532" lvl="1" indent="0">
              <a:spcBef>
                <a:spcPts val="600"/>
              </a:spcBef>
              <a:buSzPct val="100000"/>
              <a:buNone/>
              <a:defRPr/>
            </a:pPr>
            <a:r>
              <a:rPr lang="en-GB" altLang="en-US" sz="2400" b="1" dirty="0">
                <a:cs typeface="AR PL SungtiL GB" charset="0"/>
              </a:rPr>
              <a:t>    int sum = 0,j;</a:t>
            </a:r>
          </a:p>
          <a:p>
            <a:pPr marL="463532" lvl="1" indent="0">
              <a:spcBef>
                <a:spcPts val="600"/>
              </a:spcBef>
              <a:buSzPct val="100000"/>
              <a:buNone/>
              <a:defRPr/>
            </a:pPr>
            <a:r>
              <a:rPr lang="en-GB" altLang="en-US" sz="2400" b="1" dirty="0">
                <a:cs typeface="AR PL SungtiL GB" charset="0"/>
              </a:rPr>
              <a:t>    for (j=0; j &lt; N; </a:t>
            </a:r>
            <a:r>
              <a:rPr lang="en-GB" altLang="en-US" sz="2400" b="1" dirty="0" err="1">
                <a:cs typeface="AR PL SungtiL GB" charset="0"/>
              </a:rPr>
              <a:t>j++</a:t>
            </a:r>
            <a:r>
              <a:rPr lang="en-GB" altLang="en-US" sz="2400" b="1" dirty="0">
                <a:cs typeface="AR PL SungtiL GB" charset="0"/>
              </a:rPr>
              <a:t>)</a:t>
            </a:r>
          </a:p>
          <a:p>
            <a:pPr marL="463532" lvl="1" indent="0">
              <a:spcBef>
                <a:spcPts val="600"/>
              </a:spcBef>
              <a:buSzPct val="100000"/>
              <a:buNone/>
              <a:defRPr/>
            </a:pPr>
            <a:r>
              <a:rPr lang="en-GB" altLang="en-US" sz="2400" b="1" dirty="0">
                <a:cs typeface="AR PL SungtiL GB" charset="0"/>
              </a:rPr>
              <a:t>      sum = sum +j;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Loop executes N times (0..N-1)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4 = O(1) steps per iteration</a:t>
            </a:r>
          </a:p>
          <a:p>
            <a:pPr>
              <a:spcBef>
                <a:spcPts val="6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Total time is N * O(1) = O(N*1) =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541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4CE4-0896-4C66-B29F-4CA46FC8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 err="1"/>
              <a:t>Analyzing</a:t>
            </a:r>
            <a:r>
              <a:rPr lang="en-GB" altLang="en-US" sz="4400" dirty="0"/>
              <a:t> Nested Loops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2A03-7D13-4391-93D9-D70AB0C9B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ts val="7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Treat just like a single loop and evaluate each level of nesting as needed:</a:t>
            </a:r>
          </a:p>
          <a:p>
            <a:pPr marL="457188" lvl="1" indent="0">
              <a:lnSpc>
                <a:spcPct val="80000"/>
              </a:lnSpc>
              <a:spcBef>
                <a:spcPts val="575"/>
              </a:spcBef>
              <a:buSzPct val="100000"/>
              <a:buNone/>
              <a:defRPr/>
            </a:pPr>
            <a:r>
              <a:rPr lang="en-GB" altLang="en-US" sz="2000" dirty="0">
                <a:cs typeface="AR PL SungtiL GB" charset="0"/>
              </a:rPr>
              <a:t>   </a:t>
            </a:r>
            <a:r>
              <a:rPr lang="en-GB" altLang="en-US" sz="2000" b="1" dirty="0">
                <a:cs typeface="AR PL SungtiL GB" charset="0"/>
              </a:rPr>
              <a:t>int </a:t>
            </a:r>
            <a:r>
              <a:rPr lang="en-GB" altLang="en-US" sz="2000" b="1" dirty="0" err="1">
                <a:cs typeface="AR PL SungtiL GB" charset="0"/>
              </a:rPr>
              <a:t>j,k</a:t>
            </a:r>
            <a:r>
              <a:rPr lang="en-GB" altLang="en-US" sz="2000" b="1" dirty="0">
                <a:cs typeface="AR PL SungtiL GB" charset="0"/>
              </a:rPr>
              <a:t>;</a:t>
            </a:r>
          </a:p>
          <a:p>
            <a:pPr marL="457188" lvl="1" indent="0">
              <a:lnSpc>
                <a:spcPct val="80000"/>
              </a:lnSpc>
              <a:spcBef>
                <a:spcPts val="575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for (j=0; j&lt;N; </a:t>
            </a:r>
            <a:r>
              <a:rPr lang="en-GB" altLang="en-US" sz="2000" b="1" dirty="0" err="1">
                <a:cs typeface="AR PL SungtiL GB" charset="0"/>
              </a:rPr>
              <a:t>j++</a:t>
            </a:r>
            <a:r>
              <a:rPr lang="en-GB" altLang="en-US" sz="2000" b="1" dirty="0">
                <a:cs typeface="AR PL SungtiL GB" charset="0"/>
              </a:rPr>
              <a:t>)</a:t>
            </a:r>
          </a:p>
          <a:p>
            <a:pPr marL="457188" lvl="1" indent="0">
              <a:lnSpc>
                <a:spcPct val="80000"/>
              </a:lnSpc>
              <a:spcBef>
                <a:spcPts val="575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   for (k=N; k&gt;0; k--)</a:t>
            </a:r>
          </a:p>
          <a:p>
            <a:pPr marL="457188" lvl="1" indent="0">
              <a:lnSpc>
                <a:spcPct val="80000"/>
              </a:lnSpc>
              <a:spcBef>
                <a:spcPts val="575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      sum += </a:t>
            </a:r>
            <a:r>
              <a:rPr lang="en-GB" altLang="en-US" sz="2000" b="1" dirty="0" err="1">
                <a:cs typeface="AR PL SungtiL GB" charset="0"/>
              </a:rPr>
              <a:t>k+j</a:t>
            </a:r>
            <a:r>
              <a:rPr lang="en-GB" altLang="en-US" sz="2000" b="1" dirty="0">
                <a:cs typeface="AR PL SungtiL GB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7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Start with outer loop:</a:t>
            </a:r>
          </a:p>
          <a:p>
            <a:pPr marL="803275" lvl="1" indent="-342900">
              <a:lnSpc>
                <a:spcPct val="80000"/>
              </a:lnSpc>
              <a:spcBef>
                <a:spcPts val="575"/>
              </a:spcBef>
              <a:buSzPct val="100000"/>
              <a:defRPr/>
            </a:pPr>
            <a:r>
              <a:rPr lang="en-GB" altLang="en-US" sz="2000" dirty="0">
                <a:cs typeface="AR PL SungtiL GB" charset="0"/>
              </a:rPr>
              <a:t>How many iterations?  N</a:t>
            </a:r>
          </a:p>
          <a:p>
            <a:pPr marL="803275" lvl="1" indent="-342900">
              <a:lnSpc>
                <a:spcPct val="80000"/>
              </a:lnSpc>
              <a:spcBef>
                <a:spcPts val="575"/>
              </a:spcBef>
              <a:buSzPct val="100000"/>
              <a:defRPr/>
            </a:pPr>
            <a:r>
              <a:rPr lang="en-GB" altLang="en-US" sz="2000" dirty="0">
                <a:cs typeface="AR PL SungtiL GB" charset="0"/>
              </a:rPr>
              <a:t>How much time per iteration? Need to evaluate inner loop</a:t>
            </a:r>
          </a:p>
          <a:p>
            <a:pPr>
              <a:lnSpc>
                <a:spcPct val="80000"/>
              </a:lnSpc>
              <a:spcBef>
                <a:spcPts val="7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Inner loop uses O(N) time</a:t>
            </a:r>
          </a:p>
          <a:p>
            <a:pPr>
              <a:lnSpc>
                <a:spcPct val="80000"/>
              </a:lnSpc>
              <a:spcBef>
                <a:spcPts val="700"/>
              </a:spcBef>
              <a:buSzPct val="100000"/>
              <a:defRPr/>
            </a:pPr>
            <a:r>
              <a:rPr lang="en-GB" altLang="en-US" sz="2400" dirty="0">
                <a:cs typeface="AR PL SungtiL GB" charset="0"/>
              </a:rPr>
              <a:t>Total time is N * O(N) = O(N*N) = O(N</a:t>
            </a:r>
            <a:r>
              <a:rPr lang="en-GB" altLang="en-US" sz="2400" baseline="30000" dirty="0">
                <a:cs typeface="AR PL SungtiL GB" charset="0"/>
              </a:rPr>
              <a:t>2</a:t>
            </a:r>
            <a:r>
              <a:rPr lang="en-GB" altLang="en-US" sz="2400" dirty="0">
                <a:cs typeface="AR PL SungtiL GB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690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2958-D07C-4F70-B518-9DAEF04B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 err="1"/>
              <a:t>Analyzing</a:t>
            </a:r>
            <a:r>
              <a:rPr lang="en-GB" altLang="en-US" sz="4400" dirty="0"/>
              <a:t> Sequence of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10843-501B-4B41-88AC-10A04D441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>
              <a:lnSpc>
                <a:spcPct val="90000"/>
              </a:lnSpc>
              <a:buSzPct val="100000"/>
              <a:defRPr/>
            </a:pPr>
            <a:r>
              <a:rPr lang="en-GB" altLang="en-US" dirty="0"/>
              <a:t>For a sequence of statements, compute their complexity functions individually and add them up</a:t>
            </a:r>
          </a:p>
          <a:p>
            <a:pPr marL="914377" lvl="2" indent="0" eaLnBrk="1" hangingPunct="1">
              <a:lnSpc>
                <a:spcPct val="90000"/>
              </a:lnSpc>
              <a:spcBef>
                <a:spcPts val="7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for (j=0; j &lt; N; </a:t>
            </a:r>
            <a:r>
              <a:rPr lang="en-GB" altLang="en-US" sz="2000" b="1" dirty="0" err="1">
                <a:cs typeface="AR PL SungtiL GB" charset="0"/>
              </a:rPr>
              <a:t>j++</a:t>
            </a:r>
            <a:r>
              <a:rPr lang="en-GB" altLang="en-US" sz="2000" b="1" dirty="0">
                <a:cs typeface="AR PL SungtiL GB" charset="0"/>
              </a:rPr>
              <a:t>)</a:t>
            </a:r>
          </a:p>
          <a:p>
            <a:pPr marL="914377" lvl="2" indent="0" eaLnBrk="1" hangingPunct="1">
              <a:lnSpc>
                <a:spcPct val="90000"/>
              </a:lnSpc>
              <a:spcBef>
                <a:spcPts val="7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   for (k =0; k &lt; j; k++)</a:t>
            </a:r>
          </a:p>
          <a:p>
            <a:pPr marL="914377" lvl="2" indent="0" eaLnBrk="1" hangingPunct="1">
              <a:lnSpc>
                <a:spcPct val="90000"/>
              </a:lnSpc>
              <a:spcBef>
                <a:spcPts val="7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      sum = sum + j*k;</a:t>
            </a:r>
          </a:p>
          <a:p>
            <a:pPr marL="914377" lvl="2" indent="0" eaLnBrk="1" hangingPunct="1">
              <a:lnSpc>
                <a:spcPct val="90000"/>
              </a:lnSpc>
              <a:spcBef>
                <a:spcPts val="7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for (l=0; l &lt; N; l++)</a:t>
            </a:r>
          </a:p>
          <a:p>
            <a:pPr marL="914377" lvl="2" indent="0" eaLnBrk="1" hangingPunct="1">
              <a:lnSpc>
                <a:spcPct val="90000"/>
              </a:lnSpc>
              <a:spcBef>
                <a:spcPts val="7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   sum = sum -l;</a:t>
            </a:r>
          </a:p>
          <a:p>
            <a:pPr marL="914377" lvl="2" indent="0" eaLnBrk="1" hangingPunct="1">
              <a:lnSpc>
                <a:spcPct val="90000"/>
              </a:lnSpc>
              <a:spcBef>
                <a:spcPts val="7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</a:t>
            </a:r>
            <a:r>
              <a:rPr lang="en-GB" altLang="en-US" sz="2000" b="1" dirty="0" err="1">
                <a:cs typeface="AR PL SungtiL GB" charset="0"/>
              </a:rPr>
              <a:t>cout</a:t>
            </a:r>
            <a:r>
              <a:rPr lang="en-GB" altLang="en-US" sz="2000" b="1" dirty="0">
                <a:cs typeface="AR PL SungtiL GB" charset="0"/>
              </a:rPr>
              <a:t>&lt;&lt;“Sum=”&lt;&lt;sum</a:t>
            </a:r>
            <a:r>
              <a:rPr lang="en-GB" altLang="en-US" sz="2000" dirty="0">
                <a:cs typeface="AR PL SungtiL GB" charset="0"/>
              </a:rPr>
              <a:t>;</a:t>
            </a:r>
          </a:p>
          <a:p>
            <a:pPr lvl="2" eaLnBrk="1" hangingPunct="1">
              <a:lnSpc>
                <a:spcPct val="90000"/>
              </a:lnSpc>
              <a:spcBef>
                <a:spcPts val="700"/>
              </a:spcBef>
              <a:buSzPct val="100000"/>
              <a:defRPr/>
            </a:pPr>
            <a:endParaRPr lang="en-GB" altLang="en-US" sz="2000" dirty="0">
              <a:cs typeface="AR PL SungtiL GB" charset="0"/>
            </a:endParaRPr>
          </a:p>
          <a:p>
            <a:pPr marL="342900">
              <a:lnSpc>
                <a:spcPct val="90000"/>
              </a:lnSpc>
              <a:buSzPct val="100000"/>
              <a:defRPr/>
            </a:pPr>
            <a:r>
              <a:rPr lang="en-GB" altLang="en-US" dirty="0">
                <a:cs typeface="AR PL SungtiL GB" charset="0"/>
              </a:rPr>
              <a:t>Total cost is O(N</a:t>
            </a:r>
            <a:r>
              <a:rPr lang="en-GB" altLang="en-US" baseline="30000" dirty="0">
                <a:cs typeface="AR PL SungtiL GB" charset="0"/>
              </a:rPr>
              <a:t>2</a:t>
            </a:r>
            <a:r>
              <a:rPr lang="en-GB" altLang="en-US" dirty="0">
                <a:cs typeface="AR PL SungtiL GB" charset="0"/>
              </a:rPr>
              <a:t>) + O(N) +O(1) = O(N</a:t>
            </a:r>
            <a:r>
              <a:rPr lang="en-GB" altLang="en-US" baseline="30000" dirty="0">
                <a:cs typeface="AR PL SungtiL GB" charset="0"/>
              </a:rPr>
              <a:t>2</a:t>
            </a:r>
            <a:r>
              <a:rPr lang="en-GB" altLang="en-US" dirty="0">
                <a:cs typeface="AR PL SungtiL GB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8193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77F6-B315-4AC0-BD58-F5737A12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 err="1"/>
              <a:t>Analyzing</a:t>
            </a:r>
            <a:r>
              <a:rPr lang="en-GB" altLang="en-US" sz="4400" dirty="0"/>
              <a:t> Conditional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F9C4-4032-44E6-B381-426575F67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ts val="600"/>
              </a:spcBef>
              <a:buSzPct val="100000"/>
              <a:defRPr/>
            </a:pPr>
            <a:r>
              <a:rPr lang="en-GB" altLang="en-US" sz="2000" dirty="0">
                <a:cs typeface="AR PL SungtiL GB" charset="0"/>
              </a:rPr>
              <a:t>What about conditional statements such as</a:t>
            </a:r>
          </a:p>
          <a:p>
            <a:pPr marL="0" indent="0" eaLnBrk="1" hangingPunct="1">
              <a:lnSpc>
                <a:spcPct val="80000"/>
              </a:lnSpc>
              <a:spcBef>
                <a:spcPts val="600"/>
              </a:spcBef>
              <a:buSzPct val="100000"/>
              <a:buNone/>
              <a:defRPr/>
            </a:pPr>
            <a:endParaRPr lang="en-GB" altLang="en-US" sz="2000" dirty="0">
              <a:cs typeface="AR PL SungtiL GB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ts val="600"/>
              </a:spcBef>
              <a:buSzPct val="100000"/>
              <a:buNone/>
              <a:defRPr/>
            </a:pPr>
            <a:r>
              <a:rPr lang="en-GB" altLang="en-US" sz="2000" dirty="0">
                <a:cs typeface="AR PL SungtiL GB" charset="0"/>
              </a:rPr>
              <a:t>  </a:t>
            </a:r>
            <a:r>
              <a:rPr lang="en-GB" altLang="en-US" sz="2000" b="1" dirty="0">
                <a:cs typeface="AR PL SungtiL GB" charset="0"/>
              </a:rPr>
              <a:t> if (condition) </a:t>
            </a:r>
          </a:p>
          <a:p>
            <a:pPr marL="0" indent="0" eaLnBrk="1" hangingPunct="1">
              <a:lnSpc>
                <a:spcPct val="80000"/>
              </a:lnSpc>
              <a:spcBef>
                <a:spcPts val="6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   statement1;</a:t>
            </a:r>
          </a:p>
          <a:p>
            <a:pPr marL="0" indent="0" eaLnBrk="1" hangingPunct="1">
              <a:lnSpc>
                <a:spcPct val="80000"/>
              </a:lnSpc>
              <a:spcBef>
                <a:spcPts val="6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else</a:t>
            </a:r>
          </a:p>
          <a:p>
            <a:pPr marL="0" indent="0" eaLnBrk="1" hangingPunct="1">
              <a:lnSpc>
                <a:spcPct val="80000"/>
              </a:lnSpc>
              <a:spcBef>
                <a:spcPts val="600"/>
              </a:spcBef>
              <a:buSzPct val="100000"/>
              <a:buNone/>
              <a:defRPr/>
            </a:pPr>
            <a:r>
              <a:rPr lang="en-GB" altLang="en-US" sz="2000" b="1" dirty="0">
                <a:cs typeface="AR PL SungtiL GB" charset="0"/>
              </a:rPr>
              <a:t>      statement2;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SzPct val="100000"/>
              <a:defRPr/>
            </a:pPr>
            <a:endParaRPr lang="en-GB" altLang="en-US" sz="2000" b="1" dirty="0">
              <a:cs typeface="AR PL SungtiL GB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  <a:buSzPct val="100000"/>
              <a:defRPr/>
            </a:pPr>
            <a:r>
              <a:rPr lang="en-US" altLang="en-US" dirty="0"/>
              <a:t> Running time = never more than the running time of the test Condition plus the larger of the running times of Statement1 and Statement2.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616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67F0-F71B-41DE-A9B5-47A13F80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Relatives </a:t>
            </a:r>
            <a:r>
              <a:rPr lang="en-US" spc="-10" dirty="0"/>
              <a:t>of </a:t>
            </a:r>
            <a:r>
              <a:rPr lang="en-US" spc="-5" dirty="0"/>
              <a:t>Big-Oh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160A4-7381-4382-91DC-AE7AF2A92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7665" indent="-342900">
              <a:spcBef>
                <a:spcPts val="525"/>
              </a:spcBef>
              <a:tabLst>
                <a:tab pos="367665" algn="l"/>
                <a:tab pos="368300" algn="l"/>
              </a:tabLst>
            </a:pPr>
            <a:r>
              <a:rPr lang="en-US" sz="2100" dirty="0">
                <a:solidFill>
                  <a:srgbClr val="0070BF"/>
                </a:solidFill>
                <a:latin typeface="Tahoma"/>
                <a:cs typeface="Tahoma"/>
              </a:rPr>
              <a:t>Big-Omega</a:t>
            </a:r>
            <a:endParaRPr lang="en-US" sz="2100" dirty="0">
              <a:latin typeface="Tahoma"/>
              <a:cs typeface="Tahoma"/>
            </a:endParaRPr>
          </a:p>
          <a:p>
            <a:pPr marL="481974" indent="-342900">
              <a:spcBef>
                <a:spcPts val="380"/>
              </a:spcBef>
              <a:tabLst>
                <a:tab pos="768985" algn="l"/>
              </a:tabLst>
            </a:pPr>
            <a:r>
              <a:rPr lang="en-US" sz="1900" spc="325" dirty="0">
                <a:latin typeface="Arial"/>
                <a:cs typeface="Arial"/>
              </a:rPr>
              <a:t>f(n) </a:t>
            </a:r>
            <a:r>
              <a:rPr lang="en-US" sz="1900" spc="-5" dirty="0">
                <a:latin typeface="Tahoma"/>
                <a:cs typeface="Tahoma"/>
              </a:rPr>
              <a:t>is</a:t>
            </a:r>
            <a:r>
              <a:rPr lang="en-US" sz="1900" spc="-225" dirty="0">
                <a:latin typeface="Tahoma"/>
                <a:cs typeface="Tahoma"/>
              </a:rPr>
              <a:t> </a:t>
            </a:r>
            <a:r>
              <a:rPr lang="el-GR" sz="1900" b="0" spc="165" dirty="0">
                <a:latin typeface="Noto Sans CJK JP DemiLight"/>
                <a:cs typeface="Noto Sans CJK JP DemiLight"/>
              </a:rPr>
              <a:t>Ω</a:t>
            </a:r>
            <a:r>
              <a:rPr lang="en-US" sz="1900" spc="165" dirty="0">
                <a:latin typeface="Arial"/>
                <a:cs typeface="Arial"/>
              </a:rPr>
              <a:t>(g(n)) </a:t>
            </a:r>
            <a:r>
              <a:rPr lang="en-US" sz="2000" dirty="0">
                <a:latin typeface="Tahoma"/>
                <a:cs typeface="Tahoma"/>
              </a:rPr>
              <a:t>is </a:t>
            </a:r>
            <a:r>
              <a:rPr lang="en-US" sz="2000" spc="-5" dirty="0">
                <a:latin typeface="Tahoma"/>
                <a:cs typeface="Tahoma"/>
              </a:rPr>
              <a:t>asymptotically greater than or equal to </a:t>
            </a:r>
            <a:r>
              <a:rPr lang="en-US" spc="5" dirty="0">
                <a:latin typeface="Tahoma"/>
                <a:cs typeface="Tahoma"/>
              </a:rPr>
              <a:t>g(n)</a:t>
            </a:r>
            <a:endParaRPr lang="en-US" sz="1900" dirty="0">
              <a:latin typeface="Arial"/>
              <a:cs typeface="Arial"/>
            </a:endParaRPr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  <a:tab pos="3342004" algn="l"/>
                <a:tab pos="3608704" algn="l"/>
                <a:tab pos="3874770" algn="l"/>
                <a:tab pos="6847840" algn="l"/>
                <a:tab pos="7113270" algn="l"/>
              </a:tabLst>
            </a:pPr>
            <a:r>
              <a:rPr lang="en-US" sz="1900" spc="-10" dirty="0">
                <a:latin typeface="Tahoma"/>
                <a:cs typeface="Tahoma"/>
              </a:rPr>
              <a:t>If there </a:t>
            </a:r>
            <a:r>
              <a:rPr lang="en-US" sz="1900" spc="-5" dirty="0">
                <a:latin typeface="Tahoma"/>
                <a:cs typeface="Tahoma"/>
              </a:rPr>
              <a:t>is a</a:t>
            </a:r>
            <a:r>
              <a:rPr lang="en-US" sz="1900" spc="125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constant</a:t>
            </a:r>
            <a:r>
              <a:rPr lang="en-US" sz="1900" spc="45" dirty="0">
                <a:latin typeface="Tahoma"/>
                <a:cs typeface="Tahoma"/>
              </a:rPr>
              <a:t> </a:t>
            </a:r>
            <a:r>
              <a:rPr lang="en-US" sz="1900" spc="90" dirty="0">
                <a:latin typeface="Arial"/>
                <a:cs typeface="Arial"/>
              </a:rPr>
              <a:t>c	</a:t>
            </a:r>
            <a:r>
              <a:rPr lang="en-US" sz="1900" spc="-70" dirty="0">
                <a:latin typeface="Arial"/>
                <a:cs typeface="Arial"/>
              </a:rPr>
              <a:t>&gt;	</a:t>
            </a:r>
            <a:r>
              <a:rPr lang="en-US" sz="1900" spc="-15" dirty="0">
                <a:latin typeface="Arial"/>
                <a:cs typeface="Arial"/>
              </a:rPr>
              <a:t>0	</a:t>
            </a:r>
            <a:r>
              <a:rPr lang="en-US" sz="1900" spc="-10" dirty="0">
                <a:latin typeface="Tahoma"/>
                <a:cs typeface="Tahoma"/>
              </a:rPr>
              <a:t>and an integer</a:t>
            </a:r>
            <a:r>
              <a:rPr lang="en-US" sz="1900" spc="125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constant</a:t>
            </a:r>
            <a:r>
              <a:rPr lang="en-US" sz="1900" spc="50" dirty="0">
                <a:latin typeface="Tahoma"/>
                <a:cs typeface="Tahoma"/>
              </a:rPr>
              <a:t> </a:t>
            </a:r>
            <a:r>
              <a:rPr lang="en-US" sz="1900" spc="-10" dirty="0">
                <a:latin typeface="Arial"/>
                <a:cs typeface="Arial"/>
              </a:rPr>
              <a:t>n</a:t>
            </a:r>
            <a:r>
              <a:rPr lang="en-US" sz="1875" spc="-15" baseline="-20000" dirty="0">
                <a:latin typeface="Arial"/>
                <a:cs typeface="Arial"/>
              </a:rPr>
              <a:t>0 </a:t>
            </a:r>
            <a:r>
              <a:rPr lang="en-US" sz="1875" u="sng" spc="-15" dirty="0">
                <a:latin typeface="Arial"/>
                <a:cs typeface="Arial"/>
              </a:rPr>
              <a:t>&gt;</a:t>
            </a:r>
            <a:r>
              <a:rPr lang="en-US" sz="1875" spc="-15" dirty="0">
                <a:latin typeface="Arial"/>
                <a:cs typeface="Arial"/>
              </a:rPr>
              <a:t> 1</a:t>
            </a:r>
            <a:endParaRPr lang="en-US" sz="1900" dirty="0">
              <a:latin typeface="Arial"/>
              <a:cs typeface="Arial"/>
            </a:endParaRPr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  <a:tab pos="2527300" algn="l"/>
                <a:tab pos="2792730" algn="l"/>
                <a:tab pos="3726815" algn="l"/>
                <a:tab pos="4363720" algn="l"/>
                <a:tab pos="4629150" algn="l"/>
              </a:tabLst>
            </a:pPr>
            <a:r>
              <a:rPr lang="en-US" sz="1900" spc="-5" dirty="0">
                <a:latin typeface="Tahoma"/>
                <a:cs typeface="Tahoma"/>
              </a:rPr>
              <a:t>Such</a:t>
            </a:r>
            <a:r>
              <a:rPr lang="en-US" sz="1900" spc="105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that</a:t>
            </a:r>
            <a:r>
              <a:rPr lang="en-US" sz="1900" spc="105" dirty="0">
                <a:latin typeface="Tahoma"/>
                <a:cs typeface="Tahoma"/>
              </a:rPr>
              <a:t> </a:t>
            </a:r>
            <a:r>
              <a:rPr lang="en-US" sz="1900" spc="325" dirty="0">
                <a:latin typeface="Arial"/>
                <a:cs typeface="Arial"/>
              </a:rPr>
              <a:t>f(n)	</a:t>
            </a:r>
            <a:r>
              <a:rPr lang="en-US" sz="2000" spc="-15" dirty="0">
                <a:latin typeface="Arial"/>
                <a:cs typeface="Arial"/>
              </a:rPr>
              <a:t> </a:t>
            </a:r>
            <a:r>
              <a:rPr lang="en-US" sz="2000" u="sng" spc="-15" dirty="0">
                <a:latin typeface="Arial"/>
                <a:cs typeface="Arial"/>
              </a:rPr>
              <a:t>&gt;</a:t>
            </a:r>
            <a:r>
              <a:rPr lang="en-US" sz="2000" spc="-15" dirty="0">
                <a:latin typeface="Arial"/>
                <a:cs typeface="Arial"/>
              </a:rPr>
              <a:t> </a:t>
            </a:r>
            <a:r>
              <a:rPr lang="en-US" sz="1900" spc="229" dirty="0" err="1">
                <a:latin typeface="Arial"/>
                <a:cs typeface="Arial"/>
              </a:rPr>
              <a:t>c.g</a:t>
            </a:r>
            <a:r>
              <a:rPr lang="en-US" sz="1900" spc="229" dirty="0">
                <a:latin typeface="Arial"/>
                <a:cs typeface="Arial"/>
              </a:rPr>
              <a:t>(n)	</a:t>
            </a:r>
            <a:r>
              <a:rPr lang="en-US" sz="1900" spc="-5" dirty="0">
                <a:latin typeface="Tahoma"/>
                <a:cs typeface="Tahoma"/>
              </a:rPr>
              <a:t>for</a:t>
            </a:r>
            <a:r>
              <a:rPr lang="en-US" sz="1900" spc="5" dirty="0">
                <a:latin typeface="Tahoma"/>
                <a:cs typeface="Tahoma"/>
              </a:rPr>
              <a:t> </a:t>
            </a:r>
            <a:r>
              <a:rPr lang="en-US" sz="1900" spc="-15" dirty="0">
                <a:latin typeface="Arial"/>
                <a:cs typeface="Arial"/>
              </a:rPr>
              <a:t>n	</a:t>
            </a:r>
            <a:r>
              <a:rPr lang="en-US" sz="2000" spc="-15" dirty="0">
                <a:latin typeface="Arial"/>
                <a:cs typeface="Arial"/>
              </a:rPr>
              <a:t> </a:t>
            </a:r>
            <a:r>
              <a:rPr lang="en-US" sz="2000" u="sng" spc="-15" dirty="0">
                <a:latin typeface="Arial"/>
                <a:cs typeface="Arial"/>
              </a:rPr>
              <a:t>&gt;</a:t>
            </a:r>
            <a:r>
              <a:rPr lang="en-US" sz="2000" spc="-15" dirty="0">
                <a:latin typeface="Arial"/>
                <a:cs typeface="Arial"/>
              </a:rPr>
              <a:t>  </a:t>
            </a:r>
            <a:r>
              <a:rPr lang="en-US" sz="1900" spc="-10" dirty="0">
                <a:latin typeface="Arial"/>
                <a:cs typeface="Arial"/>
              </a:rPr>
              <a:t>n</a:t>
            </a:r>
            <a:r>
              <a:rPr lang="en-US" sz="1875" spc="-15" baseline="-20000" dirty="0">
                <a:latin typeface="Arial"/>
                <a:cs typeface="Arial"/>
              </a:rPr>
              <a:t>0</a:t>
            </a:r>
            <a:endParaRPr lang="en-US" sz="1875" baseline="-20000" dirty="0">
              <a:latin typeface="Arial"/>
              <a:cs typeface="Arial"/>
            </a:endParaRPr>
          </a:p>
          <a:p>
            <a:pPr lvl="1">
              <a:spcBef>
                <a:spcPts val="40"/>
              </a:spcBef>
            </a:pPr>
            <a:endParaRPr lang="en-US" sz="3100" dirty="0">
              <a:latin typeface="Arial"/>
              <a:cs typeface="Arial"/>
            </a:endParaRPr>
          </a:p>
          <a:p>
            <a:pPr marL="367665" indent="-342900">
              <a:tabLst>
                <a:tab pos="367665" algn="l"/>
                <a:tab pos="368300" algn="l"/>
              </a:tabLst>
            </a:pPr>
            <a:r>
              <a:rPr lang="en-US" sz="2100" spc="-5" dirty="0">
                <a:solidFill>
                  <a:srgbClr val="0070BF"/>
                </a:solidFill>
                <a:latin typeface="Tahoma"/>
                <a:cs typeface="Tahoma"/>
              </a:rPr>
              <a:t>Big-Theta</a:t>
            </a:r>
            <a:endParaRPr lang="en-US" sz="2100" dirty="0">
              <a:latin typeface="Tahoma"/>
              <a:cs typeface="Tahoma"/>
            </a:endParaRPr>
          </a:p>
          <a:p>
            <a:pPr marL="481974" indent="-342900">
              <a:spcBef>
                <a:spcPts val="380"/>
              </a:spcBef>
              <a:tabLst>
                <a:tab pos="768985" algn="l"/>
                <a:tab pos="1434465" algn="l"/>
              </a:tabLst>
            </a:pPr>
            <a:r>
              <a:rPr lang="en-US" sz="1900" spc="325" dirty="0">
                <a:latin typeface="Arial"/>
                <a:cs typeface="Arial"/>
              </a:rPr>
              <a:t>f(n) </a:t>
            </a:r>
            <a:r>
              <a:rPr lang="en-US" sz="1900" spc="-5" dirty="0">
                <a:latin typeface="Tahoma"/>
                <a:cs typeface="Tahoma"/>
              </a:rPr>
              <a:t>is</a:t>
            </a:r>
            <a:r>
              <a:rPr lang="en-US" sz="1900" spc="15" dirty="0">
                <a:latin typeface="Tahoma"/>
                <a:cs typeface="Tahoma"/>
              </a:rPr>
              <a:t> </a:t>
            </a:r>
            <a:r>
              <a:rPr lang="el-GR" sz="1900" b="0" spc="155" dirty="0">
                <a:latin typeface="Noto Sans CJK JP DemiLight"/>
                <a:cs typeface="Noto Sans CJK JP DemiLight"/>
              </a:rPr>
              <a:t>Θ</a:t>
            </a:r>
            <a:r>
              <a:rPr lang="en-US" sz="1900" spc="155" dirty="0">
                <a:latin typeface="Arial"/>
                <a:cs typeface="Arial"/>
              </a:rPr>
              <a:t>(g(n)) is asymptotically equal to g(n)</a:t>
            </a:r>
            <a:endParaRPr lang="en-US" sz="1900" dirty="0">
              <a:latin typeface="Arial"/>
              <a:cs typeface="Arial"/>
            </a:endParaRPr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  <a:tab pos="3476625" algn="l"/>
                <a:tab pos="3743960" algn="l"/>
                <a:tab pos="4010025" algn="l"/>
                <a:tab pos="4837430" algn="l"/>
                <a:tab pos="5104765" algn="l"/>
                <a:tab pos="5370830" algn="l"/>
              </a:tabLst>
            </a:pPr>
            <a:r>
              <a:rPr lang="en-US" sz="1900" spc="-5" dirty="0">
                <a:latin typeface="Tahoma"/>
                <a:cs typeface="Tahoma"/>
              </a:rPr>
              <a:t>if there are</a:t>
            </a:r>
            <a:r>
              <a:rPr lang="en-US" sz="1900" spc="70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constants</a:t>
            </a:r>
            <a:r>
              <a:rPr lang="en-US" sz="1900" spc="45" dirty="0">
                <a:latin typeface="Tahoma"/>
                <a:cs typeface="Tahoma"/>
              </a:rPr>
              <a:t> </a:t>
            </a:r>
            <a:r>
              <a:rPr lang="en-US" sz="1900" spc="45" dirty="0">
                <a:latin typeface="Arial"/>
                <a:cs typeface="Arial"/>
              </a:rPr>
              <a:t>c</a:t>
            </a:r>
            <a:r>
              <a:rPr lang="en-US" sz="1875" spc="67" baseline="-20000" dirty="0">
                <a:latin typeface="Arial"/>
                <a:cs typeface="Arial"/>
              </a:rPr>
              <a:t>1	</a:t>
            </a:r>
            <a:r>
              <a:rPr lang="en-US" sz="1900" spc="-70" dirty="0">
                <a:latin typeface="Arial"/>
                <a:cs typeface="Arial"/>
              </a:rPr>
              <a:t>&gt;	</a:t>
            </a:r>
            <a:r>
              <a:rPr lang="en-US" sz="1900" spc="-15" dirty="0">
                <a:latin typeface="Arial"/>
                <a:cs typeface="Arial"/>
              </a:rPr>
              <a:t>0	</a:t>
            </a:r>
            <a:r>
              <a:rPr lang="en-US" sz="1900" spc="-10" dirty="0">
                <a:latin typeface="Tahoma"/>
                <a:cs typeface="Tahoma"/>
              </a:rPr>
              <a:t>and</a:t>
            </a:r>
            <a:r>
              <a:rPr lang="en-US" sz="1900" spc="25" dirty="0">
                <a:latin typeface="Tahoma"/>
                <a:cs typeface="Tahoma"/>
              </a:rPr>
              <a:t> </a:t>
            </a:r>
            <a:r>
              <a:rPr lang="en-US" sz="1900" spc="45" dirty="0">
                <a:latin typeface="Arial"/>
                <a:cs typeface="Arial"/>
              </a:rPr>
              <a:t>c</a:t>
            </a:r>
            <a:r>
              <a:rPr lang="en-US" sz="1875" spc="67" baseline="-20000" dirty="0">
                <a:latin typeface="Arial"/>
                <a:cs typeface="Arial"/>
              </a:rPr>
              <a:t>2	</a:t>
            </a:r>
            <a:r>
              <a:rPr lang="en-US" sz="1900" spc="-70" dirty="0">
                <a:latin typeface="Arial"/>
                <a:cs typeface="Arial"/>
              </a:rPr>
              <a:t>&gt;	</a:t>
            </a:r>
            <a:r>
              <a:rPr lang="en-US" sz="1900" spc="-15" dirty="0">
                <a:latin typeface="Arial"/>
                <a:cs typeface="Arial"/>
              </a:rPr>
              <a:t>0	</a:t>
            </a:r>
            <a:r>
              <a:rPr lang="en-US" sz="1900" spc="-10" dirty="0">
                <a:latin typeface="Tahoma"/>
                <a:cs typeface="Tahoma"/>
              </a:rPr>
              <a:t>and an integer </a:t>
            </a:r>
            <a:r>
              <a:rPr lang="en-US" sz="1900" spc="-5" dirty="0">
                <a:latin typeface="Tahoma"/>
                <a:cs typeface="Tahoma"/>
              </a:rPr>
              <a:t>constant</a:t>
            </a:r>
            <a:r>
              <a:rPr lang="en-US" sz="1900" spc="125" dirty="0">
                <a:latin typeface="Tahoma"/>
                <a:cs typeface="Tahoma"/>
              </a:rPr>
              <a:t> </a:t>
            </a:r>
            <a:r>
              <a:rPr lang="en-US" sz="1900" spc="-10" dirty="0">
                <a:latin typeface="Arial"/>
                <a:cs typeface="Arial"/>
              </a:rPr>
              <a:t>n</a:t>
            </a:r>
            <a:r>
              <a:rPr lang="en-US" sz="1875" spc="-15" baseline="-20000" dirty="0">
                <a:latin typeface="Arial"/>
                <a:cs typeface="Arial"/>
              </a:rPr>
              <a:t>0</a:t>
            </a:r>
            <a:r>
              <a:rPr lang="en-US" sz="1875" baseline="-20000" dirty="0">
                <a:latin typeface="Arial"/>
                <a:cs typeface="Arial"/>
              </a:rPr>
              <a:t> </a:t>
            </a:r>
            <a:r>
              <a:rPr lang="en-US" sz="2000" u="sng" spc="-15" dirty="0">
                <a:latin typeface="Arial"/>
                <a:cs typeface="Arial"/>
              </a:rPr>
              <a:t>&gt;</a:t>
            </a:r>
            <a:r>
              <a:rPr lang="en-US" sz="2000" spc="-15" dirty="0">
                <a:latin typeface="Arial"/>
                <a:cs typeface="Arial"/>
              </a:rPr>
              <a:t> </a:t>
            </a:r>
            <a:r>
              <a:rPr lang="en-US" sz="1900" spc="-15" dirty="0">
                <a:latin typeface="Arial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  <a:tab pos="2856865" algn="l"/>
                <a:tab pos="3121660" algn="l"/>
                <a:tab pos="3787775" algn="l"/>
                <a:tab pos="4053204" algn="l"/>
                <a:tab pos="5075555" algn="l"/>
                <a:tab pos="5713730" algn="l"/>
                <a:tab pos="5979160" algn="l"/>
              </a:tabLst>
            </a:pPr>
            <a:r>
              <a:rPr lang="en-US" sz="1900" spc="-5" dirty="0">
                <a:latin typeface="Tahoma"/>
                <a:cs typeface="Tahoma"/>
              </a:rPr>
              <a:t>such</a:t>
            </a:r>
            <a:r>
              <a:rPr lang="en-US" sz="1900" spc="140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that</a:t>
            </a:r>
            <a:r>
              <a:rPr lang="en-US" sz="1900" spc="135" dirty="0">
                <a:latin typeface="Tahoma"/>
                <a:cs typeface="Tahoma"/>
              </a:rPr>
              <a:t> </a:t>
            </a:r>
            <a:r>
              <a:rPr lang="en-US" sz="1900" spc="195" dirty="0">
                <a:latin typeface="Arial"/>
                <a:cs typeface="Arial"/>
              </a:rPr>
              <a:t>c</a:t>
            </a:r>
            <a:r>
              <a:rPr lang="en-US" sz="1875" spc="292" baseline="-20000" dirty="0">
                <a:latin typeface="Arial"/>
                <a:cs typeface="Arial"/>
              </a:rPr>
              <a:t>1</a:t>
            </a:r>
            <a:r>
              <a:rPr lang="en-US" sz="1900" spc="195" dirty="0">
                <a:latin typeface="Arial"/>
                <a:cs typeface="Arial"/>
              </a:rPr>
              <a:t>.g(n)	</a:t>
            </a:r>
            <a:r>
              <a:rPr lang="en-US" sz="1900" u="sng" spc="195" dirty="0">
                <a:latin typeface="Arial"/>
                <a:cs typeface="Arial"/>
              </a:rPr>
              <a:t>&lt;</a:t>
            </a:r>
            <a:r>
              <a:rPr lang="en-US" sz="1900" spc="195" dirty="0">
                <a:latin typeface="Arial"/>
                <a:cs typeface="Arial"/>
              </a:rPr>
              <a:t> </a:t>
            </a:r>
            <a:r>
              <a:rPr lang="en-US" sz="1800" spc="325" dirty="0">
                <a:latin typeface="Arial"/>
                <a:cs typeface="Arial"/>
              </a:rPr>
              <a:t>f(n)	</a:t>
            </a:r>
            <a:r>
              <a:rPr lang="en-US" sz="1800" spc="195" dirty="0">
                <a:latin typeface="Arial"/>
                <a:cs typeface="Arial"/>
              </a:rPr>
              <a:t> </a:t>
            </a:r>
            <a:r>
              <a:rPr lang="en-US" sz="1800" u="sng" spc="195" dirty="0">
                <a:latin typeface="Arial"/>
                <a:cs typeface="Arial"/>
              </a:rPr>
              <a:t>&lt;</a:t>
            </a:r>
            <a:r>
              <a:rPr lang="en-US" sz="1800" spc="195" dirty="0">
                <a:latin typeface="Arial"/>
                <a:cs typeface="Arial"/>
              </a:rPr>
              <a:t> </a:t>
            </a:r>
            <a:r>
              <a:rPr lang="en-US" sz="1800" b="1" spc="195" dirty="0">
                <a:latin typeface="Arial"/>
                <a:cs typeface="Arial"/>
              </a:rPr>
              <a:t> </a:t>
            </a:r>
            <a:r>
              <a:rPr lang="en-US" sz="1800" spc="195" dirty="0">
                <a:latin typeface="Arial"/>
                <a:cs typeface="Arial"/>
              </a:rPr>
              <a:t>c</a:t>
            </a:r>
            <a:r>
              <a:rPr lang="en-US" sz="1800" spc="292" baseline="-20000" dirty="0">
                <a:latin typeface="Arial"/>
                <a:cs typeface="Arial"/>
              </a:rPr>
              <a:t>2</a:t>
            </a:r>
            <a:r>
              <a:rPr lang="en-US" sz="1800" spc="195" dirty="0">
                <a:latin typeface="Arial"/>
                <a:cs typeface="Arial"/>
              </a:rPr>
              <a:t>.g(n)	</a:t>
            </a:r>
            <a:r>
              <a:rPr lang="en-US" sz="1800" spc="-5" dirty="0">
                <a:latin typeface="Tahoma"/>
                <a:cs typeface="Tahoma"/>
              </a:rPr>
              <a:t>for</a:t>
            </a:r>
            <a:r>
              <a:rPr lang="en-US" sz="1800" spc="20" dirty="0">
                <a:latin typeface="Tahoma"/>
                <a:cs typeface="Tahoma"/>
              </a:rPr>
              <a:t> </a:t>
            </a:r>
            <a:r>
              <a:rPr lang="en-US" sz="1800" spc="-15" dirty="0">
                <a:latin typeface="Arial"/>
                <a:cs typeface="Arial"/>
              </a:rPr>
              <a:t>n	 </a:t>
            </a:r>
            <a:r>
              <a:rPr lang="en-US" sz="1800" u="sng" spc="-15" dirty="0">
                <a:latin typeface="Arial"/>
                <a:cs typeface="Arial"/>
              </a:rPr>
              <a:t>&gt;</a:t>
            </a:r>
            <a:r>
              <a:rPr lang="en-US" sz="1800" spc="-15" dirty="0">
                <a:latin typeface="Arial"/>
                <a:cs typeface="Arial"/>
              </a:rPr>
              <a:t> </a:t>
            </a:r>
            <a:r>
              <a:rPr lang="en-US" spc="-860" dirty="0">
                <a:latin typeface="Noto Sans CJK JP DemiLight"/>
                <a:cs typeface="Arial"/>
              </a:rPr>
              <a:t> </a:t>
            </a:r>
            <a:r>
              <a:rPr lang="en-US" sz="1800" spc="-10" dirty="0">
                <a:latin typeface="Arial"/>
                <a:cs typeface="Arial"/>
              </a:rPr>
              <a:t>n</a:t>
            </a:r>
            <a:r>
              <a:rPr lang="en-US" sz="1800" spc="-15" baseline="-20000" dirty="0">
                <a:latin typeface="Arial"/>
                <a:cs typeface="Arial"/>
              </a:rPr>
              <a:t>0</a:t>
            </a:r>
            <a:endParaRPr lang="en-US" sz="1800" baseline="-20000" dirty="0">
              <a:latin typeface="Arial"/>
              <a:cs typeface="Arial"/>
            </a:endParaRPr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  <a:tab pos="2856865" algn="l"/>
                <a:tab pos="3121660" algn="l"/>
                <a:tab pos="3787775" algn="l"/>
                <a:tab pos="4053204" algn="l"/>
                <a:tab pos="5075555" algn="l"/>
                <a:tab pos="5713730" algn="l"/>
                <a:tab pos="597916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731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55B7-B63D-4652-9D3F-6389031DB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Final</a:t>
            </a:r>
            <a:r>
              <a:rPr lang="en-US" spc="-35" dirty="0"/>
              <a:t> </a:t>
            </a:r>
            <a:r>
              <a:rPr lang="en-US" spc="-5" dirty="0"/>
              <a:t>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56E3D-D41B-4450-B2FD-C91873CD6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692487"/>
            <a:ext cx="5418190" cy="4576343"/>
          </a:xfrm>
        </p:spPr>
        <p:txBody>
          <a:bodyPr/>
          <a:lstStyle/>
          <a:p>
            <a:pPr marL="354965" marR="5080" indent="-342900">
              <a:spcBef>
                <a:spcPts val="100"/>
              </a:spcBef>
              <a:tabLst>
                <a:tab pos="356235" algn="l"/>
                <a:tab pos="356870" algn="l"/>
              </a:tabLst>
            </a:pPr>
            <a:r>
              <a:rPr lang="en-US" sz="2100" spc="-5" dirty="0">
                <a:latin typeface="Tahoma"/>
                <a:cs typeface="Tahoma"/>
              </a:rPr>
              <a:t>Even </a:t>
            </a:r>
            <a:r>
              <a:rPr lang="en-US" sz="2100" dirty="0">
                <a:latin typeface="Tahoma"/>
                <a:cs typeface="Tahoma"/>
              </a:rPr>
              <a:t>though </a:t>
            </a:r>
            <a:r>
              <a:rPr lang="en-US" sz="2100" spc="-15" dirty="0">
                <a:latin typeface="Tahoma"/>
                <a:cs typeface="Tahoma"/>
              </a:rPr>
              <a:t>in </a:t>
            </a:r>
            <a:r>
              <a:rPr lang="en-US" sz="2100" spc="-5" dirty="0">
                <a:latin typeface="Tahoma"/>
                <a:cs typeface="Tahoma"/>
              </a:rPr>
              <a:t>this course we focus </a:t>
            </a:r>
            <a:r>
              <a:rPr lang="en-US" sz="2100" spc="-10" dirty="0">
                <a:latin typeface="Tahoma"/>
                <a:cs typeface="Tahoma"/>
              </a:rPr>
              <a:t>on </a:t>
            </a:r>
            <a:r>
              <a:rPr lang="en-US" sz="2100" spc="-5" dirty="0">
                <a:latin typeface="Tahoma"/>
                <a:cs typeface="Tahoma"/>
              </a:rPr>
              <a:t>the  asymptotic </a:t>
            </a:r>
            <a:r>
              <a:rPr lang="en-US" sz="2100" dirty="0">
                <a:latin typeface="Tahoma"/>
                <a:cs typeface="Tahoma"/>
              </a:rPr>
              <a:t>growth </a:t>
            </a:r>
            <a:r>
              <a:rPr lang="en-US" sz="2100" spc="-5" dirty="0">
                <a:latin typeface="Tahoma"/>
                <a:cs typeface="Tahoma"/>
              </a:rPr>
              <a:t>using big-Oh notation,  practitioners </a:t>
            </a:r>
            <a:r>
              <a:rPr lang="en-US" sz="2100" spc="5" dirty="0">
                <a:latin typeface="Tahoma"/>
                <a:cs typeface="Tahoma"/>
              </a:rPr>
              <a:t>do </a:t>
            </a:r>
            <a:r>
              <a:rPr lang="en-US" sz="2100" spc="-5" dirty="0">
                <a:latin typeface="Tahoma"/>
                <a:cs typeface="Tahoma"/>
              </a:rPr>
              <a:t>care about constant </a:t>
            </a:r>
            <a:r>
              <a:rPr lang="en-US" sz="2100" dirty="0">
                <a:latin typeface="Tahoma"/>
                <a:cs typeface="Tahoma"/>
              </a:rPr>
              <a:t>factors  </a:t>
            </a:r>
            <a:r>
              <a:rPr lang="en-US" sz="2100" spc="-5" dirty="0">
                <a:latin typeface="Tahoma"/>
                <a:cs typeface="Tahoma"/>
              </a:rPr>
              <a:t>occasionally</a:t>
            </a:r>
            <a:endParaRPr lang="en-US" sz="2100" dirty="0">
              <a:latin typeface="Tahoma"/>
              <a:cs typeface="Tahoma"/>
            </a:endParaRPr>
          </a:p>
          <a:p>
            <a:pPr marL="354965" indent="-342900">
              <a:spcBef>
                <a:spcPts val="505"/>
              </a:spcBef>
              <a:tabLst>
                <a:tab pos="356235" algn="l"/>
                <a:tab pos="356870" algn="l"/>
              </a:tabLst>
            </a:pPr>
            <a:r>
              <a:rPr lang="en-US" sz="2100" spc="-5" dirty="0">
                <a:latin typeface="Tahoma"/>
                <a:cs typeface="Tahoma"/>
              </a:rPr>
              <a:t>Suppose we have </a:t>
            </a:r>
            <a:r>
              <a:rPr lang="en-US" sz="2100" dirty="0">
                <a:latin typeface="Tahoma"/>
                <a:cs typeface="Tahoma"/>
              </a:rPr>
              <a:t>2</a:t>
            </a:r>
            <a:r>
              <a:rPr lang="en-US" sz="2100" spc="30" dirty="0">
                <a:latin typeface="Tahoma"/>
                <a:cs typeface="Tahoma"/>
              </a:rPr>
              <a:t> </a:t>
            </a:r>
            <a:r>
              <a:rPr lang="en-US" sz="2100" spc="-5" dirty="0">
                <a:latin typeface="Tahoma"/>
                <a:cs typeface="Tahoma"/>
              </a:rPr>
              <a:t>algorithms</a:t>
            </a:r>
            <a:endParaRPr lang="en-US" sz="2100" dirty="0">
              <a:latin typeface="Tahoma"/>
              <a:cs typeface="Tahoma"/>
            </a:endParaRP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10" dirty="0">
                <a:latin typeface="Tahoma"/>
                <a:cs typeface="Tahoma"/>
              </a:rPr>
              <a:t>Algorithm </a:t>
            </a:r>
            <a:r>
              <a:rPr lang="en-US" sz="1900" spc="-5" dirty="0">
                <a:latin typeface="Tahoma"/>
                <a:cs typeface="Tahoma"/>
              </a:rPr>
              <a:t>A </a:t>
            </a:r>
            <a:r>
              <a:rPr lang="en-US" sz="1900" spc="-10" dirty="0">
                <a:latin typeface="Tahoma"/>
                <a:cs typeface="Tahoma"/>
              </a:rPr>
              <a:t>has running </a:t>
            </a:r>
            <a:r>
              <a:rPr lang="en-US" sz="1900" spc="-5" dirty="0">
                <a:latin typeface="Tahoma"/>
                <a:cs typeface="Tahoma"/>
              </a:rPr>
              <a:t>time</a:t>
            </a:r>
            <a:r>
              <a:rPr lang="en-US" sz="1900" spc="195" dirty="0">
                <a:latin typeface="Tahoma"/>
                <a:cs typeface="Tahoma"/>
              </a:rPr>
              <a:t> </a:t>
            </a:r>
            <a:r>
              <a:rPr lang="en-US" sz="1900" spc="-10" dirty="0">
                <a:latin typeface="Tahoma"/>
                <a:cs typeface="Tahoma"/>
              </a:rPr>
              <a:t>30000n</a:t>
            </a:r>
            <a:endParaRPr lang="en-US" sz="1900" dirty="0"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10" dirty="0">
                <a:latin typeface="Tahoma"/>
                <a:cs typeface="Tahoma"/>
              </a:rPr>
              <a:t>Algorithm </a:t>
            </a:r>
            <a:r>
              <a:rPr lang="en-US" sz="1900" spc="-5" dirty="0">
                <a:latin typeface="Tahoma"/>
                <a:cs typeface="Tahoma"/>
              </a:rPr>
              <a:t>B has </a:t>
            </a:r>
            <a:r>
              <a:rPr lang="en-US" sz="1900" spc="-10" dirty="0">
                <a:latin typeface="Tahoma"/>
                <a:cs typeface="Tahoma"/>
              </a:rPr>
              <a:t>running </a:t>
            </a:r>
            <a:r>
              <a:rPr lang="en-US" sz="1900" spc="-5" dirty="0">
                <a:latin typeface="Tahoma"/>
                <a:cs typeface="Tahoma"/>
              </a:rPr>
              <a:t>time</a:t>
            </a:r>
            <a:r>
              <a:rPr lang="en-US" sz="1900" spc="145" dirty="0">
                <a:latin typeface="Tahoma"/>
                <a:cs typeface="Tahoma"/>
              </a:rPr>
              <a:t> </a:t>
            </a:r>
            <a:r>
              <a:rPr lang="en-US" sz="1900" spc="-10" dirty="0">
                <a:latin typeface="Tahoma"/>
                <a:cs typeface="Tahoma"/>
              </a:rPr>
              <a:t>3n2</a:t>
            </a:r>
            <a:endParaRPr lang="en-US" sz="1900" dirty="0">
              <a:latin typeface="Tahoma"/>
              <a:cs typeface="Tahoma"/>
            </a:endParaRPr>
          </a:p>
          <a:p>
            <a:pPr marL="354965" marR="278130" indent="-342900">
              <a:spcBef>
                <a:spcPts val="500"/>
              </a:spcBef>
              <a:tabLst>
                <a:tab pos="356235" algn="l"/>
                <a:tab pos="356870" algn="l"/>
              </a:tabLst>
            </a:pPr>
            <a:r>
              <a:rPr lang="en-US" sz="2100" spc="-5" dirty="0">
                <a:latin typeface="Tahoma"/>
                <a:cs typeface="Tahoma"/>
              </a:rPr>
              <a:t>Asymptotically, algorithm A </a:t>
            </a:r>
            <a:r>
              <a:rPr lang="en-US" sz="2100" dirty="0">
                <a:latin typeface="Tahoma"/>
                <a:cs typeface="Tahoma"/>
              </a:rPr>
              <a:t>is better </a:t>
            </a:r>
            <a:r>
              <a:rPr lang="en-US" sz="2100" spc="5" dirty="0">
                <a:latin typeface="Tahoma"/>
                <a:cs typeface="Tahoma"/>
              </a:rPr>
              <a:t>than  </a:t>
            </a:r>
            <a:r>
              <a:rPr lang="en-US" sz="2100" dirty="0">
                <a:latin typeface="Tahoma"/>
                <a:cs typeface="Tahoma"/>
              </a:rPr>
              <a:t>algorithm</a:t>
            </a:r>
            <a:r>
              <a:rPr lang="en-US" sz="2100" spc="-30" dirty="0">
                <a:latin typeface="Tahoma"/>
                <a:cs typeface="Tahoma"/>
              </a:rPr>
              <a:t> </a:t>
            </a:r>
            <a:r>
              <a:rPr lang="en-US" sz="2100" dirty="0">
                <a:latin typeface="Tahoma"/>
                <a:cs typeface="Tahoma"/>
              </a:rPr>
              <a:t>B</a:t>
            </a:r>
          </a:p>
          <a:p>
            <a:pPr marL="354965" marR="109855" indent="-342900">
              <a:spcBef>
                <a:spcPts val="500"/>
              </a:spcBef>
              <a:tabLst>
                <a:tab pos="356235" algn="l"/>
                <a:tab pos="356870" algn="l"/>
              </a:tabLst>
            </a:pPr>
            <a:r>
              <a:rPr lang="en-US" sz="2100" spc="-10" dirty="0">
                <a:latin typeface="Tahoma"/>
                <a:cs typeface="Tahoma"/>
              </a:rPr>
              <a:t>However, </a:t>
            </a:r>
            <a:r>
              <a:rPr lang="en-US" sz="2100" dirty="0">
                <a:latin typeface="Tahoma"/>
                <a:cs typeface="Tahoma"/>
              </a:rPr>
              <a:t>if </a:t>
            </a:r>
            <a:r>
              <a:rPr lang="en-US" sz="2100" spc="5" dirty="0">
                <a:latin typeface="Tahoma"/>
                <a:cs typeface="Tahoma"/>
              </a:rPr>
              <a:t>the </a:t>
            </a:r>
            <a:r>
              <a:rPr lang="en-US" sz="2100" spc="-5" dirty="0">
                <a:latin typeface="Tahoma"/>
                <a:cs typeface="Tahoma"/>
              </a:rPr>
              <a:t>problem size you </a:t>
            </a:r>
            <a:r>
              <a:rPr lang="en-US" sz="2100" dirty="0">
                <a:latin typeface="Tahoma"/>
                <a:cs typeface="Tahoma"/>
              </a:rPr>
              <a:t>deal with  is </a:t>
            </a:r>
            <a:r>
              <a:rPr lang="en-US" sz="2100" spc="-5" dirty="0">
                <a:latin typeface="Tahoma"/>
                <a:cs typeface="Tahoma"/>
              </a:rPr>
              <a:t>always less than </a:t>
            </a:r>
            <a:r>
              <a:rPr lang="en-US" sz="2100" dirty="0">
                <a:latin typeface="Tahoma"/>
                <a:cs typeface="Tahoma"/>
              </a:rPr>
              <a:t>10000, </a:t>
            </a:r>
            <a:r>
              <a:rPr lang="en-US" sz="2100" spc="5" dirty="0">
                <a:latin typeface="Tahoma"/>
                <a:cs typeface="Tahoma"/>
              </a:rPr>
              <a:t>then </a:t>
            </a:r>
            <a:r>
              <a:rPr lang="en-US" sz="2100" spc="-5" dirty="0">
                <a:latin typeface="Tahoma"/>
                <a:cs typeface="Tahoma"/>
              </a:rPr>
              <a:t>the  </a:t>
            </a:r>
            <a:r>
              <a:rPr lang="en-US" sz="2100" dirty="0">
                <a:latin typeface="Tahoma"/>
                <a:cs typeface="Tahoma"/>
              </a:rPr>
              <a:t>quadratic </a:t>
            </a:r>
            <a:r>
              <a:rPr lang="en-US" sz="2100" spc="-5" dirty="0">
                <a:latin typeface="Tahoma"/>
                <a:cs typeface="Tahoma"/>
              </a:rPr>
              <a:t>one </a:t>
            </a:r>
            <a:r>
              <a:rPr lang="en-US" sz="2100" dirty="0">
                <a:latin typeface="Tahoma"/>
                <a:cs typeface="Tahoma"/>
              </a:rPr>
              <a:t>is</a:t>
            </a:r>
            <a:r>
              <a:rPr lang="en-US" sz="2100" spc="-35" dirty="0">
                <a:latin typeface="Tahoma"/>
                <a:cs typeface="Tahoma"/>
              </a:rPr>
              <a:t> </a:t>
            </a:r>
            <a:r>
              <a:rPr lang="en-US" sz="2100" dirty="0">
                <a:latin typeface="Tahoma"/>
                <a:cs typeface="Tahoma"/>
              </a:rPr>
              <a:t>faster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3C318-129B-4366-B1DE-826B89A48F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51709" y="1692486"/>
            <a:ext cx="3668740" cy="441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869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1199</TotalTime>
  <Words>1543</Words>
  <Application>Microsoft Office PowerPoint</Application>
  <PresentationFormat>Widescreen</PresentationFormat>
  <Paragraphs>186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宋体</vt:lpstr>
      <vt:lpstr>AR PL SungtiL GB</vt:lpstr>
      <vt:lpstr>arial</vt:lpstr>
      <vt:lpstr>arial</vt:lpstr>
      <vt:lpstr>Calibri</vt:lpstr>
      <vt:lpstr>Calibri Light</vt:lpstr>
      <vt:lpstr>Century Gothic</vt:lpstr>
      <vt:lpstr>LM Roman 12</vt:lpstr>
      <vt:lpstr>Noto Sans CJK JP DemiLight</vt:lpstr>
      <vt:lpstr>Symbol</vt:lpstr>
      <vt:lpstr>Tahoma</vt:lpstr>
      <vt:lpstr>Times New Roman</vt:lpstr>
      <vt:lpstr>Wingdings 3</vt:lpstr>
      <vt:lpstr>Wisp</vt:lpstr>
      <vt:lpstr>Complexity Theory-II</vt:lpstr>
      <vt:lpstr>Constant Factors</vt:lpstr>
      <vt:lpstr>Growth Rate – Example</vt:lpstr>
      <vt:lpstr>Growth Rate – Example</vt:lpstr>
      <vt:lpstr>Growth Rate – Example</vt:lpstr>
      <vt:lpstr>Constant Factors</vt:lpstr>
      <vt:lpstr>Asymptotic Analysis</vt:lpstr>
      <vt:lpstr>Comparing Functions: Asymptotic Notation</vt:lpstr>
      <vt:lpstr>Upper Bound – Big-Oh Notation</vt:lpstr>
      <vt:lpstr>Upper Bound – Big-Oh Notation</vt:lpstr>
      <vt:lpstr>Growth Rate of the Algorithm Running Time</vt:lpstr>
      <vt:lpstr>Big-Oh Notation Rules</vt:lpstr>
      <vt:lpstr>Example</vt:lpstr>
      <vt:lpstr>Big-Oh Notation</vt:lpstr>
      <vt:lpstr>Big-Oh Example</vt:lpstr>
      <vt:lpstr>Big-Oh Examples</vt:lpstr>
      <vt:lpstr>Analyzing an Algorithm</vt:lpstr>
      <vt:lpstr>Analyzing an Algorithm</vt:lpstr>
      <vt:lpstr>Standard Analysis Techniques</vt:lpstr>
      <vt:lpstr>Constant time statements</vt:lpstr>
      <vt:lpstr>Analyzing Loops</vt:lpstr>
      <vt:lpstr>Analyzing Nested Loops</vt:lpstr>
      <vt:lpstr>Analyzing Sequence of Statements</vt:lpstr>
      <vt:lpstr>Analyzing Conditional Statements</vt:lpstr>
      <vt:lpstr>Relatives of Big-Oh</vt:lpstr>
      <vt:lpstr>Final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ADT</dc:title>
  <dc:creator>MARIUM HIDA</dc:creator>
  <cp:lastModifiedBy>marium hida</cp:lastModifiedBy>
  <cp:revision>200</cp:revision>
  <dcterms:created xsi:type="dcterms:W3CDTF">2022-02-14T14:42:18Z</dcterms:created>
  <dcterms:modified xsi:type="dcterms:W3CDTF">2025-08-28T04:12:49Z</dcterms:modified>
</cp:coreProperties>
</file>